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a partnership ask, not a fundraise. The ask is five technical answers, a name, and a co-announcement — no engineering resource from Hylo.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handing the framing back to Plish. He diagnosed this himself in August; we are not selling him a problem, we are answering one he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what Pyth asked Hylo to build. Right is the same pipeline with the arithmetic moved on-chain. Be explicit that the publisher key is still trusted — we do not fix that, and saying so buys credibility for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these as identical to Hylo's situation — they are the same class, not the same protocol. The Loopscale one is the sharpest: on Solana, and they list hyUSD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slide. Everything before is problem, everything after is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 = exists already, we touch nothing. Purple = we deploy. Amber = the product. Green = operations. Blue = consumers. Emphasise: the keeper pays gas but cannot influence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a risk person cares about most. The point is not that failures don't happen — it's that every failure mode is visible and none of them produces a plausible wrong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earns technical credibility with Plish. The mapping came from reading hylo-core, not from the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Solana RWA $3.7B (Jul 2026, blockchain.news); LST supply approaching $15B (May 2026, Sanctum); lending TVL Kamino ~$2.1B + marginfi ~$700M + Save ~$400M + Drift spot ~$300M. Say the honest-version box out loud — it is what makes the rest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Q3 hardest — it is the one that unblocks the best adoption story, and it costs Plish a forwarded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32B"/>
        </a:solidFill>
      </p:bgPr>
    </p:bg>
    <p:spTree>
      <p:nvGrpSpPr>
        <p:cNvPr id="1" name=""/>
        <p:cNvGrpSpPr/>
        <p:nvPr/>
      </p:nvGrpSpPr>
      <p:grpSpPr>
        <a:xfrm>
          <a:off x="0" y="0"/>
          <a:ext cx="0" cy="0"/>
          <a:chOff x="0" y="0"/>
          <a:chExt cx="0" cy="0"/>
        </a:xfrm>
      </p:grpSpPr>
      <p:sp>
        <p:nvSpPr>
          <p:cNvPr id="2" name="Shape 0"/>
          <p:cNvSpPr/>
          <p:nvPr/>
        </p:nvSpPr>
        <p:spPr>
          <a:xfrm>
            <a:off x="-2011680" y="-2377440"/>
            <a:ext cx="6583680" cy="6583680"/>
          </a:xfrm>
          <a:prstGeom prst="roundRect">
            <a:avLst>
              <a:gd name="adj" fmla="val 6944"/>
            </a:avLst>
          </a:prstGeom>
          <a:solidFill>
            <a:srgbClr val="7C3AED">
              <a:alpha val="16000"/>
            </a:srgbClr>
          </a:solidFill>
          <a:ln/>
        </p:spPr>
      </p:sp>
      <p:sp>
        <p:nvSpPr>
          <p:cNvPr id="3" name="Shape 1"/>
          <p:cNvSpPr/>
          <p:nvPr/>
        </p:nvSpPr>
        <p:spPr>
          <a:xfrm>
            <a:off x="8595360" y="4023360"/>
            <a:ext cx="5852160" cy="5852160"/>
          </a:xfrm>
          <a:prstGeom prst="roundRect">
            <a:avLst>
              <a:gd name="adj" fmla="val 7813"/>
            </a:avLst>
          </a:prstGeom>
          <a:solidFill>
            <a:srgbClr val="7C3AED">
              <a:alpha val="12000"/>
            </a:srgbClr>
          </a:solidFill>
          <a:ln/>
        </p:spPr>
      </p:sp>
      <p:sp>
        <p:nvSpPr>
          <p:cNvPr id="4" name="Text 2"/>
          <p:cNvSpPr txBox="1"/>
          <p:nvPr/>
        </p:nvSpPr>
        <p:spPr>
          <a:xfrm>
            <a:off x="566928" y="1481328"/>
            <a:ext cx="11057839" cy="292608"/>
          </a:xfrm>
          <a:prstGeom prst="rect">
            <a:avLst/>
          </a:prstGeom>
          <a:noFill/>
          <a:ln/>
        </p:spPr>
        <p:txBody>
          <a:bodyPr wrap="square" lIns="0" tIns="0" rIns="0" bIns="0" rtlCol="0" anchor="ctr"/>
          <a:lstStyle/>
          <a:p>
            <a:pPr indent="0" marL="0">
              <a:buNone/>
            </a:pPr>
            <a:r>
              <a:rPr lang="en-US" sz="1300" b="1" spc="240" kern="0" dirty="0">
                <a:solidFill>
                  <a:srgbClr val="C4B5FD"/>
                </a:solidFill>
                <a:latin typeface="Arial" pitchFamily="34" charset="0"/>
                <a:ea typeface="Arial" pitchFamily="34" charset="-122"/>
                <a:cs typeface="Arial" pitchFamily="34" charset="-120"/>
              </a:rPr>
              <a:t>SOLANA VALUATION INTERFACE</a:t>
            </a:r>
            <a:endParaRPr lang="en-US" sz="1300" dirty="0"/>
          </a:p>
        </p:txBody>
      </p:sp>
      <p:sp>
        <p:nvSpPr>
          <p:cNvPr id="5" name="Text 3"/>
          <p:cNvSpPr txBox="1"/>
          <p:nvPr/>
        </p:nvSpPr>
        <p:spPr>
          <a:xfrm>
            <a:off x="566928" y="1901952"/>
            <a:ext cx="8778240" cy="1828800"/>
          </a:xfrm>
          <a:prstGeom prst="rect">
            <a:avLst/>
          </a:prstGeom>
          <a:noFill/>
          <a:ln/>
        </p:spPr>
        <p:txBody>
          <a:bodyPr wrap="square" lIns="0" tIns="0" rIns="0" bIns="0" rtlCol="0" anchor="ctr"/>
          <a:lstStyle/>
          <a:p>
            <a:pPr indent="0" marL="0">
              <a:lnSpc>
                <a:spcPts val="5400"/>
              </a:lnSpc>
              <a:buNone/>
            </a:pPr>
            <a:r>
              <a:rPr lang="en-US" sz="5000" b="1" dirty="0">
                <a:solidFill>
                  <a:srgbClr val="FFFFFF"/>
                </a:solidFill>
                <a:latin typeface="Arial" pitchFamily="34" charset="0"/>
                <a:ea typeface="Arial" pitchFamily="34" charset="-122"/>
                <a:cs typeface="Arial" pitchFamily="34" charset="-120"/>
              </a:rPr>
              <a:t>Pricing that anyone</a:t>
            </a:r>
            <a:endParaRPr lang="en-US" sz="5000" dirty="0"/>
          </a:p>
          <a:p>
            <a:pPr indent="0" marL="0">
              <a:lnSpc>
                <a:spcPts val="5400"/>
              </a:lnSpc>
              <a:buNone/>
            </a:pPr>
            <a:r>
              <a:rPr lang="en-US" sz="5000" b="1" dirty="0">
                <a:solidFill>
                  <a:srgbClr val="FFFFFF"/>
                </a:solidFill>
                <a:latin typeface="Arial" pitchFamily="34" charset="0"/>
                <a:ea typeface="Arial" pitchFamily="34" charset="-122"/>
                <a:cs typeface="Arial" pitchFamily="34" charset="-120"/>
              </a:rPr>
              <a:t>can recompute.</a:t>
            </a:r>
            <a:endParaRPr lang="en-US" sz="5000" dirty="0"/>
          </a:p>
        </p:txBody>
      </p:sp>
      <p:sp>
        <p:nvSpPr>
          <p:cNvPr id="6" name="Text 4"/>
          <p:cNvSpPr txBox="1"/>
          <p:nvPr/>
        </p:nvSpPr>
        <p:spPr>
          <a:xfrm>
            <a:off x="566928" y="3913632"/>
            <a:ext cx="9326880" cy="822960"/>
          </a:xfrm>
          <a:prstGeom prst="rect">
            <a:avLst/>
          </a:prstGeom>
          <a:noFill/>
          <a:ln/>
        </p:spPr>
        <p:txBody>
          <a:bodyPr wrap="square" lIns="0" tIns="0" rIns="0" bIns="0" rtlCol="0" anchor="ctr"/>
          <a:lstStyle/>
          <a:p>
            <a:pPr indent="0" marL="0">
              <a:lnSpc>
                <a:spcPts val="2400"/>
              </a:lnSpc>
              <a:buNone/>
            </a:pPr>
            <a:r>
              <a:rPr lang="en-US" sz="1650" dirty="0">
                <a:solidFill>
                  <a:srgbClr val="C9C4E4"/>
                </a:solidFill>
                <a:latin typeface="Arial" pitchFamily="34" charset="0"/>
                <a:ea typeface="Arial" pitchFamily="34" charset="-122"/>
                <a:cs typeface="Arial" pitchFamily="34" charset="-120"/>
              </a:rPr>
              <a:t>The value of a protocol asset, computed on-chain from verified accounts and written to a public account — </a:t>
            </a:r>
            <a:pPr indent="0" marL="0">
              <a:lnSpc>
                <a:spcPts val="2400"/>
              </a:lnSpc>
              <a:buNone/>
            </a:pPr>
            <a:r>
              <a:rPr lang="en-US" sz="1650" b="1" dirty="0">
                <a:solidFill>
                  <a:srgbClr val="FFFFFF"/>
                </a:solidFill>
                <a:latin typeface="Arial" pitchFamily="34" charset="0"/>
                <a:ea typeface="Arial" pitchFamily="34" charset="-122"/>
                <a:cs typeface="Arial" pitchFamily="34" charset="-120"/>
              </a:rPr>
              <a:t>so nobody has to trust an API doing hidden math.</a:t>
            </a:r>
            <a:endParaRPr lang="en-US" sz="1650" dirty="0"/>
          </a:p>
        </p:txBody>
      </p:sp>
      <p:sp>
        <p:nvSpPr>
          <p:cNvPr id="7" name="Shape 5"/>
          <p:cNvSpPr/>
          <p:nvPr/>
        </p:nvSpPr>
        <p:spPr>
          <a:xfrm>
            <a:off x="566928" y="5029200"/>
            <a:ext cx="2743200" cy="0"/>
          </a:xfrm>
          <a:prstGeom prst="line">
            <a:avLst/>
          </a:prstGeom>
          <a:noFill/>
          <a:ln w="31750">
            <a:solidFill>
              <a:srgbClr val="7C3AED"/>
            </a:solidFill>
            <a:prstDash val="solid"/>
          </a:ln>
        </p:spPr>
      </p:sp>
      <p:sp>
        <p:nvSpPr>
          <p:cNvPr id="8" name="Text 6"/>
          <p:cNvSpPr txBox="1"/>
          <p:nvPr/>
        </p:nvSpPr>
        <p:spPr>
          <a:xfrm>
            <a:off x="566928" y="5230368"/>
            <a:ext cx="7315200" cy="731520"/>
          </a:xfrm>
          <a:prstGeom prst="rect">
            <a:avLst/>
          </a:prstGeom>
          <a:noFill/>
          <a:ln/>
        </p:spPr>
        <p:txBody>
          <a:bodyPr wrap="square" lIns="0" tIns="0" rIns="0" bIns="0" rtlCol="0" anchor="ctr"/>
          <a:lstStyle/>
          <a:p>
            <a:pPr indent="0" marL="0">
              <a:lnSpc>
                <a:spcPts val="2100"/>
              </a:lnSpc>
              <a:buNone/>
            </a:pPr>
            <a:r>
              <a:rPr lang="en-US" sz="1400" b="1" dirty="0">
                <a:solidFill>
                  <a:srgbClr val="FFFFFF"/>
                </a:solidFill>
                <a:latin typeface="Arial" pitchFamily="34" charset="0"/>
                <a:ea typeface="Arial" pitchFamily="34" charset="-122"/>
                <a:cs typeface="Arial" pitchFamily="34" charset="-120"/>
              </a:rPr>
              <a:t>A design-partner proposal for Hylo</a:t>
            </a:r>
            <a:pPr indent="0" marL="0">
              <a:lnSpc>
                <a:spcPts val="2100"/>
              </a:lnSpc>
              <a:buNone/>
            </a:pPr>
            <a:endParaRPr lang="en-US" sz="1400" dirty="0"/>
          </a:p>
          <a:p>
            <a:pPr indent="0" marL="0">
              <a:lnSpc>
                <a:spcPts val="2100"/>
              </a:lnSpc>
              <a:buNone/>
            </a:pPr>
            <a:r>
              <a:rPr lang="en-US" sz="1400" dirty="0">
                <a:solidFill>
                  <a:srgbClr val="9F98C4"/>
                </a:solidFill>
                <a:latin typeface="Arial" pitchFamily="34" charset="0"/>
                <a:ea typeface="Arial" pitchFamily="34" charset="-122"/>
                <a:cs typeface="Arial" pitchFamily="34" charset="-120"/>
              </a:rPr>
              <a:t>Prince  ·  SVI  ·  September 2026</a:t>
            </a:r>
            <a:endParaRPr lang="en-US" sz="1400" dirty="0"/>
          </a:p>
        </p:txBody>
      </p:sp>
      <p:sp>
        <p:nvSpPr>
          <p:cNvPr id="9" name="Text 7"/>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6B6494"/>
                </a:solidFill>
                <a:latin typeface="Arial" pitchFamily="34" charset="0"/>
                <a:ea typeface="Arial" pitchFamily="34" charset="-122"/>
                <a:cs typeface="Arial"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32B"/>
        </a:solidFill>
      </p:bgPr>
    </p:bg>
    <p:spTree>
      <p:nvGrpSpPr>
        <p:cNvPr id="1" name=""/>
        <p:cNvGrpSpPr/>
        <p:nvPr/>
      </p:nvGrpSpPr>
      <p:grpSpPr>
        <a:xfrm>
          <a:off x="0" y="0"/>
          <a:ext cx="0" cy="0"/>
          <a:chOff x="0" y="0"/>
          <a:chExt cx="0" cy="0"/>
        </a:xfrm>
      </p:grpSpPr>
      <p:sp>
        <p:nvSpPr>
          <p:cNvPr id="2" name="Text 0"/>
          <p:cNvSpPr txBox="1"/>
          <p:nvPr/>
        </p:nvSpPr>
        <p:spPr>
          <a:xfrm>
            <a:off x="566928" y="566928"/>
            <a:ext cx="11057839" cy="274320"/>
          </a:xfrm>
          <a:prstGeom prst="rect">
            <a:avLst/>
          </a:prstGeom>
          <a:noFill/>
          <a:ln/>
        </p:spPr>
        <p:txBody>
          <a:bodyPr wrap="square" lIns="0" tIns="0" rIns="0" bIns="0" rtlCol="0" anchor="ctr"/>
          <a:lstStyle/>
          <a:p>
            <a:pPr indent="0" marL="0">
              <a:buNone/>
            </a:pPr>
            <a:r>
              <a:rPr lang="en-US" sz="1200" b="1" spc="200" kern="0" dirty="0">
                <a:solidFill>
                  <a:srgbClr val="C4B5FD"/>
                </a:solidFill>
                <a:latin typeface="Arial" pitchFamily="34" charset="0"/>
                <a:ea typeface="Arial" pitchFamily="34" charset="-122"/>
                <a:cs typeface="Arial" pitchFamily="34" charset="-120"/>
              </a:rPr>
              <a:t>THE PROBLEM, IN YOUR WORDS</a:t>
            </a:r>
            <a:endParaRPr lang="en-US" sz="1200" dirty="0"/>
          </a:p>
        </p:txBody>
      </p:sp>
      <p:sp>
        <p:nvSpPr>
          <p:cNvPr id="3" name="Text 1"/>
          <p:cNvSpPr txBox="1"/>
          <p:nvPr/>
        </p:nvSpPr>
        <p:spPr>
          <a:xfrm>
            <a:off x="512064" y="841248"/>
            <a:ext cx="1280160" cy="1463040"/>
          </a:xfrm>
          <a:prstGeom prst="rect">
            <a:avLst/>
          </a:prstGeom>
          <a:noFill/>
          <a:ln/>
        </p:spPr>
        <p:txBody>
          <a:bodyPr wrap="square" lIns="0" tIns="0" rIns="0" bIns="0" rtlCol="0" anchor="ctr"/>
          <a:lstStyle/>
          <a:p>
            <a:pPr indent="0" marL="0">
              <a:buNone/>
            </a:pPr>
            <a:r>
              <a:rPr lang="en-US" sz="12000" b="1" dirty="0">
                <a:solidFill>
                  <a:srgbClr val="7C3AED"/>
                </a:solidFill>
                <a:latin typeface="Arial" pitchFamily="34" charset="0"/>
                <a:ea typeface="Arial" pitchFamily="34" charset="-122"/>
                <a:cs typeface="Arial" pitchFamily="34" charset="-120"/>
              </a:rPr>
              <a:t>“</a:t>
            </a:r>
            <a:endParaRPr lang="en-US" sz="12000" dirty="0"/>
          </a:p>
        </p:txBody>
      </p:sp>
      <p:sp>
        <p:nvSpPr>
          <p:cNvPr id="4" name="Text 2"/>
          <p:cNvSpPr txBox="1"/>
          <p:nvPr/>
        </p:nvSpPr>
        <p:spPr>
          <a:xfrm>
            <a:off x="1417320" y="1298448"/>
            <a:ext cx="10149840" cy="2651760"/>
          </a:xfrm>
          <a:prstGeom prst="rect">
            <a:avLst/>
          </a:prstGeom>
          <a:noFill/>
          <a:ln/>
        </p:spPr>
        <p:txBody>
          <a:bodyPr wrap="square" lIns="0" tIns="0" rIns="0" bIns="0" rtlCol="0" anchor="ctr"/>
          <a:lstStyle/>
          <a:p>
            <a:pPr indent="0" marL="0">
              <a:lnSpc>
                <a:spcPts val="3900"/>
              </a:lnSpc>
              <a:buNone/>
            </a:pPr>
            <a:r>
              <a:rPr lang="en-US" sz="2700" dirty="0">
                <a:solidFill>
                  <a:srgbClr val="FFFFFF"/>
                </a:solidFill>
                <a:latin typeface="Arial" pitchFamily="34" charset="0"/>
                <a:ea typeface="Arial" pitchFamily="34" charset="-122"/>
                <a:cs typeface="Arial" pitchFamily="34" charset="-120"/>
              </a:rPr>
              <a:t>honestly an accepted smart contract interface for pricing onchain assets would be amazing — bc pyth wants us to read our own protocol by RPC and give them data by an API — it leaves all sorts of unimaginable security holes</a:t>
            </a:r>
            <a:endParaRPr lang="en-US" sz="2700" dirty="0"/>
          </a:p>
        </p:txBody>
      </p:sp>
      <p:sp>
        <p:nvSpPr>
          <p:cNvPr id="5" name="Text 3"/>
          <p:cNvSpPr txBox="1"/>
          <p:nvPr/>
        </p:nvSpPr>
        <p:spPr>
          <a:xfrm>
            <a:off x="1417320" y="3986784"/>
            <a:ext cx="7315200" cy="310896"/>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 Plish  |  Hylo   ·   28 August 2026</a:t>
            </a:r>
            <a:endParaRPr lang="en-US" sz="1400" dirty="0"/>
          </a:p>
        </p:txBody>
      </p:sp>
      <p:sp>
        <p:nvSpPr>
          <p:cNvPr id="6" name="Shape 4"/>
          <p:cNvSpPr/>
          <p:nvPr/>
        </p:nvSpPr>
        <p:spPr>
          <a:xfrm>
            <a:off x="566928" y="4590288"/>
            <a:ext cx="3593592" cy="1481328"/>
          </a:xfrm>
          <a:prstGeom prst="roundRect">
            <a:avLst>
              <a:gd name="adj" fmla="val 4321"/>
            </a:avLst>
          </a:prstGeom>
          <a:solidFill>
            <a:srgbClr val="241E45"/>
          </a:solidFill>
          <a:ln w="12700">
            <a:solidFill>
              <a:srgbClr val="3B3266"/>
            </a:solidFill>
            <a:prstDash val="solid"/>
          </a:ln>
        </p:spPr>
      </p:sp>
      <p:sp>
        <p:nvSpPr>
          <p:cNvPr id="7" name="Text 5"/>
          <p:cNvSpPr txBox="1"/>
          <p:nvPr/>
        </p:nvSpPr>
        <p:spPr>
          <a:xfrm>
            <a:off x="786384" y="4754880"/>
            <a:ext cx="3154680" cy="31089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You identified it, unprompted.</a:t>
            </a:r>
            <a:endParaRPr lang="en-US" sz="1350" dirty="0"/>
          </a:p>
        </p:txBody>
      </p:sp>
      <p:sp>
        <p:nvSpPr>
          <p:cNvPr id="8" name="Text 6"/>
          <p:cNvSpPr txBox="1"/>
          <p:nvPr/>
        </p:nvSpPr>
        <p:spPr>
          <a:xfrm>
            <a:off x="786384" y="5084064"/>
            <a:ext cx="3154680" cy="841248"/>
          </a:xfrm>
          <a:prstGeom prst="rect">
            <a:avLst/>
          </a:prstGeom>
          <a:noFill/>
          <a:ln/>
        </p:spPr>
        <p:txBody>
          <a:bodyPr wrap="square" lIns="0" tIns="0" rIns="0" bIns="0" rtlCol="0" anchor="ctr"/>
          <a:lstStyle/>
          <a:p>
            <a:pPr indent="0" marL="0">
              <a:lnSpc>
                <a:spcPts val="1500"/>
              </a:lnSpc>
              <a:buNone/>
            </a:pPr>
            <a:r>
              <a:rPr lang="en-US" sz="1150" dirty="0">
                <a:solidFill>
                  <a:srgbClr val="B4ADD4"/>
                </a:solidFill>
                <a:latin typeface="Arial" pitchFamily="34" charset="0"/>
                <a:ea typeface="Arial" pitchFamily="34" charset="-122"/>
                <a:cs typeface="Arial" pitchFamily="34" charset="-120"/>
              </a:rPr>
              <a:t>This deck is the thing you described, built — with Hylo as the first adapter.</a:t>
            </a:r>
            <a:endParaRPr lang="en-US" sz="1150" dirty="0"/>
          </a:p>
        </p:txBody>
      </p:sp>
      <p:sp>
        <p:nvSpPr>
          <p:cNvPr id="9" name="Shape 7"/>
          <p:cNvSpPr/>
          <p:nvPr/>
        </p:nvSpPr>
        <p:spPr>
          <a:xfrm>
            <a:off x="4425696" y="4590288"/>
            <a:ext cx="3593592" cy="1481328"/>
          </a:xfrm>
          <a:prstGeom prst="roundRect">
            <a:avLst>
              <a:gd name="adj" fmla="val 4321"/>
            </a:avLst>
          </a:prstGeom>
          <a:solidFill>
            <a:srgbClr val="241E45"/>
          </a:solidFill>
          <a:ln w="12700">
            <a:solidFill>
              <a:srgbClr val="3B3266"/>
            </a:solidFill>
            <a:prstDash val="solid"/>
          </a:ln>
        </p:spPr>
      </p:sp>
      <p:sp>
        <p:nvSpPr>
          <p:cNvPr id="10" name="Text 8"/>
          <p:cNvSpPr txBox="1"/>
          <p:nvPr/>
        </p:nvSpPr>
        <p:spPr>
          <a:xfrm>
            <a:off x="4645152" y="4754880"/>
            <a:ext cx="3154680" cy="31089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You were right about the risk.</a:t>
            </a:r>
            <a:endParaRPr lang="en-US" sz="1350" dirty="0"/>
          </a:p>
        </p:txBody>
      </p:sp>
      <p:sp>
        <p:nvSpPr>
          <p:cNvPr id="11" name="Text 9"/>
          <p:cNvSpPr txBox="1"/>
          <p:nvPr/>
        </p:nvSpPr>
        <p:spPr>
          <a:xfrm>
            <a:off x="4645152" y="5084064"/>
            <a:ext cx="3154680" cy="841248"/>
          </a:xfrm>
          <a:prstGeom prst="rect">
            <a:avLst/>
          </a:prstGeom>
          <a:noFill/>
          <a:ln/>
        </p:spPr>
        <p:txBody>
          <a:bodyPr wrap="square" lIns="0" tIns="0" rIns="0" bIns="0" rtlCol="0" anchor="ctr"/>
          <a:lstStyle/>
          <a:p>
            <a:pPr indent="0" marL="0">
              <a:lnSpc>
                <a:spcPts val="1500"/>
              </a:lnSpc>
              <a:buNone/>
            </a:pPr>
            <a:r>
              <a:rPr lang="en-US" sz="1150" dirty="0">
                <a:solidFill>
                  <a:srgbClr val="B4ADD4"/>
                </a:solidFill>
                <a:latin typeface="Arial" pitchFamily="34" charset="0"/>
                <a:ea typeface="Arial" pitchFamily="34" charset="-122"/>
                <a:cs typeface="Arial" pitchFamily="34" charset="-120"/>
              </a:rPr>
              <a:t>That pipeline has five trusted hops and no way for a consumer to check any of them.</a:t>
            </a:r>
            <a:endParaRPr lang="en-US" sz="1150" dirty="0"/>
          </a:p>
        </p:txBody>
      </p:sp>
      <p:sp>
        <p:nvSpPr>
          <p:cNvPr id="12" name="Shape 10"/>
          <p:cNvSpPr/>
          <p:nvPr/>
        </p:nvSpPr>
        <p:spPr>
          <a:xfrm>
            <a:off x="8284464" y="4590288"/>
            <a:ext cx="3593592" cy="1481328"/>
          </a:xfrm>
          <a:prstGeom prst="roundRect">
            <a:avLst>
              <a:gd name="adj" fmla="val 4321"/>
            </a:avLst>
          </a:prstGeom>
          <a:solidFill>
            <a:srgbClr val="241E45"/>
          </a:solidFill>
          <a:ln w="12700">
            <a:solidFill>
              <a:srgbClr val="3B3266"/>
            </a:solidFill>
            <a:prstDash val="solid"/>
          </a:ln>
        </p:spPr>
      </p:sp>
      <p:sp>
        <p:nvSpPr>
          <p:cNvPr id="13" name="Text 11"/>
          <p:cNvSpPr txBox="1"/>
          <p:nvPr/>
        </p:nvSpPr>
        <p:spPr>
          <a:xfrm>
            <a:off x="8503920" y="4754880"/>
            <a:ext cx="3154680" cy="31089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It is not a hypothetical.</a:t>
            </a:r>
            <a:endParaRPr lang="en-US" sz="1350" dirty="0"/>
          </a:p>
        </p:txBody>
      </p:sp>
      <p:sp>
        <p:nvSpPr>
          <p:cNvPr id="14" name="Text 12"/>
          <p:cNvSpPr txBox="1"/>
          <p:nvPr/>
        </p:nvSpPr>
        <p:spPr>
          <a:xfrm>
            <a:off x="8503920" y="5084064"/>
            <a:ext cx="3154680" cy="841248"/>
          </a:xfrm>
          <a:prstGeom prst="rect">
            <a:avLst/>
          </a:prstGeom>
          <a:noFill/>
          <a:ln/>
        </p:spPr>
        <p:txBody>
          <a:bodyPr wrap="square" lIns="0" tIns="0" rIns="0" bIns="0" rtlCol="0" anchor="ctr"/>
          <a:lstStyle/>
          <a:p>
            <a:pPr indent="0" marL="0">
              <a:lnSpc>
                <a:spcPts val="1500"/>
              </a:lnSpc>
              <a:buNone/>
            </a:pPr>
            <a:r>
              <a:rPr lang="en-US" sz="1150" dirty="0">
                <a:solidFill>
                  <a:srgbClr val="B4ADD4"/>
                </a:solidFill>
                <a:latin typeface="Arial" pitchFamily="34" charset="0"/>
                <a:ea typeface="Arial" pitchFamily="34" charset="-122"/>
                <a:cs typeface="Arial" pitchFamily="34" charset="-120"/>
              </a:rPr>
              <a:t>Four lenders have already lost money to exactly this class of failure.</a:t>
            </a:r>
            <a:endParaRPr lang="en-US" sz="1150" dirty="0"/>
          </a:p>
        </p:txBody>
      </p:sp>
      <p:sp>
        <p:nvSpPr>
          <p:cNvPr id="15" name="Text 13"/>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6B6494"/>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user/solana-valuation-interface/docs/diagrams/svi-trust-chain.png">    </p:cNvPr>
          <p:cNvPicPr>
            <a:picLocks noChangeAspect="1"/>
          </p:cNvPicPr>
          <p:nvPr/>
        </p:nvPicPr>
        <p:blipFill>
          <a:blip r:embed="rId1"/>
          <a:stretch>
            <a:fillRect/>
          </a:stretch>
        </p:blipFill>
        <p:spPr>
          <a:xfrm>
            <a:off x="384048" y="0"/>
            <a:ext cx="11430000" cy="6858000"/>
          </a:xfrm>
          <a:prstGeom prst="rect">
            <a:avLst/>
          </a:prstGeom>
        </p:spPr>
      </p:pic>
      <p:sp>
        <p:nvSpPr>
          <p:cNvPr id="3" name="Text 0"/>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EVIDENCE</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This failure class already has a body count</a:t>
            </a:r>
            <a:endParaRPr lang="en-US" sz="3200" dirty="0"/>
          </a:p>
        </p:txBody>
      </p:sp>
      <p:sp>
        <p:nvSpPr>
          <p:cNvPr id="4" name="Text 2"/>
          <p:cNvSpPr txBox="1"/>
          <p:nvPr/>
        </p:nvSpPr>
        <p:spPr>
          <a:xfrm>
            <a:off x="566928" y="1280160"/>
            <a:ext cx="10241280" cy="365760"/>
          </a:xfrm>
          <a:prstGeom prst="rect">
            <a:avLst/>
          </a:prstGeom>
          <a:noFill/>
          <a:ln/>
        </p:spPr>
        <p:txBody>
          <a:bodyPr wrap="square" lIns="0" tIns="0" rIns="0" bIns="0" rtlCol="0" anchor="ctr"/>
          <a:lstStyle/>
          <a:p>
            <a:pPr indent="0" marL="0">
              <a:buNone/>
            </a:pPr>
            <a:r>
              <a:rPr lang="en-US" sz="1400" dirty="0">
                <a:solidFill>
                  <a:srgbClr val="5B6478"/>
                </a:solidFill>
                <a:latin typeface="Arial" pitchFamily="34" charset="0"/>
                <a:ea typeface="Arial" pitchFamily="34" charset="-122"/>
                <a:cs typeface="Arial" pitchFamily="34" charset="-120"/>
              </a:rPr>
              <a:t>In every case below, no on-chain account was ever wrong. The loss came entirely from the valuation layer between true state and the consumer.</a:t>
            </a:r>
            <a:endParaRPr lang="en-US" sz="1400" dirty="0"/>
          </a:p>
        </p:txBody>
      </p:sp>
      <p:sp>
        <p:nvSpPr>
          <p:cNvPr id="5" name="Shape 3"/>
          <p:cNvSpPr/>
          <p:nvPr/>
        </p:nvSpPr>
        <p:spPr>
          <a:xfrm>
            <a:off x="566928" y="1847088"/>
            <a:ext cx="2560320" cy="2798064"/>
          </a:xfrm>
          <a:prstGeom prst="roundRect">
            <a:avLst>
              <a:gd name="adj" fmla="val 2500"/>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6" name="Text 4"/>
          <p:cNvSpPr txBox="1"/>
          <p:nvPr/>
        </p:nvSpPr>
        <p:spPr>
          <a:xfrm>
            <a:off x="768096" y="2048256"/>
            <a:ext cx="2157984" cy="512064"/>
          </a:xfrm>
          <a:prstGeom prst="rect">
            <a:avLst/>
          </a:prstGeom>
          <a:noFill/>
          <a:ln/>
        </p:spPr>
        <p:txBody>
          <a:bodyPr wrap="square" lIns="0" tIns="0" rIns="0" bIns="0" rtlCol="0" anchor="ctr"/>
          <a:lstStyle/>
          <a:p>
            <a:pPr indent="0" marL="0">
              <a:buNone/>
            </a:pPr>
            <a:r>
              <a:rPr lang="en-US" sz="3000" b="1" dirty="0">
                <a:solidFill>
                  <a:srgbClr val="DC2626"/>
                </a:solidFill>
                <a:latin typeface="Arial" pitchFamily="34" charset="0"/>
                <a:ea typeface="Arial" pitchFamily="34" charset="-122"/>
                <a:cs typeface="Arial" pitchFamily="34" charset="-120"/>
              </a:rPr>
              <a:t>$5.8M</a:t>
            </a:r>
            <a:endParaRPr lang="en-US" sz="3000" dirty="0"/>
          </a:p>
        </p:txBody>
      </p:sp>
      <p:sp>
        <p:nvSpPr>
          <p:cNvPr id="7" name="Text 5"/>
          <p:cNvSpPr txBox="1"/>
          <p:nvPr/>
        </p:nvSpPr>
        <p:spPr>
          <a:xfrm>
            <a:off x="768096" y="2615184"/>
            <a:ext cx="2157984" cy="27432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Loopscale</a:t>
            </a:r>
            <a:endParaRPr lang="en-US" sz="1500" dirty="0"/>
          </a:p>
        </p:txBody>
      </p:sp>
      <p:sp>
        <p:nvSpPr>
          <p:cNvPr id="8" name="Text 6"/>
          <p:cNvSpPr txBox="1"/>
          <p:nvPr/>
        </p:nvSpPr>
        <p:spPr>
          <a:xfrm>
            <a:off x="768096" y="2889504"/>
            <a:ext cx="2157984" cy="237744"/>
          </a:xfrm>
          <a:prstGeom prst="rect">
            <a:avLst/>
          </a:prstGeom>
          <a:noFill/>
          <a:ln/>
        </p:spPr>
        <p:txBody>
          <a:bodyPr wrap="square" lIns="0" tIns="0" rIns="0" bIns="0" rtlCol="0" anchor="ctr"/>
          <a:lstStyle/>
          <a:p>
            <a:pPr indent="0" marL="0">
              <a:buNone/>
            </a:pPr>
            <a:r>
              <a:rPr lang="en-US" sz="1050" dirty="0">
                <a:solidFill>
                  <a:srgbClr val="5B6478"/>
                </a:solidFill>
                <a:latin typeface="Arial" pitchFamily="34" charset="0"/>
                <a:ea typeface="Arial" pitchFamily="34" charset="-122"/>
                <a:cs typeface="Arial" pitchFamily="34" charset="-120"/>
              </a:rPr>
              <a:t>Apr 2025 · Solana</a:t>
            </a:r>
            <a:endParaRPr lang="en-US" sz="1050" dirty="0"/>
          </a:p>
        </p:txBody>
      </p:sp>
      <p:sp>
        <p:nvSpPr>
          <p:cNvPr id="9" name="Text 7"/>
          <p:cNvSpPr txBox="1"/>
          <p:nvPr/>
        </p:nvSpPr>
        <p:spPr>
          <a:xfrm>
            <a:off x="768096" y="3200400"/>
            <a:ext cx="2157984" cy="1316736"/>
          </a:xfrm>
          <a:prstGeom prst="rect">
            <a:avLst/>
          </a:prstGeom>
          <a:noFill/>
          <a:ln/>
        </p:spPr>
        <p:txBody>
          <a:bodyPr wrap="square" lIns="0" tIns="0" rIns="0" bIns="0" rtlCol="0" anchor="ctr"/>
          <a:lstStyle/>
          <a:p>
            <a:pPr indent="0" marL="0">
              <a:lnSpc>
                <a:spcPts val="1500"/>
              </a:lnSpc>
              <a:buNone/>
            </a:pPr>
            <a:r>
              <a:rPr lang="en-US" sz="1100" dirty="0">
                <a:solidFill>
                  <a:srgbClr val="0F172A"/>
                </a:solidFill>
                <a:latin typeface="Arial" pitchFamily="34" charset="0"/>
                <a:ea typeface="Arial" pitchFamily="34" charset="-122"/>
                <a:cs typeface="Arial" pitchFamily="34" charset="-120"/>
              </a:rPr>
              <a:t>The lender's own pricing of RateX PT tokens was wrong. Undercollateralised loans drained 12% of TVL — two weeks after launch.</a:t>
            </a:r>
            <a:endParaRPr lang="en-US" sz="1100" dirty="0"/>
          </a:p>
        </p:txBody>
      </p:sp>
      <p:sp>
        <p:nvSpPr>
          <p:cNvPr id="10" name="Shape 8"/>
          <p:cNvSpPr/>
          <p:nvPr/>
        </p:nvSpPr>
        <p:spPr>
          <a:xfrm>
            <a:off x="3410712" y="1847088"/>
            <a:ext cx="2560320" cy="2798064"/>
          </a:xfrm>
          <a:prstGeom prst="roundRect">
            <a:avLst>
              <a:gd name="adj" fmla="val 2500"/>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1" name="Text 9"/>
          <p:cNvSpPr txBox="1"/>
          <p:nvPr/>
        </p:nvSpPr>
        <p:spPr>
          <a:xfrm>
            <a:off x="3611880" y="2048256"/>
            <a:ext cx="2157984" cy="512064"/>
          </a:xfrm>
          <a:prstGeom prst="rect">
            <a:avLst/>
          </a:prstGeom>
          <a:noFill/>
          <a:ln/>
        </p:spPr>
        <p:txBody>
          <a:bodyPr wrap="square" lIns="0" tIns="0" rIns="0" bIns="0" rtlCol="0" anchor="ctr"/>
          <a:lstStyle/>
          <a:p>
            <a:pPr indent="0" marL="0">
              <a:buNone/>
            </a:pPr>
            <a:r>
              <a:rPr lang="en-US" sz="3000" b="1" dirty="0">
                <a:solidFill>
                  <a:srgbClr val="DC2626"/>
                </a:solidFill>
                <a:latin typeface="Arial" pitchFamily="34" charset="0"/>
                <a:ea typeface="Arial" pitchFamily="34" charset="-122"/>
                <a:cs typeface="Arial" pitchFamily="34" charset="-120"/>
              </a:rPr>
              <a:t>$1.8M</a:t>
            </a:r>
            <a:endParaRPr lang="en-US" sz="3000" dirty="0"/>
          </a:p>
        </p:txBody>
      </p:sp>
      <p:sp>
        <p:nvSpPr>
          <p:cNvPr id="12" name="Text 10"/>
          <p:cNvSpPr txBox="1"/>
          <p:nvPr/>
        </p:nvSpPr>
        <p:spPr>
          <a:xfrm>
            <a:off x="3611880" y="2615184"/>
            <a:ext cx="2157984" cy="27432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Moonwell</a:t>
            </a:r>
            <a:endParaRPr lang="en-US" sz="1500" dirty="0"/>
          </a:p>
        </p:txBody>
      </p:sp>
      <p:sp>
        <p:nvSpPr>
          <p:cNvPr id="13" name="Text 11"/>
          <p:cNvSpPr txBox="1"/>
          <p:nvPr/>
        </p:nvSpPr>
        <p:spPr>
          <a:xfrm>
            <a:off x="3611880" y="2889504"/>
            <a:ext cx="2157984" cy="237744"/>
          </a:xfrm>
          <a:prstGeom prst="rect">
            <a:avLst/>
          </a:prstGeom>
          <a:noFill/>
          <a:ln/>
        </p:spPr>
        <p:txBody>
          <a:bodyPr wrap="square" lIns="0" tIns="0" rIns="0" bIns="0" rtlCol="0" anchor="ctr"/>
          <a:lstStyle/>
          <a:p>
            <a:pPr indent="0" marL="0">
              <a:buNone/>
            </a:pPr>
            <a:r>
              <a:rPr lang="en-US" sz="1050" dirty="0">
                <a:solidFill>
                  <a:srgbClr val="5B6478"/>
                </a:solidFill>
                <a:latin typeface="Arial" pitchFamily="34" charset="0"/>
                <a:ea typeface="Arial" pitchFamily="34" charset="-122"/>
                <a:cs typeface="Arial" pitchFamily="34" charset="-120"/>
              </a:rPr>
              <a:t>2025 · bad debt</a:t>
            </a:r>
            <a:endParaRPr lang="en-US" sz="1050" dirty="0"/>
          </a:p>
        </p:txBody>
      </p:sp>
      <p:sp>
        <p:nvSpPr>
          <p:cNvPr id="14" name="Text 12"/>
          <p:cNvSpPr txBox="1"/>
          <p:nvPr/>
        </p:nvSpPr>
        <p:spPr>
          <a:xfrm>
            <a:off x="3611880" y="3200400"/>
            <a:ext cx="2157984" cy="1316736"/>
          </a:xfrm>
          <a:prstGeom prst="rect">
            <a:avLst/>
          </a:prstGeom>
          <a:noFill/>
          <a:ln/>
        </p:spPr>
        <p:txBody>
          <a:bodyPr wrap="square" lIns="0" tIns="0" rIns="0" bIns="0" rtlCol="0" anchor="ctr"/>
          <a:lstStyle/>
          <a:p>
            <a:pPr indent="0" marL="0">
              <a:lnSpc>
                <a:spcPts val="1500"/>
              </a:lnSpc>
              <a:buNone/>
            </a:pPr>
            <a:r>
              <a:rPr lang="en-US" sz="1100" dirty="0">
                <a:solidFill>
                  <a:srgbClr val="0F172A"/>
                </a:solidFill>
                <a:latin typeface="Arial" pitchFamily="34" charset="0"/>
                <a:ea typeface="Arial" pitchFamily="34" charset="-122"/>
                <a:cs typeface="Arial" pitchFamily="34" charset="-120"/>
              </a:rPr>
              <a:t>A config change priced cbETH via cbETH/ETH only, dropping the ETH/USD leg. It read $1.12 instead of ~$2,200. Bots did the rest.</a:t>
            </a:r>
            <a:endParaRPr lang="en-US" sz="1100" dirty="0"/>
          </a:p>
        </p:txBody>
      </p:sp>
      <p:sp>
        <p:nvSpPr>
          <p:cNvPr id="15" name="Shape 13"/>
          <p:cNvSpPr/>
          <p:nvPr/>
        </p:nvSpPr>
        <p:spPr>
          <a:xfrm>
            <a:off x="6254496" y="1847088"/>
            <a:ext cx="2560320" cy="2798064"/>
          </a:xfrm>
          <a:prstGeom prst="roundRect">
            <a:avLst>
              <a:gd name="adj" fmla="val 2500"/>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6" name="Text 14"/>
          <p:cNvSpPr txBox="1"/>
          <p:nvPr/>
        </p:nvSpPr>
        <p:spPr>
          <a:xfrm>
            <a:off x="6455664" y="2048256"/>
            <a:ext cx="2157984" cy="512064"/>
          </a:xfrm>
          <a:prstGeom prst="rect">
            <a:avLst/>
          </a:prstGeom>
          <a:noFill/>
          <a:ln/>
        </p:spPr>
        <p:txBody>
          <a:bodyPr wrap="square" lIns="0" tIns="0" rIns="0" bIns="0" rtlCol="0" anchor="ctr"/>
          <a:lstStyle/>
          <a:p>
            <a:pPr indent="0" marL="0">
              <a:buNone/>
            </a:pPr>
            <a:r>
              <a:rPr lang="en-US" sz="2400" b="1" dirty="0">
                <a:solidFill>
                  <a:srgbClr val="D97706"/>
                </a:solidFill>
                <a:latin typeface="Arial" pitchFamily="34" charset="0"/>
                <a:ea typeface="Arial" pitchFamily="34" charset="-122"/>
                <a:cs typeface="Arial" pitchFamily="34" charset="-120"/>
              </a:rPr>
              <a:t>1.06→1.7</a:t>
            </a:r>
            <a:endParaRPr lang="en-US" sz="2400" dirty="0"/>
          </a:p>
        </p:txBody>
      </p:sp>
      <p:sp>
        <p:nvSpPr>
          <p:cNvPr id="17" name="Text 15"/>
          <p:cNvSpPr txBox="1"/>
          <p:nvPr/>
        </p:nvSpPr>
        <p:spPr>
          <a:xfrm>
            <a:off x="6455664" y="2615184"/>
            <a:ext cx="2157984" cy="27432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wUSDM / Venus</a:t>
            </a:r>
            <a:endParaRPr lang="en-US" sz="1500" dirty="0"/>
          </a:p>
        </p:txBody>
      </p:sp>
      <p:sp>
        <p:nvSpPr>
          <p:cNvPr id="18" name="Text 16"/>
          <p:cNvSpPr txBox="1"/>
          <p:nvPr/>
        </p:nvSpPr>
        <p:spPr>
          <a:xfrm>
            <a:off x="6455664" y="2889504"/>
            <a:ext cx="2157984" cy="237744"/>
          </a:xfrm>
          <a:prstGeom prst="rect">
            <a:avLst/>
          </a:prstGeom>
          <a:noFill/>
          <a:ln/>
        </p:spPr>
        <p:txBody>
          <a:bodyPr wrap="square" lIns="0" tIns="0" rIns="0" bIns="0" rtlCol="0" anchor="ctr"/>
          <a:lstStyle/>
          <a:p>
            <a:pPr indent="0" marL="0">
              <a:buNone/>
            </a:pPr>
            <a:r>
              <a:rPr lang="en-US" sz="1050" dirty="0">
                <a:solidFill>
                  <a:srgbClr val="5B6478"/>
                </a:solidFill>
                <a:latin typeface="Arial" pitchFamily="34" charset="0"/>
                <a:ea typeface="Arial" pitchFamily="34" charset="-122"/>
                <a:cs typeface="Arial" pitchFamily="34" charset="-120"/>
              </a:rPr>
              <a:t>Feb 2026</a:t>
            </a:r>
            <a:endParaRPr lang="en-US" sz="1050" dirty="0"/>
          </a:p>
        </p:txBody>
      </p:sp>
      <p:sp>
        <p:nvSpPr>
          <p:cNvPr id="19" name="Text 17"/>
          <p:cNvSpPr txBox="1"/>
          <p:nvPr/>
        </p:nvSpPr>
        <p:spPr>
          <a:xfrm>
            <a:off x="6455664" y="3200400"/>
            <a:ext cx="2157984" cy="1316736"/>
          </a:xfrm>
          <a:prstGeom prst="rect">
            <a:avLst/>
          </a:prstGeom>
          <a:noFill/>
          <a:ln/>
        </p:spPr>
        <p:txBody>
          <a:bodyPr wrap="square" lIns="0" tIns="0" rIns="0" bIns="0" rtlCol="0" anchor="ctr"/>
          <a:lstStyle/>
          <a:p>
            <a:pPr indent="0" marL="0">
              <a:lnSpc>
                <a:spcPts val="1500"/>
              </a:lnSpc>
              <a:buNone/>
            </a:pPr>
            <a:r>
              <a:rPr lang="en-US" sz="1100" dirty="0">
                <a:solidFill>
                  <a:srgbClr val="0F172A"/>
                </a:solidFill>
                <a:latin typeface="Arial" pitchFamily="34" charset="0"/>
                <a:ea typeface="Arial" pitchFamily="34" charset="-122"/>
                <a:cs typeface="Arial" pitchFamily="34" charset="-120"/>
              </a:rPr>
              <a:t>A donation attack moved the ERC-4626 share exchange rate itself, then self-liquidated against it. The rate was the attack surface.</a:t>
            </a:r>
            <a:endParaRPr lang="en-US" sz="1100" dirty="0"/>
          </a:p>
        </p:txBody>
      </p:sp>
      <p:sp>
        <p:nvSpPr>
          <p:cNvPr id="20" name="Shape 18"/>
          <p:cNvSpPr/>
          <p:nvPr/>
        </p:nvSpPr>
        <p:spPr>
          <a:xfrm>
            <a:off x="9098280" y="1847088"/>
            <a:ext cx="2560320" cy="2798064"/>
          </a:xfrm>
          <a:prstGeom prst="roundRect">
            <a:avLst>
              <a:gd name="adj" fmla="val 2500"/>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21" name="Text 19"/>
          <p:cNvSpPr txBox="1"/>
          <p:nvPr/>
        </p:nvSpPr>
        <p:spPr>
          <a:xfrm>
            <a:off x="9299448" y="2048256"/>
            <a:ext cx="2157984" cy="512064"/>
          </a:xfrm>
          <a:prstGeom prst="rect">
            <a:avLst/>
          </a:prstGeom>
          <a:noFill/>
          <a:ln/>
        </p:spPr>
        <p:txBody>
          <a:bodyPr wrap="square" lIns="0" tIns="0" rIns="0" bIns="0" rtlCol="0" anchor="ctr"/>
          <a:lstStyle/>
          <a:p>
            <a:pPr indent="0" marL="0">
              <a:buNone/>
            </a:pPr>
            <a:r>
              <a:rPr lang="en-US" sz="3000" b="1" dirty="0">
                <a:solidFill>
                  <a:srgbClr val="DC2626"/>
                </a:solidFill>
                <a:latin typeface="Arial" pitchFamily="34" charset="0"/>
                <a:ea typeface="Arial" pitchFamily="34" charset="-122"/>
                <a:cs typeface="Arial" pitchFamily="34" charset="-120"/>
              </a:rPr>
              <a:t>$10.2M</a:t>
            </a:r>
            <a:endParaRPr lang="en-US" sz="3000" dirty="0"/>
          </a:p>
        </p:txBody>
      </p:sp>
      <p:sp>
        <p:nvSpPr>
          <p:cNvPr id="22" name="Text 20"/>
          <p:cNvSpPr txBox="1"/>
          <p:nvPr/>
        </p:nvSpPr>
        <p:spPr>
          <a:xfrm>
            <a:off x="9299448" y="2615184"/>
            <a:ext cx="2157984" cy="27432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YieldBlox</a:t>
            </a:r>
            <a:endParaRPr lang="en-US" sz="1500" dirty="0"/>
          </a:p>
        </p:txBody>
      </p:sp>
      <p:sp>
        <p:nvSpPr>
          <p:cNvPr id="23" name="Text 21"/>
          <p:cNvSpPr txBox="1"/>
          <p:nvPr/>
        </p:nvSpPr>
        <p:spPr>
          <a:xfrm>
            <a:off x="9299448" y="2889504"/>
            <a:ext cx="2157984" cy="237744"/>
          </a:xfrm>
          <a:prstGeom prst="rect">
            <a:avLst/>
          </a:prstGeom>
          <a:noFill/>
          <a:ln/>
        </p:spPr>
        <p:txBody>
          <a:bodyPr wrap="square" lIns="0" tIns="0" rIns="0" bIns="0" rtlCol="0" anchor="ctr"/>
          <a:lstStyle/>
          <a:p>
            <a:pPr indent="0" marL="0">
              <a:buNone/>
            </a:pPr>
            <a:r>
              <a:rPr lang="en-US" sz="1050" dirty="0">
                <a:solidFill>
                  <a:srgbClr val="5B6478"/>
                </a:solidFill>
                <a:latin typeface="Arial" pitchFamily="34" charset="0"/>
                <a:ea typeface="Arial" pitchFamily="34" charset="-122"/>
                <a:cs typeface="Arial" pitchFamily="34" charset="-120"/>
              </a:rPr>
              <a:t>Feb 2026</a:t>
            </a:r>
            <a:endParaRPr lang="en-US" sz="1050" dirty="0"/>
          </a:p>
        </p:txBody>
      </p:sp>
      <p:sp>
        <p:nvSpPr>
          <p:cNvPr id="24" name="Text 22"/>
          <p:cNvSpPr txBox="1"/>
          <p:nvPr/>
        </p:nvSpPr>
        <p:spPr>
          <a:xfrm>
            <a:off x="9299448" y="3200400"/>
            <a:ext cx="2157984" cy="1316736"/>
          </a:xfrm>
          <a:prstGeom prst="rect">
            <a:avLst/>
          </a:prstGeom>
          <a:noFill/>
          <a:ln/>
        </p:spPr>
        <p:txBody>
          <a:bodyPr wrap="square" lIns="0" tIns="0" rIns="0" bIns="0" rtlCol="0" anchor="ctr"/>
          <a:lstStyle/>
          <a:p>
            <a:pPr indent="0" marL="0">
              <a:lnSpc>
                <a:spcPts val="1500"/>
              </a:lnSpc>
              <a:buNone/>
            </a:pPr>
            <a:r>
              <a:rPr lang="en-US" sz="1100" dirty="0">
                <a:solidFill>
                  <a:srgbClr val="0F172A"/>
                </a:solidFill>
                <a:latin typeface="Arial" pitchFamily="34" charset="0"/>
                <a:ea typeface="Arial" pitchFamily="34" charset="-122"/>
                <a:cs typeface="Arial" pitchFamily="34" charset="-120"/>
              </a:rPr>
              <a:t>Thin-liquidity VWAP oracle on a tokenised-treasury pair inflated collateral value enough to over-borrow.</a:t>
            </a:r>
            <a:endParaRPr lang="en-US" sz="1100" dirty="0"/>
          </a:p>
        </p:txBody>
      </p:sp>
      <p:sp>
        <p:nvSpPr>
          <p:cNvPr id="25" name="Shape 23"/>
          <p:cNvSpPr/>
          <p:nvPr/>
        </p:nvSpPr>
        <p:spPr>
          <a:xfrm>
            <a:off x="566928" y="4901184"/>
            <a:ext cx="11057839" cy="1170432"/>
          </a:xfrm>
          <a:prstGeom prst="roundRect">
            <a:avLst>
              <a:gd name="adj" fmla="val 5469"/>
            </a:avLst>
          </a:prstGeom>
          <a:solidFill>
            <a:srgbClr val="FDECEC"/>
          </a:solidFill>
          <a:ln w="12700">
            <a:solidFill>
              <a:srgbClr val="F5C2C2"/>
            </a:solidFill>
            <a:prstDash val="solid"/>
          </a:ln>
        </p:spPr>
      </p:sp>
      <p:sp>
        <p:nvSpPr>
          <p:cNvPr id="26" name="Text 24"/>
          <p:cNvSpPr txBox="1"/>
          <p:nvPr/>
        </p:nvSpPr>
        <p:spPr>
          <a:xfrm>
            <a:off x="877824" y="5120640"/>
            <a:ext cx="1737360" cy="457200"/>
          </a:xfrm>
          <a:prstGeom prst="rect">
            <a:avLst/>
          </a:prstGeom>
          <a:noFill/>
          <a:ln/>
        </p:spPr>
        <p:txBody>
          <a:bodyPr wrap="square" lIns="0" tIns="0" rIns="0" bIns="0" rtlCol="0" anchor="ctr"/>
          <a:lstStyle/>
          <a:p>
            <a:pPr indent="0" marL="0">
              <a:buNone/>
            </a:pPr>
            <a:r>
              <a:rPr lang="en-US" sz="2700" b="1" dirty="0">
                <a:solidFill>
                  <a:srgbClr val="DC2626"/>
                </a:solidFill>
                <a:latin typeface="Arial" pitchFamily="34" charset="0"/>
                <a:ea typeface="Arial" pitchFamily="34" charset="-122"/>
                <a:cs typeface="Arial" pitchFamily="34" charset="-120"/>
              </a:rPr>
              <a:t>$137M+</a:t>
            </a:r>
            <a:endParaRPr lang="en-US" sz="2700" dirty="0"/>
          </a:p>
        </p:txBody>
      </p:sp>
      <p:sp>
        <p:nvSpPr>
          <p:cNvPr id="27" name="Text 25"/>
          <p:cNvSpPr txBox="1"/>
          <p:nvPr/>
        </p:nvSpPr>
        <p:spPr>
          <a:xfrm>
            <a:off x="2670048" y="5175504"/>
            <a:ext cx="5120640" cy="548640"/>
          </a:xfrm>
          <a:prstGeom prst="rect">
            <a:avLst/>
          </a:prstGeom>
          <a:noFill/>
          <a:ln/>
        </p:spPr>
        <p:txBody>
          <a:bodyPr wrap="square" lIns="0" tIns="0" rIns="0" bIns="0" rtlCol="0" anchor="ctr"/>
          <a:lstStyle/>
          <a:p>
            <a:pPr indent="0" marL="0">
              <a:lnSpc>
                <a:spcPts val="1800"/>
              </a:lnSpc>
              <a:buNone/>
            </a:pPr>
            <a:r>
              <a:rPr lang="en-US" sz="1350" dirty="0">
                <a:solidFill>
                  <a:srgbClr val="0F172A"/>
                </a:solidFill>
                <a:latin typeface="Arial" pitchFamily="34" charset="0"/>
                <a:ea typeface="Arial" pitchFamily="34" charset="-122"/>
                <a:cs typeface="Arial" pitchFamily="34" charset="-120"/>
              </a:rPr>
              <a:t>lost across DeFi exploits in Q1 2026 alone; over $1B cumulatively in 2026.</a:t>
            </a:r>
            <a:endParaRPr lang="en-US" sz="1350" dirty="0"/>
          </a:p>
        </p:txBody>
      </p:sp>
      <p:sp>
        <p:nvSpPr>
          <p:cNvPr id="28" name="Text 26"/>
          <p:cNvSpPr txBox="1"/>
          <p:nvPr/>
        </p:nvSpPr>
        <p:spPr>
          <a:xfrm>
            <a:off x="7973568" y="5120640"/>
            <a:ext cx="3291840" cy="786384"/>
          </a:xfrm>
          <a:prstGeom prst="rect">
            <a:avLst/>
          </a:prstGeom>
          <a:noFill/>
          <a:ln/>
        </p:spPr>
        <p:txBody>
          <a:bodyPr wrap="square" lIns="0" tIns="0" rIns="0" bIns="0" rtlCol="0" anchor="ctr"/>
          <a:lstStyle/>
          <a:p>
            <a:pPr indent="0" marL="0">
              <a:lnSpc>
                <a:spcPts val="1500"/>
              </a:lnSpc>
              <a:buNone/>
            </a:pPr>
            <a:r>
              <a:rPr lang="en-US" sz="1150" i="1" dirty="0">
                <a:solidFill>
                  <a:srgbClr val="5B6478"/>
                </a:solidFill>
                <a:latin typeface="Arial" pitchFamily="34" charset="0"/>
                <a:ea typeface="Arial" pitchFamily="34" charset="-122"/>
                <a:cs typeface="Arial" pitchFamily="34" charset="-120"/>
              </a:rPr>
              <a:t>Loopscale currently lists hyUSD. A lender that hand-rolls valuation for every protocol asset it accepts will eventually hand-roll one wrong.</a:t>
            </a:r>
            <a:endParaRPr lang="en-US" sz="1150" dirty="0"/>
          </a:p>
        </p:txBody>
      </p:sp>
      <p:sp>
        <p:nvSpPr>
          <p:cNvPr id="29" name="Text 27"/>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3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250" b="1" spc="220" kern="0" dirty="0">
                <a:solidFill>
                  <a:srgbClr val="C4B5FD"/>
                </a:solidFill>
                <a:latin typeface="Arial" pitchFamily="34" charset="0"/>
                <a:ea typeface="Arial" pitchFamily="34" charset="-122"/>
                <a:cs typeface="Arial" pitchFamily="34" charset="-120"/>
              </a:rPr>
              <a:t>THE IDEA</a:t>
            </a:r>
            <a:endParaRPr lang="en-US" sz="1250" dirty="0"/>
          </a:p>
        </p:txBody>
      </p:sp>
      <p:sp>
        <p:nvSpPr>
          <p:cNvPr id="3" name="Text 1"/>
          <p:cNvSpPr txBox="1"/>
          <p:nvPr/>
        </p:nvSpPr>
        <p:spPr>
          <a:xfrm>
            <a:off x="566928" y="1828800"/>
            <a:ext cx="10789920" cy="2377440"/>
          </a:xfrm>
          <a:prstGeom prst="rect">
            <a:avLst/>
          </a:prstGeom>
          <a:noFill/>
          <a:ln/>
        </p:spPr>
        <p:txBody>
          <a:bodyPr wrap="square" lIns="0" tIns="0" rIns="0" bIns="0" rtlCol="0" anchor="ctr"/>
          <a:lstStyle/>
          <a:p>
            <a:pPr indent="0" marL="0">
              <a:lnSpc>
                <a:spcPts val="5000"/>
              </a:lnSpc>
              <a:buNone/>
            </a:pPr>
            <a:r>
              <a:rPr lang="en-US" sz="4000" b="1" dirty="0">
                <a:solidFill>
                  <a:srgbClr val="FFFFFF"/>
                </a:solidFill>
                <a:latin typeface="Arial" pitchFamily="34" charset="0"/>
                <a:ea typeface="Arial" pitchFamily="34" charset="-122"/>
                <a:cs typeface="Arial" pitchFamily="34" charset="-120"/>
              </a:rPr>
              <a:t>Move the arithmetic on-chain.
</a:t>
            </a:r>
            <a:pPr indent="0" marL="0">
              <a:lnSpc>
                <a:spcPts val="5000"/>
              </a:lnSpc>
              <a:buNone/>
            </a:pPr>
            <a:r>
              <a:rPr lang="en-US" sz="3000" b="1" dirty="0">
                <a:solidFill>
                  <a:srgbClr val="A79FD0"/>
                </a:solidFill>
                <a:latin typeface="Arial" pitchFamily="34" charset="0"/>
                <a:ea typeface="Arial" pitchFamily="34" charset="-122"/>
                <a:cs typeface="Arial" pitchFamily="34" charset="-120"/>
              </a:rPr>
              <a:t>Then RPCs, APIs and keys become couriers —</a:t>
            </a:r>
            <a:endParaRPr lang="en-US" sz="4000" dirty="0"/>
          </a:p>
          <a:p>
            <a:pPr indent="0" marL="0">
              <a:lnSpc>
                <a:spcPts val="5000"/>
              </a:lnSpc>
              <a:buNone/>
            </a:pPr>
            <a:r>
              <a:rPr lang="en-US" sz="3000" b="1" dirty="0">
                <a:solidFill>
                  <a:srgbClr val="A79FD0"/>
                </a:solidFill>
                <a:latin typeface="Arial" pitchFamily="34" charset="0"/>
                <a:ea typeface="Arial" pitchFamily="34" charset="-122"/>
                <a:cs typeface="Arial" pitchFamily="34" charset="-120"/>
              </a:rPr>
              <a:t>not authors — of the number.</a:t>
            </a:r>
            <a:endParaRPr lang="en-US" sz="4000" dirty="0"/>
          </a:p>
        </p:txBody>
      </p:sp>
      <p:sp>
        <p:nvSpPr>
          <p:cNvPr id="4" name="Shape 2"/>
          <p:cNvSpPr/>
          <p:nvPr/>
        </p:nvSpPr>
        <p:spPr>
          <a:xfrm>
            <a:off x="566928" y="4617720"/>
            <a:ext cx="3593592" cy="0"/>
          </a:xfrm>
          <a:prstGeom prst="line">
            <a:avLst/>
          </a:prstGeom>
          <a:noFill/>
          <a:ln w="31750">
            <a:solidFill>
              <a:srgbClr val="7C3AED"/>
            </a:solidFill>
            <a:prstDash val="solid"/>
          </a:ln>
        </p:spPr>
      </p:sp>
      <p:sp>
        <p:nvSpPr>
          <p:cNvPr id="5" name="Text 3"/>
          <p:cNvSpPr txBox="1"/>
          <p:nvPr/>
        </p:nvSpPr>
        <p:spPr>
          <a:xfrm>
            <a:off x="566928" y="4754880"/>
            <a:ext cx="3593592"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Computed</a:t>
            </a:r>
            <a:endParaRPr lang="en-US" sz="1700" dirty="0"/>
          </a:p>
        </p:txBody>
      </p:sp>
      <p:sp>
        <p:nvSpPr>
          <p:cNvPr id="6" name="Text 4"/>
          <p:cNvSpPr txBox="1"/>
          <p:nvPr/>
        </p:nvSpPr>
        <p:spPr>
          <a:xfrm>
            <a:off x="566928" y="5102352"/>
            <a:ext cx="3383280" cy="640080"/>
          </a:xfrm>
          <a:prstGeom prst="rect">
            <a:avLst/>
          </a:prstGeom>
          <a:noFill/>
          <a:ln/>
        </p:spPr>
        <p:txBody>
          <a:bodyPr wrap="square" lIns="0" tIns="0" rIns="0" bIns="0" rtlCol="0" anchor="ctr"/>
          <a:lstStyle/>
          <a:p>
            <a:pPr indent="0" marL="0">
              <a:lnSpc>
                <a:spcPts val="1700"/>
              </a:lnSpc>
              <a:buNone/>
            </a:pPr>
            <a:r>
              <a:rPr lang="en-US" sz="1250" dirty="0">
                <a:solidFill>
                  <a:srgbClr val="9F98C4"/>
                </a:solidFill>
                <a:latin typeface="Arial" pitchFamily="34" charset="0"/>
                <a:ea typeface="Arial" pitchFamily="34" charset="-122"/>
                <a:cs typeface="Arial" pitchFamily="34" charset="-120"/>
              </a:rPr>
              <a:t>by a Solana program, from accounts it verifies itself</a:t>
            </a:r>
            <a:endParaRPr lang="en-US" sz="1250" dirty="0"/>
          </a:p>
        </p:txBody>
      </p:sp>
      <p:sp>
        <p:nvSpPr>
          <p:cNvPr id="7" name="Shape 5"/>
          <p:cNvSpPr/>
          <p:nvPr/>
        </p:nvSpPr>
        <p:spPr>
          <a:xfrm>
            <a:off x="4425696" y="4617720"/>
            <a:ext cx="3593592" cy="0"/>
          </a:xfrm>
          <a:prstGeom prst="line">
            <a:avLst/>
          </a:prstGeom>
          <a:noFill/>
          <a:ln w="31750">
            <a:solidFill>
              <a:srgbClr val="7C3AED"/>
            </a:solidFill>
            <a:prstDash val="solid"/>
          </a:ln>
        </p:spPr>
      </p:sp>
      <p:sp>
        <p:nvSpPr>
          <p:cNvPr id="8" name="Text 6"/>
          <p:cNvSpPr txBox="1"/>
          <p:nvPr/>
        </p:nvSpPr>
        <p:spPr>
          <a:xfrm>
            <a:off x="4425696" y="4754880"/>
            <a:ext cx="3593592"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Published</a:t>
            </a:r>
            <a:endParaRPr lang="en-US" sz="1700" dirty="0"/>
          </a:p>
        </p:txBody>
      </p:sp>
      <p:sp>
        <p:nvSpPr>
          <p:cNvPr id="9" name="Text 7"/>
          <p:cNvSpPr txBox="1"/>
          <p:nvPr/>
        </p:nvSpPr>
        <p:spPr>
          <a:xfrm>
            <a:off x="4425696" y="5102352"/>
            <a:ext cx="3383280" cy="640080"/>
          </a:xfrm>
          <a:prstGeom prst="rect">
            <a:avLst/>
          </a:prstGeom>
          <a:noFill/>
          <a:ln/>
        </p:spPr>
        <p:txBody>
          <a:bodyPr wrap="square" lIns="0" tIns="0" rIns="0" bIns="0" rtlCol="0" anchor="ctr"/>
          <a:lstStyle/>
          <a:p>
            <a:pPr indent="0" marL="0">
              <a:lnSpc>
                <a:spcPts val="1700"/>
              </a:lnSpc>
              <a:buNone/>
            </a:pPr>
            <a:r>
              <a:rPr lang="en-US" sz="1250" dirty="0">
                <a:solidFill>
                  <a:srgbClr val="9F98C4"/>
                </a:solidFill>
                <a:latin typeface="Arial" pitchFamily="34" charset="0"/>
                <a:ea typeface="Arial" pitchFamily="34" charset="-122"/>
                <a:cs typeface="Arial" pitchFamily="34" charset="-120"/>
              </a:rPr>
              <a:t>to a canonical 320-byte account anyone can read</a:t>
            </a:r>
            <a:endParaRPr lang="en-US" sz="1250" dirty="0"/>
          </a:p>
        </p:txBody>
      </p:sp>
      <p:sp>
        <p:nvSpPr>
          <p:cNvPr id="10" name="Shape 8"/>
          <p:cNvSpPr/>
          <p:nvPr/>
        </p:nvSpPr>
        <p:spPr>
          <a:xfrm>
            <a:off x="8284464" y="4617720"/>
            <a:ext cx="3593592" cy="0"/>
          </a:xfrm>
          <a:prstGeom prst="line">
            <a:avLst/>
          </a:prstGeom>
          <a:noFill/>
          <a:ln w="31750">
            <a:solidFill>
              <a:srgbClr val="7C3AED"/>
            </a:solidFill>
            <a:prstDash val="solid"/>
          </a:ln>
        </p:spPr>
      </p:sp>
      <p:sp>
        <p:nvSpPr>
          <p:cNvPr id="11" name="Text 9"/>
          <p:cNvSpPr txBox="1"/>
          <p:nvPr/>
        </p:nvSpPr>
        <p:spPr>
          <a:xfrm>
            <a:off x="8284464" y="4754880"/>
            <a:ext cx="3593592"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Reproducible</a:t>
            </a:r>
            <a:endParaRPr lang="en-US" sz="1700" dirty="0"/>
          </a:p>
        </p:txBody>
      </p:sp>
      <p:sp>
        <p:nvSpPr>
          <p:cNvPr id="12" name="Text 10"/>
          <p:cNvSpPr txBox="1"/>
          <p:nvPr/>
        </p:nvSpPr>
        <p:spPr>
          <a:xfrm>
            <a:off x="8284464" y="5102352"/>
            <a:ext cx="3383280" cy="640080"/>
          </a:xfrm>
          <a:prstGeom prst="rect">
            <a:avLst/>
          </a:prstGeom>
          <a:noFill/>
          <a:ln/>
        </p:spPr>
        <p:txBody>
          <a:bodyPr wrap="square" lIns="0" tIns="0" rIns="0" bIns="0" rtlCol="0" anchor="ctr"/>
          <a:lstStyle/>
          <a:p>
            <a:pPr indent="0" marL="0">
              <a:lnSpc>
                <a:spcPts val="1700"/>
              </a:lnSpc>
              <a:buNone/>
            </a:pPr>
            <a:r>
              <a:rPr lang="en-US" sz="1250" dirty="0">
                <a:solidFill>
                  <a:srgbClr val="9F98C4"/>
                </a:solidFill>
                <a:latin typeface="Arial" pitchFamily="34" charset="0"/>
                <a:ea typeface="Arial" pitchFamily="34" charset="-122"/>
                <a:cs typeface="Arial" pitchFamily="34" charset="-120"/>
              </a:rPr>
              <a:t>byte-for-byte by any third party, from the same slot</a:t>
            </a:r>
            <a:endParaRPr lang="en-US" sz="1250" dirty="0"/>
          </a:p>
        </p:txBody>
      </p:sp>
      <p:sp>
        <p:nvSpPr>
          <p:cNvPr id="13" name="Text 11"/>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6B6494"/>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user/solana-valuation-interface/docs/diagrams/svi-architecture.png">    </p:cNvPr>
          <p:cNvPicPr>
            <a:picLocks noChangeAspect="1"/>
          </p:cNvPicPr>
          <p:nvPr/>
        </p:nvPicPr>
        <p:blipFill>
          <a:blip r:embed="rId1"/>
          <a:stretch>
            <a:fillRect/>
          </a:stretch>
        </p:blipFill>
        <p:spPr>
          <a:xfrm>
            <a:off x="667512" y="0"/>
            <a:ext cx="10863072" cy="6858000"/>
          </a:xfrm>
          <a:prstGeom prst="rect">
            <a:avLst/>
          </a:prstGeom>
        </p:spPr>
      </p:pic>
      <p:sp>
        <p:nvSpPr>
          <p:cNvPr id="3" name="Text 0"/>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ARCHITECTURE</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Five pieces, and what each one is for</a:t>
            </a:r>
            <a:endParaRPr lang="en-US" sz="3200" dirty="0"/>
          </a:p>
        </p:txBody>
      </p:sp>
      <p:sp>
        <p:nvSpPr>
          <p:cNvPr id="4" name="Shape 2"/>
          <p:cNvSpPr/>
          <p:nvPr/>
        </p:nvSpPr>
        <p:spPr>
          <a:xfrm>
            <a:off x="566928" y="1444752"/>
            <a:ext cx="475488" cy="475488"/>
          </a:xfrm>
          <a:prstGeom prst="ellipse">
            <a:avLst/>
          </a:prstGeom>
          <a:solidFill>
            <a:srgbClr val="7C3AED"/>
          </a:solidFill>
          <a:ln/>
        </p:spPr>
      </p:sp>
      <p:sp>
        <p:nvSpPr>
          <p:cNvPr id="5" name="Text 3"/>
          <p:cNvSpPr txBox="1"/>
          <p:nvPr/>
        </p:nvSpPr>
        <p:spPr>
          <a:xfrm>
            <a:off x="566928" y="1517904"/>
            <a:ext cx="475488"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6" name="Text 4"/>
          <p:cNvSpPr txBox="1"/>
          <p:nvPr/>
        </p:nvSpPr>
        <p:spPr>
          <a:xfrm>
            <a:off x="1243584" y="1426464"/>
            <a:ext cx="3108960" cy="329184"/>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Adapter</a:t>
            </a:r>
            <a:pPr indent="0" marL="0">
              <a:buNone/>
            </a:pPr>
            <a:r>
              <a:rPr lang="en-US" sz="1250" i="1" dirty="0">
                <a:solidFill>
                  <a:srgbClr val="7C3AED"/>
                </a:solidFill>
                <a:latin typeface="Arial" pitchFamily="34" charset="0"/>
                <a:ea typeface="Arial" pitchFamily="34" charset="-122"/>
                <a:cs typeface="Arial" pitchFamily="34" charset="-120"/>
              </a:rPr>
              <a:t>   the calculator</a:t>
            </a:r>
            <a:endParaRPr lang="en-US" sz="1600" dirty="0"/>
          </a:p>
        </p:txBody>
      </p:sp>
      <p:sp>
        <p:nvSpPr>
          <p:cNvPr id="7" name="Text 5"/>
          <p:cNvSpPr txBox="1"/>
          <p:nvPr/>
        </p:nvSpPr>
        <p:spPr>
          <a:xfrm>
            <a:off x="4224528" y="1380744"/>
            <a:ext cx="7406640" cy="65836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One per protocol. Reads the protocol's public account bytes, verifies owner / PDA / mint / program ID, and calls the protocol's own math library. Reimplements nothing.</a:t>
            </a:r>
            <a:endParaRPr lang="en-US" sz="1200" dirty="0"/>
          </a:p>
        </p:txBody>
      </p:sp>
      <p:sp>
        <p:nvSpPr>
          <p:cNvPr id="8" name="Shape 6"/>
          <p:cNvSpPr/>
          <p:nvPr/>
        </p:nvSpPr>
        <p:spPr>
          <a:xfrm>
            <a:off x="566928" y="2112264"/>
            <a:ext cx="11057839" cy="0"/>
          </a:xfrm>
          <a:prstGeom prst="line">
            <a:avLst/>
          </a:prstGeom>
          <a:noFill/>
          <a:ln w="12700">
            <a:solidFill>
              <a:srgbClr val="E2E0EC"/>
            </a:solidFill>
            <a:prstDash val="solid"/>
          </a:ln>
        </p:spPr>
      </p:sp>
      <p:sp>
        <p:nvSpPr>
          <p:cNvPr id="9" name="Shape 7"/>
          <p:cNvSpPr/>
          <p:nvPr/>
        </p:nvSpPr>
        <p:spPr>
          <a:xfrm>
            <a:off x="566928" y="2267712"/>
            <a:ext cx="475488" cy="475488"/>
          </a:xfrm>
          <a:prstGeom prst="ellipse">
            <a:avLst/>
          </a:prstGeom>
          <a:solidFill>
            <a:srgbClr val="7C3AED"/>
          </a:solidFill>
          <a:ln/>
        </p:spPr>
      </p:sp>
      <p:sp>
        <p:nvSpPr>
          <p:cNvPr id="10" name="Text 8"/>
          <p:cNvSpPr txBox="1"/>
          <p:nvPr/>
        </p:nvSpPr>
        <p:spPr>
          <a:xfrm>
            <a:off x="566928" y="2340864"/>
            <a:ext cx="475488"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1" name="Text 9"/>
          <p:cNvSpPr txBox="1"/>
          <p:nvPr/>
        </p:nvSpPr>
        <p:spPr>
          <a:xfrm>
            <a:off x="1243584" y="2249424"/>
            <a:ext cx="3108960" cy="329184"/>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Core</a:t>
            </a:r>
            <a:pPr indent="0" marL="0">
              <a:buNone/>
            </a:pPr>
            <a:r>
              <a:rPr lang="en-US" sz="1250" i="1" dirty="0">
                <a:solidFill>
                  <a:srgbClr val="7C3AED"/>
                </a:solidFill>
                <a:latin typeface="Arial" pitchFamily="34" charset="0"/>
                <a:ea typeface="Arial" pitchFamily="34" charset="-122"/>
                <a:cs typeface="Arial" pitchFamily="34" charset="-120"/>
              </a:rPr>
              <a:t>   the notice board</a:t>
            </a:r>
            <a:endParaRPr lang="en-US" sz="1600" dirty="0"/>
          </a:p>
        </p:txBody>
      </p:sp>
      <p:sp>
        <p:nvSpPr>
          <p:cNvPr id="12" name="Text 10"/>
          <p:cNvSpPr txBox="1"/>
          <p:nvPr/>
        </p:nvSpPr>
        <p:spPr>
          <a:xfrm>
            <a:off x="4224528" y="2203704"/>
            <a:ext cx="7406640" cy="65836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Tiny, protocol-agnostic, auditable — and one day freezable. Only a registered adapter's PDA may write. Sequence monotonic, freshness enforced, bounds checked.</a:t>
            </a:r>
            <a:endParaRPr lang="en-US" sz="1200" dirty="0"/>
          </a:p>
        </p:txBody>
      </p:sp>
      <p:sp>
        <p:nvSpPr>
          <p:cNvPr id="13" name="Shape 11"/>
          <p:cNvSpPr/>
          <p:nvPr/>
        </p:nvSpPr>
        <p:spPr>
          <a:xfrm>
            <a:off x="566928" y="2935224"/>
            <a:ext cx="11057839" cy="0"/>
          </a:xfrm>
          <a:prstGeom prst="line">
            <a:avLst/>
          </a:prstGeom>
          <a:noFill/>
          <a:ln w="12700">
            <a:solidFill>
              <a:srgbClr val="E2E0EC"/>
            </a:solidFill>
            <a:prstDash val="solid"/>
          </a:ln>
        </p:spPr>
      </p:sp>
      <p:sp>
        <p:nvSpPr>
          <p:cNvPr id="14" name="Shape 12"/>
          <p:cNvSpPr/>
          <p:nvPr/>
        </p:nvSpPr>
        <p:spPr>
          <a:xfrm>
            <a:off x="566928" y="3090672"/>
            <a:ext cx="475488" cy="475488"/>
          </a:xfrm>
          <a:prstGeom prst="ellipse">
            <a:avLst/>
          </a:prstGeom>
          <a:solidFill>
            <a:srgbClr val="D97706"/>
          </a:solidFill>
          <a:ln/>
        </p:spPr>
      </p:sp>
      <p:sp>
        <p:nvSpPr>
          <p:cNvPr id="15" name="Text 13"/>
          <p:cNvSpPr txBox="1"/>
          <p:nvPr/>
        </p:nvSpPr>
        <p:spPr>
          <a:xfrm>
            <a:off x="566928" y="3163824"/>
            <a:ext cx="475488"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6" name="Text 14"/>
          <p:cNvSpPr txBox="1"/>
          <p:nvPr/>
        </p:nvSpPr>
        <p:spPr>
          <a:xfrm>
            <a:off x="1243584" y="3072384"/>
            <a:ext cx="3108960" cy="329184"/>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Quote account</a:t>
            </a:r>
            <a:pPr indent="0" marL="0">
              <a:buNone/>
            </a:pPr>
            <a:r>
              <a:rPr lang="en-US" sz="1250" i="1" dirty="0">
                <a:solidFill>
                  <a:srgbClr val="D97706"/>
                </a:solidFill>
                <a:latin typeface="Arial" pitchFamily="34" charset="0"/>
                <a:ea typeface="Arial" pitchFamily="34" charset="-122"/>
                <a:cs typeface="Arial" pitchFamily="34" charset="-120"/>
              </a:rPr>
              <a:t>   the product</a:t>
            </a:r>
            <a:endParaRPr lang="en-US" sz="1600" dirty="0"/>
          </a:p>
        </p:txBody>
      </p:sp>
      <p:sp>
        <p:nvSpPr>
          <p:cNvPr id="17" name="Text 15"/>
          <p:cNvSpPr txBox="1"/>
          <p:nvPr/>
        </p:nvSpPr>
        <p:spPr>
          <a:xfrm>
            <a:off x="4224528" y="3026664"/>
            <a:ext cx="7406640" cy="65836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320 fixed bytes: value, lower/upper bounds, observed_slot, valid_until_slot, sequence, status_flags, methodology_hash, value_type.</a:t>
            </a:r>
            <a:endParaRPr lang="en-US" sz="1200" dirty="0"/>
          </a:p>
        </p:txBody>
      </p:sp>
      <p:sp>
        <p:nvSpPr>
          <p:cNvPr id="18" name="Shape 16"/>
          <p:cNvSpPr/>
          <p:nvPr/>
        </p:nvSpPr>
        <p:spPr>
          <a:xfrm>
            <a:off x="566928" y="3758184"/>
            <a:ext cx="11057839" cy="0"/>
          </a:xfrm>
          <a:prstGeom prst="line">
            <a:avLst/>
          </a:prstGeom>
          <a:noFill/>
          <a:ln w="12700">
            <a:solidFill>
              <a:srgbClr val="E2E0EC"/>
            </a:solidFill>
            <a:prstDash val="solid"/>
          </a:ln>
        </p:spPr>
      </p:sp>
      <p:sp>
        <p:nvSpPr>
          <p:cNvPr id="19" name="Shape 17"/>
          <p:cNvSpPr/>
          <p:nvPr/>
        </p:nvSpPr>
        <p:spPr>
          <a:xfrm>
            <a:off x="566928" y="3913632"/>
            <a:ext cx="475488" cy="475488"/>
          </a:xfrm>
          <a:prstGeom prst="ellipse">
            <a:avLst/>
          </a:prstGeom>
          <a:solidFill>
            <a:srgbClr val="16A34A"/>
          </a:solidFill>
          <a:ln/>
        </p:spPr>
      </p:sp>
      <p:sp>
        <p:nvSpPr>
          <p:cNvPr id="20" name="Text 18"/>
          <p:cNvSpPr txBox="1"/>
          <p:nvPr/>
        </p:nvSpPr>
        <p:spPr>
          <a:xfrm>
            <a:off x="566928" y="3986784"/>
            <a:ext cx="475488"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1" name="Text 19"/>
          <p:cNvSpPr txBox="1"/>
          <p:nvPr/>
        </p:nvSpPr>
        <p:spPr>
          <a:xfrm>
            <a:off x="1243584" y="3895344"/>
            <a:ext cx="3108960" cy="329184"/>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Keeper</a:t>
            </a:r>
            <a:pPr indent="0" marL="0">
              <a:buNone/>
            </a:pPr>
            <a:r>
              <a:rPr lang="en-US" sz="1250" i="1" dirty="0">
                <a:solidFill>
                  <a:srgbClr val="16A34A"/>
                </a:solidFill>
                <a:latin typeface="Arial" pitchFamily="34" charset="0"/>
                <a:ea typeface="Arial" pitchFamily="34" charset="-122"/>
                <a:cs typeface="Arial" pitchFamily="34" charset="-120"/>
              </a:rPr>
              <a:t>   rings the bell</a:t>
            </a:r>
            <a:endParaRPr lang="en-US" sz="1600" dirty="0"/>
          </a:p>
        </p:txBody>
      </p:sp>
      <p:sp>
        <p:nvSpPr>
          <p:cNvPr id="22" name="Text 20"/>
          <p:cNvSpPr txBox="1"/>
          <p:nvPr/>
        </p:nvSpPr>
        <p:spPr>
          <a:xfrm>
            <a:off x="4224528" y="3849624"/>
            <a:ext cx="7406640" cy="65836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Permissionless — anyone can crank. Pays gas; cannot influence the value. If nobody cranks, the quote expires visibly. It fails loud; it never lies.</a:t>
            </a:r>
            <a:endParaRPr lang="en-US" sz="1200" dirty="0"/>
          </a:p>
        </p:txBody>
      </p:sp>
      <p:sp>
        <p:nvSpPr>
          <p:cNvPr id="23" name="Shape 21"/>
          <p:cNvSpPr/>
          <p:nvPr/>
        </p:nvSpPr>
        <p:spPr>
          <a:xfrm>
            <a:off x="566928" y="4581144"/>
            <a:ext cx="11057839" cy="0"/>
          </a:xfrm>
          <a:prstGeom prst="line">
            <a:avLst/>
          </a:prstGeom>
          <a:noFill/>
          <a:ln w="12700">
            <a:solidFill>
              <a:srgbClr val="E2E0EC"/>
            </a:solidFill>
            <a:prstDash val="solid"/>
          </a:ln>
        </p:spPr>
      </p:sp>
      <p:sp>
        <p:nvSpPr>
          <p:cNvPr id="24" name="Shape 22"/>
          <p:cNvSpPr/>
          <p:nvPr/>
        </p:nvSpPr>
        <p:spPr>
          <a:xfrm>
            <a:off x="566928" y="4736592"/>
            <a:ext cx="475488" cy="475488"/>
          </a:xfrm>
          <a:prstGeom prst="ellipse">
            <a:avLst/>
          </a:prstGeom>
          <a:solidFill>
            <a:srgbClr val="16A34A"/>
          </a:solidFill>
          <a:ln/>
        </p:spPr>
      </p:sp>
      <p:sp>
        <p:nvSpPr>
          <p:cNvPr id="25" name="Text 23"/>
          <p:cNvSpPr txBox="1"/>
          <p:nvPr/>
        </p:nvSpPr>
        <p:spPr>
          <a:xfrm>
            <a:off x="566928" y="4809744"/>
            <a:ext cx="475488"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6" name="Text 24"/>
          <p:cNvSpPr txBox="1"/>
          <p:nvPr/>
        </p:nvSpPr>
        <p:spPr>
          <a:xfrm>
            <a:off x="1243584" y="4718304"/>
            <a:ext cx="3108960" cy="329184"/>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Observer</a:t>
            </a:r>
            <a:pPr indent="0" marL="0">
              <a:buNone/>
            </a:pPr>
            <a:r>
              <a:rPr lang="en-US" sz="1250" i="1" dirty="0">
                <a:solidFill>
                  <a:srgbClr val="16A34A"/>
                </a:solidFill>
                <a:latin typeface="Arial" pitchFamily="34" charset="0"/>
                <a:ea typeface="Arial" pitchFamily="34" charset="-122"/>
                <a:cs typeface="Arial" pitchFamily="34" charset="-120"/>
              </a:rPr>
              <a:t>   the second accountant</a:t>
            </a:r>
            <a:endParaRPr lang="en-US" sz="1600" dirty="0"/>
          </a:p>
        </p:txBody>
      </p:sp>
      <p:sp>
        <p:nvSpPr>
          <p:cNvPr id="27" name="Text 25"/>
          <p:cNvSpPr txBox="1"/>
          <p:nvPr/>
        </p:nvSpPr>
        <p:spPr>
          <a:xfrm>
            <a:off x="4224528" y="4672584"/>
            <a:ext cx="7406640" cy="65836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Recomputes from raw accounts through independent RPCs. A divergence of even one unit alerts and halts the mirror API.</a:t>
            </a:r>
            <a:endParaRPr lang="en-US" sz="1200" dirty="0"/>
          </a:p>
        </p:txBody>
      </p:sp>
      <p:sp>
        <p:nvSpPr>
          <p:cNvPr id="28" name="Shape 26"/>
          <p:cNvSpPr/>
          <p:nvPr/>
        </p:nvSpPr>
        <p:spPr>
          <a:xfrm>
            <a:off x="566928" y="5614416"/>
            <a:ext cx="11057839" cy="658368"/>
          </a:xfrm>
          <a:prstGeom prst="roundRect">
            <a:avLst>
              <a:gd name="adj" fmla="val 9722"/>
            </a:avLst>
          </a:prstGeom>
          <a:solidFill>
            <a:srgbClr val="F6F5FB"/>
          </a:solidFill>
          <a:ln w="12700">
            <a:solidFill>
              <a:srgbClr val="E2E0EC"/>
            </a:solidFill>
            <a:prstDash val="solid"/>
          </a:ln>
        </p:spPr>
      </p:sp>
      <p:sp>
        <p:nvSpPr>
          <p:cNvPr id="29" name="Text 27"/>
          <p:cNvSpPr txBox="1"/>
          <p:nvPr/>
        </p:nvSpPr>
        <p:spPr>
          <a:xfrm>
            <a:off x="841248" y="5779008"/>
            <a:ext cx="10509199" cy="365760"/>
          </a:xfrm>
          <a:prstGeom prst="rect">
            <a:avLst/>
          </a:prstGeom>
          <a:noFill/>
          <a:ln/>
        </p:spPr>
        <p:txBody>
          <a:bodyPr wrap="square" lIns="0" tIns="0" rIns="0" bIns="0" rtlCol="0" anchor="ctr"/>
          <a:lstStyle/>
          <a:p>
            <a:pPr indent="0" marL="0">
              <a:buNone/>
            </a:pPr>
            <a:r>
              <a:rPr lang="en-US" sz="1350" b="1" dirty="0">
                <a:solidFill>
                  <a:srgbClr val="0F172A"/>
                </a:solidFill>
                <a:latin typeface="Arial" pitchFamily="34" charset="0"/>
                <a:ea typeface="Arial" pitchFamily="34" charset="-122"/>
                <a:cs typeface="Arial" pitchFamily="34" charset="-120"/>
              </a:rPr>
              <a:t>The principle it all reduces to:  </a:t>
            </a:r>
            <a:pPr indent="0" marL="0">
              <a:buNone/>
            </a:pPr>
            <a:r>
              <a:rPr lang="en-US" sz="1350" dirty="0">
                <a:solidFill>
                  <a:srgbClr val="5B6478"/>
                </a:solidFill>
                <a:latin typeface="Arial" pitchFamily="34" charset="0"/>
                <a:ea typeface="Arial" pitchFamily="34" charset="-122"/>
                <a:cs typeface="Arial" pitchFamily="34" charset="-120"/>
              </a:rPr>
              <a:t>there is no point in the pipeline where a human or a hackable server chooses the number.</a:t>
            </a:r>
            <a:endParaRPr lang="en-US" sz="1350" dirty="0"/>
          </a:p>
        </p:txBody>
      </p:sp>
      <p:sp>
        <p:nvSpPr>
          <p:cNvPr id="30" name="Text 28"/>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MECHANICS</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One transaction, all reads from the same slot</a:t>
            </a:r>
            <a:endParaRPr lang="en-US" sz="3200" dirty="0"/>
          </a:p>
        </p:txBody>
      </p:sp>
      <p:sp>
        <p:nvSpPr>
          <p:cNvPr id="4" name="Shape 2"/>
          <p:cNvSpPr/>
          <p:nvPr/>
        </p:nvSpPr>
        <p:spPr>
          <a:xfrm>
            <a:off x="566928" y="1463040"/>
            <a:ext cx="2050633" cy="2286000"/>
          </a:xfrm>
          <a:prstGeom prst="roundRect">
            <a:avLst>
              <a:gd name="adj" fmla="val 312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5" name="Text 3"/>
          <p:cNvSpPr txBox="1"/>
          <p:nvPr/>
        </p:nvSpPr>
        <p:spPr>
          <a:xfrm>
            <a:off x="749808" y="1609344"/>
            <a:ext cx="731520" cy="457200"/>
          </a:xfrm>
          <a:prstGeom prst="rect">
            <a:avLst/>
          </a:prstGeom>
          <a:noFill/>
          <a:ln/>
        </p:spPr>
        <p:txBody>
          <a:bodyPr wrap="square" lIns="0" tIns="0" rIns="0" bIns="0" rtlCol="0" anchor="ctr"/>
          <a:lstStyle/>
          <a:p>
            <a:pPr indent="0" marL="0">
              <a:buNone/>
            </a:pPr>
            <a:r>
              <a:rPr lang="en-US" sz="3000" b="1" dirty="0">
                <a:solidFill>
                  <a:srgbClr val="C4B5FD"/>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749808" y="2103120"/>
            <a:ext cx="1684873"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Crank</a:t>
            </a:r>
            <a:endParaRPr lang="en-US" sz="1550" dirty="0"/>
          </a:p>
        </p:txBody>
      </p:sp>
      <p:sp>
        <p:nvSpPr>
          <p:cNvPr id="7" name="Text 5"/>
          <p:cNvSpPr txBox="1"/>
          <p:nvPr/>
        </p:nvSpPr>
        <p:spPr>
          <a:xfrm>
            <a:off x="749808" y="2432304"/>
            <a:ext cx="1684873" cy="1188720"/>
          </a:xfrm>
          <a:prstGeom prst="rect">
            <a:avLst/>
          </a:prstGeom>
          <a:noFill/>
          <a:ln/>
        </p:spPr>
        <p:txBody>
          <a:bodyPr wrap="square" lIns="0" tIns="0" rIns="0" bIns="0" rtlCol="0" anchor="ctr"/>
          <a:lstStyle/>
          <a:p>
            <a:pPr indent="0" marL="0">
              <a:lnSpc>
                <a:spcPts val="1500"/>
              </a:lnSpc>
              <a:buNone/>
            </a:pPr>
            <a:r>
              <a:rPr lang="en-US" sz="1100" dirty="0">
                <a:solidFill>
                  <a:srgbClr val="5B6478"/>
                </a:solidFill>
                <a:latin typeface="Arial" pitchFamily="34" charset="0"/>
                <a:ea typeface="Arial" pitchFamily="34" charset="-122"/>
                <a:cs typeface="Arial" pitchFamily="34" charset="-120"/>
              </a:rPr>
              <a:t>Anyone sends the refresh transaction, passing in Hylo's accounts, the stake pools, Pyth SOL/USD and the quote account.</a:t>
            </a:r>
            <a:endParaRPr lang="en-US" sz="1100" dirty="0"/>
          </a:p>
        </p:txBody>
      </p:sp>
      <p:sp>
        <p:nvSpPr>
          <p:cNvPr id="8" name="Text 6"/>
          <p:cNvSpPr txBox="1"/>
          <p:nvPr/>
        </p:nvSpPr>
        <p:spPr>
          <a:xfrm>
            <a:off x="2622133" y="2395728"/>
            <a:ext cx="192024" cy="274320"/>
          </a:xfrm>
          <a:prstGeom prst="rect">
            <a:avLst/>
          </a:prstGeom>
          <a:noFill/>
          <a:ln/>
        </p:spPr>
        <p:txBody>
          <a:bodyPr wrap="square" lIns="0" tIns="0" rIns="0" bIns="0" rtlCol="0" anchor="ctr"/>
          <a:lstStyle/>
          <a:p>
            <a:pPr algn="ctr" indent="0" marL="0">
              <a:buNone/>
            </a:pPr>
            <a:r>
              <a:rPr lang="en-US" sz="1500" b="1" dirty="0">
                <a:solidFill>
                  <a:srgbClr val="C4B5FD"/>
                </a:solidFill>
                <a:latin typeface="Arial" pitchFamily="34" charset="0"/>
                <a:ea typeface="Arial" pitchFamily="34" charset="-122"/>
                <a:cs typeface="Arial" pitchFamily="34" charset="-120"/>
              </a:rPr>
              <a:t>→</a:t>
            </a:r>
            <a:endParaRPr lang="en-US" sz="1500" dirty="0"/>
          </a:p>
        </p:txBody>
      </p:sp>
      <p:sp>
        <p:nvSpPr>
          <p:cNvPr id="9" name="Shape 7"/>
          <p:cNvSpPr/>
          <p:nvPr/>
        </p:nvSpPr>
        <p:spPr>
          <a:xfrm>
            <a:off x="2818729" y="1463040"/>
            <a:ext cx="2050633" cy="2286000"/>
          </a:xfrm>
          <a:prstGeom prst="roundRect">
            <a:avLst>
              <a:gd name="adj" fmla="val 312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0" name="Text 8"/>
          <p:cNvSpPr txBox="1"/>
          <p:nvPr/>
        </p:nvSpPr>
        <p:spPr>
          <a:xfrm>
            <a:off x="3001609" y="1609344"/>
            <a:ext cx="731520" cy="457200"/>
          </a:xfrm>
          <a:prstGeom prst="rect">
            <a:avLst/>
          </a:prstGeom>
          <a:noFill/>
          <a:ln/>
        </p:spPr>
        <p:txBody>
          <a:bodyPr wrap="square" lIns="0" tIns="0" rIns="0" bIns="0" rtlCol="0" anchor="ctr"/>
          <a:lstStyle/>
          <a:p>
            <a:pPr indent="0" marL="0">
              <a:buNone/>
            </a:pPr>
            <a:r>
              <a:rPr lang="en-US" sz="3000" b="1" dirty="0">
                <a:solidFill>
                  <a:srgbClr val="C4B5FD"/>
                </a:solidFill>
                <a:latin typeface="Arial" pitchFamily="34" charset="0"/>
                <a:ea typeface="Arial" pitchFamily="34" charset="-122"/>
                <a:cs typeface="Arial" pitchFamily="34" charset="-120"/>
              </a:rPr>
              <a:t>2</a:t>
            </a:r>
            <a:endParaRPr lang="en-US" sz="3000" dirty="0"/>
          </a:p>
        </p:txBody>
      </p:sp>
      <p:sp>
        <p:nvSpPr>
          <p:cNvPr id="11" name="Text 9"/>
          <p:cNvSpPr txBox="1"/>
          <p:nvPr/>
        </p:nvSpPr>
        <p:spPr>
          <a:xfrm>
            <a:off x="3001609" y="2103120"/>
            <a:ext cx="1684873"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Verify</a:t>
            </a:r>
            <a:endParaRPr lang="en-US" sz="1550" dirty="0"/>
          </a:p>
        </p:txBody>
      </p:sp>
      <p:sp>
        <p:nvSpPr>
          <p:cNvPr id="12" name="Text 10"/>
          <p:cNvSpPr txBox="1"/>
          <p:nvPr/>
        </p:nvSpPr>
        <p:spPr>
          <a:xfrm>
            <a:off x="3001609" y="2432304"/>
            <a:ext cx="1684873" cy="1188720"/>
          </a:xfrm>
          <a:prstGeom prst="rect">
            <a:avLst/>
          </a:prstGeom>
          <a:noFill/>
          <a:ln/>
        </p:spPr>
        <p:txBody>
          <a:bodyPr wrap="square" lIns="0" tIns="0" rIns="0" bIns="0" rtlCol="0" anchor="ctr"/>
          <a:lstStyle/>
          <a:p>
            <a:pPr indent="0" marL="0">
              <a:lnSpc>
                <a:spcPts val="1500"/>
              </a:lnSpc>
              <a:buNone/>
            </a:pPr>
            <a:r>
              <a:rPr lang="en-US" sz="1100" dirty="0">
                <a:solidFill>
                  <a:srgbClr val="5B6478"/>
                </a:solidFill>
                <a:latin typeface="Arial" pitchFamily="34" charset="0"/>
                <a:ea typeface="Arial" pitchFamily="34" charset="-122"/>
                <a:cs typeface="Arial" pitchFamily="34" charset="-120"/>
              </a:rPr>
              <a:t>Owner, PDA re-derivation, mint allowlist, Pyth program + feed ID — for every account. Any mismatch aborts with no write.</a:t>
            </a:r>
            <a:endParaRPr lang="en-US" sz="1100" dirty="0"/>
          </a:p>
        </p:txBody>
      </p:sp>
      <p:sp>
        <p:nvSpPr>
          <p:cNvPr id="13" name="Text 11"/>
          <p:cNvSpPr txBox="1"/>
          <p:nvPr/>
        </p:nvSpPr>
        <p:spPr>
          <a:xfrm>
            <a:off x="4873935" y="2395728"/>
            <a:ext cx="192024" cy="274320"/>
          </a:xfrm>
          <a:prstGeom prst="rect">
            <a:avLst/>
          </a:prstGeom>
          <a:noFill/>
          <a:ln/>
        </p:spPr>
        <p:txBody>
          <a:bodyPr wrap="square" lIns="0" tIns="0" rIns="0" bIns="0" rtlCol="0" anchor="ctr"/>
          <a:lstStyle/>
          <a:p>
            <a:pPr algn="ctr" indent="0" marL="0">
              <a:buNone/>
            </a:pPr>
            <a:r>
              <a:rPr lang="en-US" sz="1500" b="1" dirty="0">
                <a:solidFill>
                  <a:srgbClr val="C4B5FD"/>
                </a:solidFill>
                <a:latin typeface="Arial" pitchFamily="34" charset="0"/>
                <a:ea typeface="Arial" pitchFamily="34" charset="-122"/>
                <a:cs typeface="Arial" pitchFamily="34" charset="-120"/>
              </a:rPr>
              <a:t>→</a:t>
            </a:r>
            <a:endParaRPr lang="en-US" sz="1500" dirty="0"/>
          </a:p>
        </p:txBody>
      </p:sp>
      <p:sp>
        <p:nvSpPr>
          <p:cNvPr id="14" name="Shape 12"/>
          <p:cNvSpPr/>
          <p:nvPr/>
        </p:nvSpPr>
        <p:spPr>
          <a:xfrm>
            <a:off x="5070531" y="1463040"/>
            <a:ext cx="2050633" cy="2286000"/>
          </a:xfrm>
          <a:prstGeom prst="roundRect">
            <a:avLst>
              <a:gd name="adj" fmla="val 312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5" name="Text 13"/>
          <p:cNvSpPr txBox="1"/>
          <p:nvPr/>
        </p:nvSpPr>
        <p:spPr>
          <a:xfrm>
            <a:off x="5253411" y="1609344"/>
            <a:ext cx="731520" cy="457200"/>
          </a:xfrm>
          <a:prstGeom prst="rect">
            <a:avLst/>
          </a:prstGeom>
          <a:noFill/>
          <a:ln/>
        </p:spPr>
        <p:txBody>
          <a:bodyPr wrap="square" lIns="0" tIns="0" rIns="0" bIns="0" rtlCol="0" anchor="ctr"/>
          <a:lstStyle/>
          <a:p>
            <a:pPr indent="0" marL="0">
              <a:buNone/>
            </a:pPr>
            <a:r>
              <a:rPr lang="en-US" sz="3000" b="1" dirty="0">
                <a:solidFill>
                  <a:srgbClr val="C4B5FD"/>
                </a:solidFill>
                <a:latin typeface="Arial" pitchFamily="34" charset="0"/>
                <a:ea typeface="Arial" pitchFamily="34" charset="-122"/>
                <a:cs typeface="Arial" pitchFamily="34" charset="-120"/>
              </a:rPr>
              <a:t>3</a:t>
            </a:r>
            <a:endParaRPr lang="en-US" sz="3000" dirty="0"/>
          </a:p>
        </p:txBody>
      </p:sp>
      <p:sp>
        <p:nvSpPr>
          <p:cNvPr id="16" name="Text 14"/>
          <p:cNvSpPr txBox="1"/>
          <p:nvPr/>
        </p:nvSpPr>
        <p:spPr>
          <a:xfrm>
            <a:off x="5253411" y="2103120"/>
            <a:ext cx="1684873"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Compute</a:t>
            </a:r>
            <a:endParaRPr lang="en-US" sz="1550" dirty="0"/>
          </a:p>
        </p:txBody>
      </p:sp>
      <p:sp>
        <p:nvSpPr>
          <p:cNvPr id="17" name="Text 15"/>
          <p:cNvSpPr txBox="1"/>
          <p:nvPr/>
        </p:nvSpPr>
        <p:spPr>
          <a:xfrm>
            <a:off x="5253411" y="2432304"/>
            <a:ext cx="1684873" cy="1188720"/>
          </a:xfrm>
          <a:prstGeom prst="rect">
            <a:avLst/>
          </a:prstGeom>
          <a:noFill/>
          <a:ln/>
        </p:spPr>
        <p:txBody>
          <a:bodyPr wrap="square" lIns="0" tIns="0" rIns="0" bIns="0" rtlCol="0" anchor="ctr"/>
          <a:lstStyle/>
          <a:p>
            <a:pPr indent="0" marL="0">
              <a:lnSpc>
                <a:spcPts val="1500"/>
              </a:lnSpc>
              <a:buNone/>
            </a:pPr>
            <a:r>
              <a:rPr lang="en-US" sz="1100" dirty="0">
                <a:solidFill>
                  <a:srgbClr val="5B6478"/>
                </a:solidFill>
                <a:latin typeface="Arial" pitchFamily="34" charset="0"/>
                <a:ea typeface="Arial" pitchFamily="34" charset="-122"/>
                <a:cs typeface="Arial" pitchFamily="34" charset="-120"/>
              </a:rPr>
              <a:t>hylo-core at a pinned SHA. Integer only. Pyth's confidence interval becomes the lower and upper bounds.</a:t>
            </a:r>
            <a:endParaRPr lang="en-US" sz="1100" dirty="0"/>
          </a:p>
        </p:txBody>
      </p:sp>
      <p:sp>
        <p:nvSpPr>
          <p:cNvPr id="18" name="Text 16"/>
          <p:cNvSpPr txBox="1"/>
          <p:nvPr/>
        </p:nvSpPr>
        <p:spPr>
          <a:xfrm>
            <a:off x="7125736" y="2395728"/>
            <a:ext cx="192024" cy="274320"/>
          </a:xfrm>
          <a:prstGeom prst="rect">
            <a:avLst/>
          </a:prstGeom>
          <a:noFill/>
          <a:ln/>
        </p:spPr>
        <p:txBody>
          <a:bodyPr wrap="square" lIns="0" tIns="0" rIns="0" bIns="0" rtlCol="0" anchor="ctr"/>
          <a:lstStyle/>
          <a:p>
            <a:pPr algn="ctr" indent="0" marL="0">
              <a:buNone/>
            </a:pPr>
            <a:r>
              <a:rPr lang="en-US" sz="1500" b="1" dirty="0">
                <a:solidFill>
                  <a:srgbClr val="C4B5FD"/>
                </a:solidFill>
                <a:latin typeface="Arial" pitchFamily="34" charset="0"/>
                <a:ea typeface="Arial" pitchFamily="34" charset="-122"/>
                <a:cs typeface="Arial" pitchFamily="34" charset="-120"/>
              </a:rPr>
              <a:t>→</a:t>
            </a:r>
            <a:endParaRPr lang="en-US" sz="1500" dirty="0"/>
          </a:p>
        </p:txBody>
      </p:sp>
      <p:sp>
        <p:nvSpPr>
          <p:cNvPr id="19" name="Shape 17"/>
          <p:cNvSpPr/>
          <p:nvPr/>
        </p:nvSpPr>
        <p:spPr>
          <a:xfrm>
            <a:off x="7322332" y="1463040"/>
            <a:ext cx="2050633" cy="2286000"/>
          </a:xfrm>
          <a:prstGeom prst="roundRect">
            <a:avLst>
              <a:gd name="adj" fmla="val 312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20" name="Text 18"/>
          <p:cNvSpPr txBox="1"/>
          <p:nvPr/>
        </p:nvSpPr>
        <p:spPr>
          <a:xfrm>
            <a:off x="7505212" y="1609344"/>
            <a:ext cx="731520" cy="457200"/>
          </a:xfrm>
          <a:prstGeom prst="rect">
            <a:avLst/>
          </a:prstGeom>
          <a:noFill/>
          <a:ln/>
        </p:spPr>
        <p:txBody>
          <a:bodyPr wrap="square" lIns="0" tIns="0" rIns="0" bIns="0" rtlCol="0" anchor="ctr"/>
          <a:lstStyle/>
          <a:p>
            <a:pPr indent="0" marL="0">
              <a:buNone/>
            </a:pPr>
            <a:r>
              <a:rPr lang="en-US" sz="3000" b="1" dirty="0">
                <a:solidFill>
                  <a:srgbClr val="C4B5FD"/>
                </a:solidFill>
                <a:latin typeface="Arial" pitchFamily="34" charset="0"/>
                <a:ea typeface="Arial" pitchFamily="34" charset="-122"/>
                <a:cs typeface="Arial" pitchFamily="34" charset="-120"/>
              </a:rPr>
              <a:t>4</a:t>
            </a:r>
            <a:endParaRPr lang="en-US" sz="3000" dirty="0"/>
          </a:p>
        </p:txBody>
      </p:sp>
      <p:sp>
        <p:nvSpPr>
          <p:cNvPr id="21" name="Text 19"/>
          <p:cNvSpPr txBox="1"/>
          <p:nvPr/>
        </p:nvSpPr>
        <p:spPr>
          <a:xfrm>
            <a:off x="7505212" y="2103120"/>
            <a:ext cx="1684873"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Authorise</a:t>
            </a:r>
            <a:endParaRPr lang="en-US" sz="1550" dirty="0"/>
          </a:p>
        </p:txBody>
      </p:sp>
      <p:sp>
        <p:nvSpPr>
          <p:cNvPr id="22" name="Text 20"/>
          <p:cNvSpPr txBox="1"/>
          <p:nvPr/>
        </p:nvSpPr>
        <p:spPr>
          <a:xfrm>
            <a:off x="7505212" y="2432304"/>
            <a:ext cx="1684873" cy="1188720"/>
          </a:xfrm>
          <a:prstGeom prst="rect">
            <a:avLst/>
          </a:prstGeom>
          <a:noFill/>
          <a:ln/>
        </p:spPr>
        <p:txBody>
          <a:bodyPr wrap="square" lIns="0" tIns="0" rIns="0" bIns="0" rtlCol="0" anchor="ctr"/>
          <a:lstStyle/>
          <a:p>
            <a:pPr indent="0" marL="0">
              <a:lnSpc>
                <a:spcPts val="1500"/>
              </a:lnSpc>
              <a:buNone/>
            </a:pPr>
            <a:r>
              <a:rPr lang="en-US" sz="1100" dirty="0">
                <a:solidFill>
                  <a:srgbClr val="5B6478"/>
                </a:solidFill>
                <a:latin typeface="Arial" pitchFamily="34" charset="0"/>
                <a:ea typeface="Arial" pitchFamily="34" charset="-122"/>
                <a:cs typeface="Arial" pitchFamily="34" charset="-120"/>
              </a:rPr>
              <a:t>CPI into svi-core, signed by the adapter's PDA. That signature is the entire security model.</a:t>
            </a:r>
            <a:endParaRPr lang="en-US" sz="1100" dirty="0"/>
          </a:p>
        </p:txBody>
      </p:sp>
      <p:sp>
        <p:nvSpPr>
          <p:cNvPr id="23" name="Text 21"/>
          <p:cNvSpPr txBox="1"/>
          <p:nvPr/>
        </p:nvSpPr>
        <p:spPr>
          <a:xfrm>
            <a:off x="9377538" y="2395728"/>
            <a:ext cx="192024" cy="274320"/>
          </a:xfrm>
          <a:prstGeom prst="rect">
            <a:avLst/>
          </a:prstGeom>
          <a:noFill/>
          <a:ln/>
        </p:spPr>
        <p:txBody>
          <a:bodyPr wrap="square" lIns="0" tIns="0" rIns="0" bIns="0" rtlCol="0" anchor="ctr"/>
          <a:lstStyle/>
          <a:p>
            <a:pPr algn="ctr" indent="0" marL="0">
              <a:buNone/>
            </a:pPr>
            <a:r>
              <a:rPr lang="en-US" sz="1500" b="1" dirty="0">
                <a:solidFill>
                  <a:srgbClr val="C4B5FD"/>
                </a:solidFill>
                <a:latin typeface="Arial" pitchFamily="34" charset="0"/>
                <a:ea typeface="Arial" pitchFamily="34" charset="-122"/>
                <a:cs typeface="Arial" pitchFamily="34" charset="-120"/>
              </a:rPr>
              <a:t>→</a:t>
            </a:r>
            <a:endParaRPr lang="en-US" sz="1500" dirty="0"/>
          </a:p>
        </p:txBody>
      </p:sp>
      <p:sp>
        <p:nvSpPr>
          <p:cNvPr id="24" name="Shape 22"/>
          <p:cNvSpPr/>
          <p:nvPr/>
        </p:nvSpPr>
        <p:spPr>
          <a:xfrm>
            <a:off x="9574134" y="1463040"/>
            <a:ext cx="2050633" cy="2286000"/>
          </a:xfrm>
          <a:prstGeom prst="roundRect">
            <a:avLst>
              <a:gd name="adj" fmla="val 312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25" name="Text 23"/>
          <p:cNvSpPr txBox="1"/>
          <p:nvPr/>
        </p:nvSpPr>
        <p:spPr>
          <a:xfrm>
            <a:off x="9757014" y="1609344"/>
            <a:ext cx="731520" cy="457200"/>
          </a:xfrm>
          <a:prstGeom prst="rect">
            <a:avLst/>
          </a:prstGeom>
          <a:noFill/>
          <a:ln/>
        </p:spPr>
        <p:txBody>
          <a:bodyPr wrap="square" lIns="0" tIns="0" rIns="0" bIns="0" rtlCol="0" anchor="ctr"/>
          <a:lstStyle/>
          <a:p>
            <a:pPr indent="0" marL="0">
              <a:buNone/>
            </a:pPr>
            <a:r>
              <a:rPr lang="en-US" sz="3000" b="1" dirty="0">
                <a:solidFill>
                  <a:srgbClr val="C4B5FD"/>
                </a:solidFill>
                <a:latin typeface="Arial" pitchFamily="34" charset="0"/>
                <a:ea typeface="Arial" pitchFamily="34" charset="-122"/>
                <a:cs typeface="Arial" pitchFamily="34" charset="-120"/>
              </a:rPr>
              <a:t>5</a:t>
            </a:r>
            <a:endParaRPr lang="en-US" sz="3000" dirty="0"/>
          </a:p>
        </p:txBody>
      </p:sp>
      <p:sp>
        <p:nvSpPr>
          <p:cNvPr id="26" name="Text 24"/>
          <p:cNvSpPr txBox="1"/>
          <p:nvPr/>
        </p:nvSpPr>
        <p:spPr>
          <a:xfrm>
            <a:off x="9757014" y="2103120"/>
            <a:ext cx="1684873"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Publish</a:t>
            </a:r>
            <a:endParaRPr lang="en-US" sz="1550" dirty="0"/>
          </a:p>
        </p:txBody>
      </p:sp>
      <p:sp>
        <p:nvSpPr>
          <p:cNvPr id="27" name="Text 25"/>
          <p:cNvSpPr txBox="1"/>
          <p:nvPr/>
        </p:nvSpPr>
        <p:spPr>
          <a:xfrm>
            <a:off x="9757014" y="2432304"/>
            <a:ext cx="1684873" cy="1188720"/>
          </a:xfrm>
          <a:prstGeom prst="rect">
            <a:avLst/>
          </a:prstGeom>
          <a:noFill/>
          <a:ln/>
        </p:spPr>
        <p:txBody>
          <a:bodyPr wrap="square" lIns="0" tIns="0" rIns="0" bIns="0" rtlCol="0" anchor="ctr"/>
          <a:lstStyle/>
          <a:p>
            <a:pPr indent="0" marL="0">
              <a:lnSpc>
                <a:spcPts val="1500"/>
              </a:lnSpc>
              <a:buNone/>
            </a:pPr>
            <a:r>
              <a:rPr lang="en-US" sz="1100" dirty="0">
                <a:solidFill>
                  <a:srgbClr val="5B6478"/>
                </a:solidFill>
                <a:latin typeface="Arial" pitchFamily="34" charset="0"/>
                <a:ea typeface="Arial" pitchFamily="34" charset="-122"/>
                <a:cs typeface="Arial" pitchFamily="34" charset="-120"/>
              </a:rPr>
              <a:t>Core checks the rules, writes the quote, increments the sequence, emits QuotePublished.</a:t>
            </a:r>
            <a:endParaRPr lang="en-US" sz="1100" dirty="0"/>
          </a:p>
        </p:txBody>
      </p:sp>
      <p:sp>
        <p:nvSpPr>
          <p:cNvPr id="28" name="Shape 26"/>
          <p:cNvSpPr/>
          <p:nvPr/>
        </p:nvSpPr>
        <p:spPr>
          <a:xfrm>
            <a:off x="566928" y="3968496"/>
            <a:ext cx="5431536" cy="2084832"/>
          </a:xfrm>
          <a:prstGeom prst="roundRect">
            <a:avLst>
              <a:gd name="adj" fmla="val 3070"/>
            </a:avLst>
          </a:prstGeom>
          <a:solidFill>
            <a:srgbClr val="EAF7EF"/>
          </a:solidFill>
          <a:ln w="12700">
            <a:solidFill>
              <a:srgbClr val="BFE3CC"/>
            </a:solidFill>
            <a:prstDash val="solid"/>
          </a:ln>
        </p:spPr>
      </p:sp>
      <p:sp>
        <p:nvSpPr>
          <p:cNvPr id="29" name="Text 27"/>
          <p:cNvSpPr txBox="1"/>
          <p:nvPr/>
        </p:nvSpPr>
        <p:spPr>
          <a:xfrm>
            <a:off x="841248" y="4169664"/>
            <a:ext cx="4882896" cy="310896"/>
          </a:xfrm>
          <a:prstGeom prst="rect">
            <a:avLst/>
          </a:prstGeom>
          <a:noFill/>
          <a:ln/>
        </p:spPr>
        <p:txBody>
          <a:bodyPr wrap="square" lIns="0" tIns="0" rIns="0" bIns="0" rtlCol="0" anchor="ctr"/>
          <a:lstStyle/>
          <a:p>
            <a:pPr indent="0" marL="0">
              <a:buNone/>
            </a:pPr>
            <a:r>
              <a:rPr lang="en-US" sz="1600" b="1" dirty="0">
                <a:solidFill>
                  <a:srgbClr val="16A34A"/>
                </a:solidFill>
                <a:latin typeface="Arial" pitchFamily="34" charset="0"/>
                <a:ea typeface="Arial" pitchFamily="34" charset="-122"/>
                <a:cs typeface="Arial" pitchFamily="34" charset="-120"/>
              </a:rPr>
              <a:t>Permissionless, yet uninfluenceable</a:t>
            </a:r>
            <a:endParaRPr lang="en-US" sz="1600" dirty="0"/>
          </a:p>
        </p:txBody>
      </p:sp>
      <p:sp>
        <p:nvSpPr>
          <p:cNvPr id="30" name="Text 28"/>
          <p:cNvSpPr txBox="1"/>
          <p:nvPr/>
        </p:nvSpPr>
        <p:spPr>
          <a:xfrm>
            <a:off x="841248" y="4535424"/>
            <a:ext cx="4882896" cy="1371600"/>
          </a:xfrm>
          <a:prstGeom prst="rect">
            <a:avLst/>
          </a:prstGeom>
          <a:noFill/>
          <a:ln/>
        </p:spPr>
        <p:txBody>
          <a:bodyPr wrap="square" lIns="0" tIns="0" rIns="0" bIns="0" rtlCol="0" anchor="ctr"/>
          <a:lstStyle/>
          <a:p>
            <a:pPr indent="0" marL="0">
              <a:lnSpc>
                <a:spcPts val="1700"/>
              </a:lnSpc>
              <a:buNone/>
            </a:pPr>
            <a:r>
              <a:rPr lang="en-US" sz="1250" dirty="0">
                <a:solidFill>
                  <a:srgbClr val="0F172A"/>
                </a:solidFill>
                <a:latin typeface="Arial" pitchFamily="34" charset="0"/>
                <a:ea typeface="Arial" pitchFamily="34" charset="-122"/>
                <a:cs typeface="Arial" pitchFamily="34" charset="-120"/>
              </a:rPr>
              <a:t>Anyone can send this transaction. Nobody can change what it writes — the value is computed by adapter code from verified accounts, and only the adapter's PDA can authorise the write. The keeper is paying for gas. If our bot dies, anyone else's bot cranks it.</a:t>
            </a:r>
            <a:endParaRPr lang="en-US" sz="1250" dirty="0"/>
          </a:p>
        </p:txBody>
      </p:sp>
      <p:sp>
        <p:nvSpPr>
          <p:cNvPr id="31" name="Shape 29"/>
          <p:cNvSpPr/>
          <p:nvPr/>
        </p:nvSpPr>
        <p:spPr>
          <a:xfrm>
            <a:off x="6199632" y="3968496"/>
            <a:ext cx="5431536" cy="2084832"/>
          </a:xfrm>
          <a:prstGeom prst="roundRect">
            <a:avLst>
              <a:gd name="adj" fmla="val 3070"/>
            </a:avLst>
          </a:prstGeom>
          <a:solidFill>
            <a:srgbClr val="FEF3C7"/>
          </a:solidFill>
          <a:ln w="12700">
            <a:solidFill>
              <a:srgbClr val="F0D9A0"/>
            </a:solidFill>
            <a:prstDash val="solid"/>
          </a:ln>
        </p:spPr>
      </p:sp>
      <p:sp>
        <p:nvSpPr>
          <p:cNvPr id="32" name="Text 30"/>
          <p:cNvSpPr txBox="1"/>
          <p:nvPr/>
        </p:nvSpPr>
        <p:spPr>
          <a:xfrm>
            <a:off x="6473952" y="4169664"/>
            <a:ext cx="4882896" cy="310896"/>
          </a:xfrm>
          <a:prstGeom prst="rect">
            <a:avLst/>
          </a:prstGeom>
          <a:noFill/>
          <a:ln/>
        </p:spPr>
        <p:txBody>
          <a:bodyPr wrap="square" lIns="0" tIns="0" rIns="0" bIns="0" rtlCol="0" anchor="ctr"/>
          <a:lstStyle/>
          <a:p>
            <a:pPr indent="0" marL="0">
              <a:buNone/>
            </a:pPr>
            <a:r>
              <a:rPr lang="en-US" sz="1600" b="1" dirty="0">
                <a:solidFill>
                  <a:srgbClr val="D97706"/>
                </a:solidFill>
                <a:latin typeface="Arial" pitchFamily="34" charset="0"/>
                <a:ea typeface="Arial" pitchFamily="34" charset="-122"/>
                <a:cs typeface="Arial" pitchFamily="34" charset="-120"/>
              </a:rPr>
              <a:t>Epoch boundaries, handled</a:t>
            </a:r>
            <a:endParaRPr lang="en-US" sz="1600" dirty="0"/>
          </a:p>
        </p:txBody>
      </p:sp>
      <p:sp>
        <p:nvSpPr>
          <p:cNvPr id="33" name="Text 31"/>
          <p:cNvSpPr txBox="1"/>
          <p:nvPr/>
        </p:nvSpPr>
        <p:spPr>
          <a:xfrm>
            <a:off x="6473952" y="4535424"/>
            <a:ext cx="4882896" cy="1371600"/>
          </a:xfrm>
          <a:prstGeom prst="rect">
            <a:avLst/>
          </a:prstGeom>
          <a:noFill/>
          <a:ln/>
        </p:spPr>
        <p:txBody>
          <a:bodyPr wrap="square" lIns="0" tIns="0" rIns="0" bIns="0" rtlCol="0" anchor="ctr"/>
          <a:lstStyle/>
          <a:p>
            <a:pPr indent="0" marL="0">
              <a:lnSpc>
                <a:spcPts val="1700"/>
              </a:lnSpc>
              <a:buNone/>
            </a:pPr>
            <a:r>
              <a:rPr lang="en-US" sz="1250" dirty="0">
                <a:solidFill>
                  <a:srgbClr val="0F172A"/>
                </a:solidFill>
                <a:latin typeface="Arial" pitchFamily="34" charset="0"/>
                <a:ea typeface="Arial" pitchFamily="34" charset="-122"/>
                <a:cs typeface="Arial" pitchFamily="34" charset="-120"/>
              </a:rPr>
              <a:t>When TotalSolCache is an epoch behind, the refresh bundles Hylo's own update_lst_prices crank — permissionless, payer-only signer — then re-reads and proceeds, flagging EPOCH_BOUNDARY_CPI. If that CPI won't fit, we abort rather than publish a stale NAV.</a:t>
            </a:r>
            <a:endParaRPr lang="en-US" sz="1250" dirty="0"/>
          </a:p>
        </p:txBody>
      </p:sp>
      <p:sp>
        <p:nvSpPr>
          <p:cNvPr id="34" name="Text 32"/>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32B"/>
        </a:solidFill>
      </p:bgPr>
    </p:bg>
    <p:spTree>
      <p:nvGrpSpPr>
        <p:cNvPr id="1" name=""/>
        <p:cNvGrpSpPr/>
        <p:nvPr/>
      </p:nvGrpSpPr>
      <p:grpSpPr>
        <a:xfrm>
          <a:off x="0" y="0"/>
          <a:ext cx="0" cy="0"/>
          <a:chOff x="0" y="0"/>
          <a:chExt cx="0" cy="0"/>
        </a:xfrm>
      </p:grpSpPr>
      <p:sp>
        <p:nvSpPr>
          <p:cNvPr id="2" name="Text 0"/>
          <p:cNvSpPr txBox="1"/>
          <p:nvPr/>
        </p:nvSpPr>
        <p:spPr>
          <a:xfrm>
            <a:off x="566928" y="512064"/>
            <a:ext cx="11057839" cy="274320"/>
          </a:xfrm>
          <a:prstGeom prst="rect">
            <a:avLst/>
          </a:prstGeom>
          <a:noFill/>
          <a:ln/>
        </p:spPr>
        <p:txBody>
          <a:bodyPr wrap="square" lIns="0" tIns="0" rIns="0" bIns="0" rtlCol="0" anchor="ctr"/>
          <a:lstStyle/>
          <a:p>
            <a:pPr indent="0" marL="0">
              <a:buNone/>
            </a:pPr>
            <a:r>
              <a:rPr lang="en-US" sz="1200" b="1" spc="200" kern="0" dirty="0">
                <a:solidFill>
                  <a:srgbClr val="C4B5FD"/>
                </a:solidFill>
                <a:latin typeface="Arial" pitchFamily="34" charset="0"/>
                <a:ea typeface="Arial" pitchFamily="34" charset="-122"/>
                <a:cs typeface="Arial" pitchFamily="34" charset="-120"/>
              </a:rPr>
              <a:t>THE DESIGN RULE</a:t>
            </a:r>
            <a:endParaRPr lang="en-US" sz="1200" dirty="0"/>
          </a:p>
        </p:txBody>
      </p:sp>
      <p:sp>
        <p:nvSpPr>
          <p:cNvPr id="3" name="Text 1"/>
          <p:cNvSpPr txBox="1"/>
          <p:nvPr/>
        </p:nvSpPr>
        <p:spPr>
          <a:xfrm>
            <a:off x="566928" y="841248"/>
            <a:ext cx="11057839" cy="713232"/>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Fail stale, never fail wrong.</a:t>
            </a:r>
            <a:endParaRPr lang="en-US" sz="4000" dirty="0"/>
          </a:p>
        </p:txBody>
      </p:sp>
      <p:sp>
        <p:nvSpPr>
          <p:cNvPr id="4" name="Text 2"/>
          <p:cNvSpPr txBox="1"/>
          <p:nvPr/>
        </p:nvSpPr>
        <p:spPr>
          <a:xfrm>
            <a:off x="566928" y="1609344"/>
            <a:ext cx="9692640" cy="365760"/>
          </a:xfrm>
          <a:prstGeom prst="rect">
            <a:avLst/>
          </a:prstGeom>
          <a:noFill/>
          <a:ln/>
        </p:spPr>
        <p:txBody>
          <a:bodyPr wrap="square" lIns="0" tIns="0" rIns="0" bIns="0" rtlCol="0" anchor="ctr"/>
          <a:lstStyle/>
          <a:p>
            <a:pPr indent="0" marL="0">
              <a:buNone/>
            </a:pPr>
            <a:r>
              <a:rPr lang="en-US" sz="1450" dirty="0">
                <a:solidFill>
                  <a:srgbClr val="A79FD0"/>
                </a:solidFill>
                <a:latin typeface="Arial" pitchFamily="34" charset="0"/>
                <a:ea typeface="Arial" pitchFamily="34" charset="-122"/>
                <a:cs typeface="Arial" pitchFamily="34" charset="-120"/>
              </a:rPr>
              <a:t>No code path may publish a value computed from unvalidated inputs. A visibly-expired quote is always preferable to a plausible wrong one.</a:t>
            </a:r>
            <a:endParaRPr lang="en-US" sz="14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2139696"/>
          <a:ext cx="11057839" cy="914400"/>
        </p:xfrm>
        <a:graphic>
          <a:graphicData uri="http://schemas.openxmlformats.org/drawingml/2006/table">
            <a:tbl>
              <a:tblPr/>
              <a:tblGrid>
                <a:gridCol w="3383280"/>
                <a:gridCol w="3657600"/>
                <a:gridCol w="4016959"/>
              </a:tblGrid>
              <a:tr h="384048">
                <a:tc>
                  <a:txBody>
                    <a:bodyPr/>
                    <a:lstStyle/>
                    <a:p>
                      <a:pPr indent="0" marL="0">
                        <a:buNone/>
                      </a:pPr>
                      <a:r>
                        <a:rPr lang="en-US" sz="1150" b="1" dirty="0">
                          <a:solidFill>
                            <a:srgbClr val="FFFFFF"/>
                          </a:solidFill>
                          <a:latin typeface="Arial" pitchFamily="34" charset="0"/>
                          <a:ea typeface="Arial" pitchFamily="34" charset="-122"/>
                          <a:cs typeface="Arial" pitchFamily="34" charset="-120"/>
                        </a:rPr>
                        <a:t>Condition</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Behaviour</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What the consumer sees</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241E45"/>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Everything healthy</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Publish, sequence++</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Fresh quote, flags clear</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New epoch, LST crank not run</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Bundle Hylo's permissionless crank, then publish</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EPOCH_BOUNDARY_CPI set</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…and that CPI won't fit</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b="1" dirty="0">
                          <a:solidFill>
                            <a:srgbClr val="DC2626"/>
                          </a:solidFill>
                          <a:latin typeface="Arial" pitchFamily="34" charset="0"/>
                          <a:ea typeface="Arial" pitchFamily="34" charset="-122"/>
                          <a:cs typeface="Arial" pitchFamily="34" charset="-120"/>
                        </a:rPr>
                        <a:t>Abort — no write</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Quote ages past valid_until_slot</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CR &lt; 100% (Destabilized)</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b="1" dirty="0">
                          <a:solidFill>
                            <a:srgbClr val="D97706"/>
                          </a:solidFill>
                          <a:latin typeface="Arial" pitchFamily="34" charset="0"/>
                          <a:ea typeface="Arial" pitchFamily="34" charset="-122"/>
                          <a:cs typeface="Arial" pitchFamily="34" charset="-120"/>
                        </a:rPr>
                        <a:t>Publish 0 with halt flags</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DESTABILIZED — collateral value zero, not a dip to buy</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Pyth stale / wrong feed / out of Hylo's own tolerance</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b="1" dirty="0">
                          <a:solidFill>
                            <a:srgbClr val="DC2626"/>
                          </a:solidFill>
                          <a:latin typeface="Arial" pitchFamily="34" charset="0"/>
                          <a:ea typeface="Arial" pitchFamily="34" charset="-122"/>
                          <a:cs typeface="Arial" pitchFamily="34" charset="-120"/>
                        </a:rPr>
                        <a:t>Abort — no write</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Stale quote, expiry visible</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xSOL supply == 0</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NAV = exactly 1.000000000</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ZERO_SUPPLY_DEFAULT</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Target program upgraded (layout drift)</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b="1" dirty="0">
                          <a:solidFill>
                            <a:srgbClr val="DC2626"/>
                          </a:solidFill>
                          <a:latin typeface="Arial" pitchFamily="34" charset="0"/>
                          <a:ea typeface="Arial" pitchFamily="34" charset="-122"/>
                          <a:cs typeface="Arial" pitchFamily="34" charset="-120"/>
                        </a:rPr>
                        <a:t>Abort until reviewed</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Stale quote, expiry visible</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Observer disagrees with chain</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b="1" dirty="0">
                          <a:solidFill>
                            <a:srgbClr val="DC2626"/>
                          </a:solidFill>
                          <a:latin typeface="Arial" pitchFamily="34" charset="0"/>
                          <a:ea typeface="Arial" pitchFamily="34" charset="-122"/>
                          <a:cs typeface="Arial" pitchFamily="34" charset="-120"/>
                        </a:rPr>
                        <a:t>Alert + halt the mirror API</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Mirror stops; the account is still readable</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66928" y="6053328"/>
            <a:ext cx="11057839" cy="402336"/>
          </a:xfrm>
          <a:prstGeom prst="rect">
            <a:avLst/>
          </a:prstGeom>
          <a:noFill/>
          <a:ln/>
        </p:spPr>
        <p:txBody>
          <a:bodyPr wrap="square" lIns="0" tIns="0" rIns="0" bIns="0" rtlCol="0" anchor="ctr"/>
          <a:lstStyle/>
          <a:p>
            <a:pPr indent="0" marL="0">
              <a:buNone/>
            </a:pPr>
            <a:r>
              <a:rPr lang="en-US" sz="1250" i="1" dirty="0">
                <a:solidFill>
                  <a:srgbClr val="9F98C4"/>
                </a:solidFill>
                <a:latin typeface="Arial" pitchFamily="34" charset="0"/>
                <a:ea typeface="Arial" pitchFamily="34" charset="-122"/>
                <a:cs typeface="Arial" pitchFamily="34" charset="-120"/>
              </a:rPr>
              <a:t>SVI imposes no oracle tolerance of its own — it reads Hylo's on-chain OracleConfig fresh on every refresh, so the feed reflects exactly what the protocol itself would accept for a real redemption.</a:t>
            </a:r>
            <a:endParaRPr lang="en-US" sz="1250" dirty="0"/>
          </a:p>
        </p:txBody>
      </p:sp>
      <p:sp>
        <p:nvSpPr>
          <p:cNvPr id="7" name="Text 4"/>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6B6494"/>
                </a:solidFill>
                <a:latin typeface="Arial" pitchFamily="34" charset="0"/>
                <a:ea typeface="Arial" pitchFamily="34" charset="-122"/>
                <a:cs typeface="Arial"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INTEGRATION</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Three ways to consume it, one of them dominant</a:t>
            </a:r>
            <a:endParaRPr lang="en-US" sz="3200" dirty="0"/>
          </a:p>
        </p:txBody>
      </p:sp>
      <p:sp>
        <p:nvSpPr>
          <p:cNvPr id="4" name="Shape 2"/>
          <p:cNvSpPr/>
          <p:nvPr/>
        </p:nvSpPr>
        <p:spPr>
          <a:xfrm>
            <a:off x="566928" y="1426464"/>
            <a:ext cx="3503066" cy="4517136"/>
          </a:xfrm>
          <a:prstGeom prst="roundRect">
            <a:avLst>
              <a:gd name="adj" fmla="val 1827"/>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5" name="Shape 3"/>
          <p:cNvSpPr/>
          <p:nvPr/>
        </p:nvSpPr>
        <p:spPr>
          <a:xfrm>
            <a:off x="566928" y="1426464"/>
            <a:ext cx="3503066" cy="859536"/>
          </a:xfrm>
          <a:prstGeom prst="roundRect">
            <a:avLst>
              <a:gd name="adj" fmla="val 7447"/>
            </a:avLst>
          </a:prstGeom>
          <a:solidFill>
            <a:srgbClr val="E5EEFC"/>
          </a:solidFill>
          <a:ln/>
        </p:spPr>
      </p:sp>
      <p:sp>
        <p:nvSpPr>
          <p:cNvPr id="6" name="Shape 4"/>
          <p:cNvSpPr/>
          <p:nvPr/>
        </p:nvSpPr>
        <p:spPr>
          <a:xfrm>
            <a:off x="786384" y="1636776"/>
            <a:ext cx="438912" cy="438912"/>
          </a:xfrm>
          <a:prstGeom prst="ellipse">
            <a:avLst/>
          </a:prstGeom>
          <a:solidFill>
            <a:srgbClr val="2563EB"/>
          </a:solidFill>
          <a:ln/>
        </p:spPr>
      </p:sp>
      <p:sp>
        <p:nvSpPr>
          <p:cNvPr id="7" name="Text 5"/>
          <p:cNvSpPr txBox="1"/>
          <p:nvPr/>
        </p:nvSpPr>
        <p:spPr>
          <a:xfrm>
            <a:off x="786384" y="1700784"/>
            <a:ext cx="438912"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a:t>
            </a:r>
            <a:endParaRPr lang="en-US" sz="1700" dirty="0"/>
          </a:p>
        </p:txBody>
      </p:sp>
      <p:sp>
        <p:nvSpPr>
          <p:cNvPr id="8" name="Text 6"/>
          <p:cNvSpPr txBox="1"/>
          <p:nvPr/>
        </p:nvSpPr>
        <p:spPr>
          <a:xfrm>
            <a:off x="1335024" y="1627632"/>
            <a:ext cx="2542946"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Read the note</a:t>
            </a:r>
            <a:endParaRPr lang="en-US" sz="1550" dirty="0"/>
          </a:p>
        </p:txBody>
      </p:sp>
      <p:sp>
        <p:nvSpPr>
          <p:cNvPr id="9" name="Text 7"/>
          <p:cNvSpPr txBox="1"/>
          <p:nvPr/>
        </p:nvSpPr>
        <p:spPr>
          <a:xfrm>
            <a:off x="1335024" y="1920240"/>
            <a:ext cx="2542946" cy="237744"/>
          </a:xfrm>
          <a:prstGeom prst="rect">
            <a:avLst/>
          </a:prstGeom>
          <a:noFill/>
          <a:ln/>
        </p:spPr>
        <p:txBody>
          <a:bodyPr wrap="square" lIns="0" tIns="0" rIns="0" bIns="0" rtlCol="0" anchor="ctr"/>
          <a:lstStyle/>
          <a:p>
            <a:pPr indent="0" marL="0">
              <a:buNone/>
            </a:pPr>
            <a:r>
              <a:rPr lang="en-US" sz="1150" b="1" dirty="0">
                <a:solidFill>
                  <a:srgbClr val="2563EB"/>
                </a:solidFill>
                <a:latin typeface="Arial" pitchFamily="34" charset="0"/>
                <a:ea typeface="Arial" pitchFamily="34" charset="-122"/>
                <a:cs typeface="Arial" pitchFamily="34" charset="-120"/>
              </a:rPr>
              <a:t>99% of usage</a:t>
            </a:r>
            <a:endParaRPr lang="en-US" sz="1150" dirty="0"/>
          </a:p>
        </p:txBody>
      </p:sp>
      <p:sp>
        <p:nvSpPr>
          <p:cNvPr id="10" name="Text 8"/>
          <p:cNvSpPr txBox="1"/>
          <p:nvPr/>
        </p:nvSpPr>
        <p:spPr>
          <a:xfrm>
            <a:off x="822960" y="2468880"/>
            <a:ext cx="2991002" cy="210312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Pass the quote account into your own instruction</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Check valid_until_slot and status_flags</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Check value_type is what you onboarded</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Use the lower bound for collateral</a:t>
            </a:r>
            <a:endParaRPr lang="en-US" sz="1200" dirty="0"/>
          </a:p>
        </p:txBody>
      </p:sp>
      <p:sp>
        <p:nvSpPr>
          <p:cNvPr id="11" name="Shape 9"/>
          <p:cNvSpPr/>
          <p:nvPr/>
        </p:nvSpPr>
        <p:spPr>
          <a:xfrm>
            <a:off x="822960" y="4773168"/>
            <a:ext cx="2991002" cy="0"/>
          </a:xfrm>
          <a:prstGeom prst="line">
            <a:avLst/>
          </a:prstGeom>
          <a:noFill/>
          <a:ln w="12700">
            <a:solidFill>
              <a:srgbClr val="E2E0EC"/>
            </a:solidFill>
            <a:prstDash val="solid"/>
          </a:ln>
        </p:spPr>
      </p:sp>
      <p:sp>
        <p:nvSpPr>
          <p:cNvPr id="12" name="Text 10"/>
          <p:cNvSpPr txBox="1"/>
          <p:nvPr/>
        </p:nvSpPr>
        <p:spPr>
          <a:xfrm>
            <a:off x="822960" y="4882896"/>
            <a:ext cx="2991002" cy="914400"/>
          </a:xfrm>
          <a:prstGeom prst="rect">
            <a:avLst/>
          </a:prstGeom>
          <a:noFill/>
          <a:ln/>
        </p:spPr>
        <p:txBody>
          <a:bodyPr wrap="square" lIns="0" tIns="0" rIns="0" bIns="0" rtlCol="0" anchor="ctr"/>
          <a:lstStyle/>
          <a:p>
            <a:pPr indent="0" marL="0">
              <a:lnSpc>
                <a:spcPts val="1500"/>
              </a:lnSpc>
              <a:buNone/>
            </a:pPr>
            <a:r>
              <a:rPr lang="en-US" sz="1150" i="1" dirty="0">
                <a:solidFill>
                  <a:srgbClr val="5B6478"/>
                </a:solidFill>
                <a:latin typeface="Arial" pitchFamily="34" charset="0"/>
                <a:ea typeface="Arial" pitchFamily="34" charset="-122"/>
                <a:cs typeface="Arial" pitchFamily="34" charset="-120"/>
              </a:rPr>
              <a:t>One account read. Fixed 320-byte layout, asserted at compile time.</a:t>
            </a:r>
            <a:endParaRPr lang="en-US" sz="1150" dirty="0"/>
          </a:p>
        </p:txBody>
      </p:sp>
      <p:sp>
        <p:nvSpPr>
          <p:cNvPr id="13" name="Shape 11"/>
          <p:cNvSpPr/>
          <p:nvPr/>
        </p:nvSpPr>
        <p:spPr>
          <a:xfrm>
            <a:off x="4344314" y="1426464"/>
            <a:ext cx="3503066" cy="4517136"/>
          </a:xfrm>
          <a:prstGeom prst="roundRect">
            <a:avLst>
              <a:gd name="adj" fmla="val 1827"/>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4" name="Shape 12"/>
          <p:cNvSpPr/>
          <p:nvPr/>
        </p:nvSpPr>
        <p:spPr>
          <a:xfrm>
            <a:off x="4344314" y="1426464"/>
            <a:ext cx="3503066" cy="859536"/>
          </a:xfrm>
          <a:prstGeom prst="roundRect">
            <a:avLst>
              <a:gd name="adj" fmla="val 7447"/>
            </a:avLst>
          </a:prstGeom>
          <a:solidFill>
            <a:srgbClr val="EFE9FE"/>
          </a:solidFill>
          <a:ln/>
        </p:spPr>
      </p:sp>
      <p:sp>
        <p:nvSpPr>
          <p:cNvPr id="15" name="Shape 13"/>
          <p:cNvSpPr/>
          <p:nvPr/>
        </p:nvSpPr>
        <p:spPr>
          <a:xfrm>
            <a:off x="4563770" y="1636776"/>
            <a:ext cx="438912" cy="438912"/>
          </a:xfrm>
          <a:prstGeom prst="ellipse">
            <a:avLst/>
          </a:prstGeom>
          <a:solidFill>
            <a:srgbClr val="7C3AED"/>
          </a:solidFill>
          <a:ln/>
        </p:spPr>
      </p:sp>
      <p:sp>
        <p:nvSpPr>
          <p:cNvPr id="16" name="Text 14"/>
          <p:cNvSpPr txBox="1"/>
          <p:nvPr/>
        </p:nvSpPr>
        <p:spPr>
          <a:xfrm>
            <a:off x="4563770" y="1700784"/>
            <a:ext cx="438912"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B</a:t>
            </a:r>
            <a:endParaRPr lang="en-US" sz="1700" dirty="0"/>
          </a:p>
        </p:txBody>
      </p:sp>
      <p:sp>
        <p:nvSpPr>
          <p:cNvPr id="17" name="Text 15"/>
          <p:cNvSpPr txBox="1"/>
          <p:nvPr/>
        </p:nvSpPr>
        <p:spPr>
          <a:xfrm>
            <a:off x="5112410" y="1627632"/>
            <a:ext cx="2542946"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Call the calculator live</a:t>
            </a:r>
            <a:endParaRPr lang="en-US" sz="1550" dirty="0"/>
          </a:p>
        </p:txBody>
      </p:sp>
      <p:sp>
        <p:nvSpPr>
          <p:cNvPr id="18" name="Text 16"/>
          <p:cNvSpPr txBox="1"/>
          <p:nvPr/>
        </p:nvSpPr>
        <p:spPr>
          <a:xfrm>
            <a:off x="5112410" y="1920240"/>
            <a:ext cx="2542946" cy="237744"/>
          </a:xfrm>
          <a:prstGeom prst="rect">
            <a:avLst/>
          </a:prstGeom>
          <a:noFill/>
          <a:ln/>
        </p:spPr>
        <p:txBody>
          <a:bodyPr wrap="square" lIns="0" tIns="0" rIns="0" bIns="0" rtlCol="0" anchor="ctr"/>
          <a:lstStyle/>
          <a:p>
            <a:pPr indent="0" marL="0">
              <a:buNone/>
            </a:pPr>
            <a:r>
              <a:rPr lang="en-US" sz="1150" b="1" dirty="0">
                <a:solidFill>
                  <a:srgbClr val="7C3AED"/>
                </a:solidFill>
                <a:latin typeface="Arial" pitchFamily="34" charset="0"/>
                <a:ea typeface="Arial" pitchFamily="34" charset="-122"/>
                <a:cs typeface="Arial" pitchFamily="34" charset="-120"/>
              </a:rPr>
              <a:t>high-stakes only</a:t>
            </a:r>
            <a:endParaRPr lang="en-US" sz="1150" dirty="0"/>
          </a:p>
        </p:txBody>
      </p:sp>
      <p:sp>
        <p:nvSpPr>
          <p:cNvPr id="19" name="Text 17"/>
          <p:cNvSpPr txBox="1"/>
          <p:nvPr/>
        </p:nvSpPr>
        <p:spPr>
          <a:xfrm>
            <a:off x="4600346" y="2468880"/>
            <a:ext cx="2991002" cy="210312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Include the adapter's compute in your own transaction</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Value derived from this exact slot's state, atomically</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More accounts, more compute units</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Zero staleness</a:t>
            </a:r>
            <a:endParaRPr lang="en-US" sz="1200" dirty="0"/>
          </a:p>
        </p:txBody>
      </p:sp>
      <p:sp>
        <p:nvSpPr>
          <p:cNvPr id="20" name="Shape 18"/>
          <p:cNvSpPr/>
          <p:nvPr/>
        </p:nvSpPr>
        <p:spPr>
          <a:xfrm>
            <a:off x="4600346" y="4773168"/>
            <a:ext cx="2991002" cy="0"/>
          </a:xfrm>
          <a:prstGeom prst="line">
            <a:avLst/>
          </a:prstGeom>
          <a:noFill/>
          <a:ln w="12700">
            <a:solidFill>
              <a:srgbClr val="E2E0EC"/>
            </a:solidFill>
            <a:prstDash val="solid"/>
          </a:ln>
        </p:spPr>
      </p:sp>
      <p:sp>
        <p:nvSpPr>
          <p:cNvPr id="21" name="Text 19"/>
          <p:cNvSpPr txBox="1"/>
          <p:nvPr/>
        </p:nvSpPr>
        <p:spPr>
          <a:xfrm>
            <a:off x="4600346" y="4882896"/>
            <a:ext cx="2991002" cy="914400"/>
          </a:xfrm>
          <a:prstGeom prst="rect">
            <a:avLst/>
          </a:prstGeom>
          <a:noFill/>
          <a:ln/>
        </p:spPr>
        <p:txBody>
          <a:bodyPr wrap="square" lIns="0" tIns="0" rIns="0" bIns="0" rtlCol="0" anchor="ctr"/>
          <a:lstStyle/>
          <a:p>
            <a:pPr indent="0" marL="0">
              <a:lnSpc>
                <a:spcPts val="1500"/>
              </a:lnSpc>
              <a:buNone/>
            </a:pPr>
            <a:r>
              <a:rPr lang="en-US" sz="1150" i="1" dirty="0">
                <a:solidFill>
                  <a:srgbClr val="5B6478"/>
                </a:solidFill>
                <a:latin typeface="Arial" pitchFamily="34" charset="0"/>
                <a:ea typeface="Arial" pitchFamily="34" charset="-122"/>
                <a:cs typeface="Arial" pitchFamily="34" charset="-120"/>
              </a:rPr>
              <a:t>For liquidators who cannot accept a 60-second-old quote. Most integrators never need this.</a:t>
            </a:r>
            <a:endParaRPr lang="en-US" sz="1150" dirty="0"/>
          </a:p>
        </p:txBody>
      </p:sp>
      <p:sp>
        <p:nvSpPr>
          <p:cNvPr id="22" name="Shape 20"/>
          <p:cNvSpPr/>
          <p:nvPr/>
        </p:nvSpPr>
        <p:spPr>
          <a:xfrm>
            <a:off x="8121701" y="1426464"/>
            <a:ext cx="3503066" cy="4517136"/>
          </a:xfrm>
          <a:prstGeom prst="roundRect">
            <a:avLst>
              <a:gd name="adj" fmla="val 1827"/>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23" name="Shape 21"/>
          <p:cNvSpPr/>
          <p:nvPr/>
        </p:nvSpPr>
        <p:spPr>
          <a:xfrm>
            <a:off x="8121701" y="1426464"/>
            <a:ext cx="3503066" cy="859536"/>
          </a:xfrm>
          <a:prstGeom prst="roundRect">
            <a:avLst>
              <a:gd name="adj" fmla="val 7447"/>
            </a:avLst>
          </a:prstGeom>
          <a:solidFill>
            <a:srgbClr val="EAF7EF"/>
          </a:solidFill>
          <a:ln/>
        </p:spPr>
      </p:sp>
      <p:sp>
        <p:nvSpPr>
          <p:cNvPr id="24" name="Shape 22"/>
          <p:cNvSpPr/>
          <p:nvPr/>
        </p:nvSpPr>
        <p:spPr>
          <a:xfrm>
            <a:off x="8341157" y="1636776"/>
            <a:ext cx="438912" cy="438912"/>
          </a:xfrm>
          <a:prstGeom prst="ellipse">
            <a:avLst/>
          </a:prstGeom>
          <a:solidFill>
            <a:srgbClr val="16A34A"/>
          </a:solidFill>
          <a:ln/>
        </p:spPr>
      </p:sp>
      <p:sp>
        <p:nvSpPr>
          <p:cNvPr id="25" name="Text 23"/>
          <p:cNvSpPr txBox="1"/>
          <p:nvPr/>
        </p:nvSpPr>
        <p:spPr>
          <a:xfrm>
            <a:off x="8341157" y="1700784"/>
            <a:ext cx="438912"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C</a:t>
            </a:r>
            <a:endParaRPr lang="en-US" sz="1700" dirty="0"/>
          </a:p>
        </p:txBody>
      </p:sp>
      <p:sp>
        <p:nvSpPr>
          <p:cNvPr id="26" name="Text 24"/>
          <p:cNvSpPr txBox="1"/>
          <p:nvPr/>
        </p:nvSpPr>
        <p:spPr>
          <a:xfrm>
            <a:off x="8889797" y="1627632"/>
            <a:ext cx="2542946"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The verified mirror</a:t>
            </a:r>
            <a:endParaRPr lang="en-US" sz="1550" dirty="0"/>
          </a:p>
        </p:txBody>
      </p:sp>
      <p:sp>
        <p:nvSpPr>
          <p:cNvPr id="27" name="Text 25"/>
          <p:cNvSpPr txBox="1"/>
          <p:nvPr/>
        </p:nvSpPr>
        <p:spPr>
          <a:xfrm>
            <a:off x="8889797" y="1920240"/>
            <a:ext cx="2542946" cy="237744"/>
          </a:xfrm>
          <a:prstGeom prst="rect">
            <a:avLst/>
          </a:prstGeom>
          <a:noFill/>
          <a:ln/>
        </p:spPr>
        <p:txBody>
          <a:bodyPr wrap="square" lIns="0" tIns="0" rIns="0" bIns="0" rtlCol="0" anchor="ctr"/>
          <a:lstStyle/>
          <a:p>
            <a:pPr indent="0" marL="0">
              <a:buNone/>
            </a:pPr>
            <a:r>
              <a:rPr lang="en-US" sz="1150" b="1" dirty="0">
                <a:solidFill>
                  <a:srgbClr val="16A34A"/>
                </a:solidFill>
                <a:latin typeface="Arial" pitchFamily="34" charset="0"/>
                <a:ea typeface="Arial" pitchFamily="34" charset="-122"/>
                <a:cs typeface="Arial" pitchFamily="34" charset="-120"/>
              </a:rPr>
              <a:t>off-chain consumers</a:t>
            </a:r>
            <a:endParaRPr lang="en-US" sz="1150" dirty="0"/>
          </a:p>
        </p:txBody>
      </p:sp>
      <p:sp>
        <p:nvSpPr>
          <p:cNvPr id="28" name="Text 26"/>
          <p:cNvSpPr txBox="1"/>
          <p:nvPr/>
        </p:nvSpPr>
        <p:spPr>
          <a:xfrm>
            <a:off x="8377733" y="2468880"/>
            <a:ext cx="2991002" cy="210312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Fetch the account through two independent RPCs</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Require byte-for-byte agreement</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Decode and serve JSON with full provenance</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Serve an error when stale — never a last-known-good value</a:t>
            </a:r>
            <a:endParaRPr lang="en-US" sz="1200" dirty="0"/>
          </a:p>
        </p:txBody>
      </p:sp>
      <p:sp>
        <p:nvSpPr>
          <p:cNvPr id="29" name="Shape 27"/>
          <p:cNvSpPr/>
          <p:nvPr/>
        </p:nvSpPr>
        <p:spPr>
          <a:xfrm>
            <a:off x="8377733" y="4773168"/>
            <a:ext cx="2991002" cy="0"/>
          </a:xfrm>
          <a:prstGeom prst="line">
            <a:avLst/>
          </a:prstGeom>
          <a:noFill/>
          <a:ln w="12700">
            <a:solidFill>
              <a:srgbClr val="E2E0EC"/>
            </a:solidFill>
            <a:prstDash val="solid"/>
          </a:ln>
        </p:spPr>
      </p:sp>
      <p:sp>
        <p:nvSpPr>
          <p:cNvPr id="30" name="Text 28"/>
          <p:cNvSpPr txBox="1"/>
          <p:nvPr/>
        </p:nvSpPr>
        <p:spPr>
          <a:xfrm>
            <a:off x="8377733" y="4882896"/>
            <a:ext cx="2991002" cy="914400"/>
          </a:xfrm>
          <a:prstGeom prst="rect">
            <a:avLst/>
          </a:prstGeom>
          <a:noFill/>
          <a:ln/>
        </p:spPr>
        <p:txBody>
          <a:bodyPr wrap="square" lIns="0" tIns="0" rIns="0" bIns="0" rtlCol="0" anchor="ctr"/>
          <a:lstStyle/>
          <a:p>
            <a:pPr indent="0" marL="0">
              <a:lnSpc>
                <a:spcPts val="1500"/>
              </a:lnSpc>
              <a:buNone/>
            </a:pPr>
            <a:r>
              <a:rPr lang="en-US" sz="1150" i="1" dirty="0">
                <a:solidFill>
                  <a:srgbClr val="5B6478"/>
                </a:solidFill>
                <a:latin typeface="Arial" pitchFamily="34" charset="0"/>
                <a:ea typeface="Arial" pitchFamily="34" charset="-122"/>
                <a:cs typeface="Arial" pitchFamily="34" charset="-120"/>
              </a:rPr>
              <a:t>A photocopier. It cannot lie about the price, because anyone can compare its output to the account.</a:t>
            </a:r>
            <a:endParaRPr lang="en-US" sz="1150" dirty="0"/>
          </a:p>
        </p:txBody>
      </p:sp>
      <p:sp>
        <p:nvSpPr>
          <p:cNvPr id="31" name="Text 29"/>
          <p:cNvSpPr txBox="1"/>
          <p:nvPr/>
        </p:nvSpPr>
        <p:spPr>
          <a:xfrm>
            <a:off x="566928" y="6071616"/>
            <a:ext cx="11057839" cy="384048"/>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Compute-budget reality: an xSOL NAV computation costs tens of thousands of CU. That is fine in a dedicated keeper transaction and often not fine inside a liquidation. Mode A is the default read path, which is why the stored quote account — not the atomic preview — is the product.</a:t>
            </a:r>
            <a:endParaRPr lang="en-US" sz="1200" dirty="0"/>
          </a:p>
        </p:txBody>
      </p:sp>
      <p:sp>
        <p:nvSpPr>
          <p:cNvPr id="32" name="Text 30"/>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B"/>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WHAT THIS COSTS HYLO</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Zero changes to your programs. Ever.</a:t>
            </a:r>
            <a:endParaRPr lang="en-US" sz="3200" dirty="0"/>
          </a:p>
        </p:txBody>
      </p:sp>
      <p:sp>
        <p:nvSpPr>
          <p:cNvPr id="4" name="Shape 2"/>
          <p:cNvSpPr/>
          <p:nvPr/>
        </p:nvSpPr>
        <p:spPr>
          <a:xfrm>
            <a:off x="566928" y="1463040"/>
            <a:ext cx="5431536" cy="2286000"/>
          </a:xfrm>
          <a:prstGeom prst="roundRect">
            <a:avLst>
              <a:gd name="adj" fmla="val 2800"/>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5" name="Text 3"/>
          <p:cNvSpPr txBox="1"/>
          <p:nvPr/>
        </p:nvSpPr>
        <p:spPr>
          <a:xfrm>
            <a:off x="859536" y="1664208"/>
            <a:ext cx="4846320" cy="310896"/>
          </a:xfrm>
          <a:prstGeom prst="rect">
            <a:avLst/>
          </a:prstGeom>
          <a:noFill/>
          <a:ln/>
        </p:spPr>
        <p:txBody>
          <a:bodyPr wrap="square" lIns="0" tIns="0" rIns="0" bIns="0" rtlCol="0" anchor="ctr"/>
          <a:lstStyle/>
          <a:p>
            <a:pPr indent="0" marL="0">
              <a:buNone/>
            </a:pPr>
            <a:r>
              <a:rPr lang="en-US" sz="1650" b="1" dirty="0">
                <a:solidFill>
                  <a:srgbClr val="0F172A"/>
                </a:solidFill>
                <a:latin typeface="Arial" pitchFamily="34" charset="0"/>
                <a:ea typeface="Arial" pitchFamily="34" charset="-122"/>
                <a:cs typeface="Arial" pitchFamily="34" charset="-120"/>
              </a:rPr>
              <a:t>Solana programs have no view functions</a:t>
            </a:r>
            <a:endParaRPr lang="en-US" sz="1650" dirty="0"/>
          </a:p>
        </p:txBody>
      </p:sp>
      <p:sp>
        <p:nvSpPr>
          <p:cNvPr id="6" name="Text 4"/>
          <p:cNvSpPr txBox="1"/>
          <p:nvPr/>
        </p:nvSpPr>
        <p:spPr>
          <a:xfrm>
            <a:off x="859536" y="2029968"/>
            <a:ext cx="4846320" cy="1554480"/>
          </a:xfrm>
          <a:prstGeom prst="rect">
            <a:avLst/>
          </a:prstGeom>
          <a:noFill/>
          <a:ln/>
        </p:spPr>
        <p:txBody>
          <a:bodyPr wrap="square" lIns="0" tIns="0" rIns="0" bIns="0" rtlCol="0" anchor="ctr"/>
          <a:lstStyle/>
          <a:p>
            <a:pPr indent="0" marL="0">
              <a:lnSpc>
                <a:spcPts val="1700"/>
              </a:lnSpc>
              <a:buNone/>
            </a:pPr>
            <a:r>
              <a:rPr lang="en-US" sz="1250" dirty="0">
                <a:solidFill>
                  <a:srgbClr val="5B6478"/>
                </a:solidFill>
                <a:latin typeface="Arial" pitchFamily="34" charset="0"/>
                <a:ea typeface="Arial" pitchFamily="34" charset="-122"/>
                <a:cs typeface="Arial" pitchFamily="34" charset="-120"/>
              </a:rPr>
              <a:t>— and none are needed. Account data is public bytes. The adapter is handed your accounts as transaction inputs and deserializes them itself, verifying owner, PDA derivation, mint and program ID before touching a single field. All reads inside one transaction are same-slot consistent by construction.</a:t>
            </a:r>
            <a:endParaRPr lang="en-US" sz="1250" dirty="0"/>
          </a:p>
        </p:txBody>
      </p:sp>
      <p:sp>
        <p:nvSpPr>
          <p:cNvPr id="7" name="Shape 5"/>
          <p:cNvSpPr/>
          <p:nvPr/>
        </p:nvSpPr>
        <p:spPr>
          <a:xfrm>
            <a:off x="6199632" y="1463040"/>
            <a:ext cx="5431536" cy="2286000"/>
          </a:xfrm>
          <a:prstGeom prst="roundRect">
            <a:avLst>
              <a:gd name="adj" fmla="val 2800"/>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8" name="Text 6"/>
          <p:cNvSpPr txBox="1"/>
          <p:nvPr/>
        </p:nvSpPr>
        <p:spPr>
          <a:xfrm>
            <a:off x="6492240" y="1664208"/>
            <a:ext cx="4846320" cy="310896"/>
          </a:xfrm>
          <a:prstGeom prst="rect">
            <a:avLst/>
          </a:prstGeom>
          <a:noFill/>
          <a:ln/>
        </p:spPr>
        <p:txBody>
          <a:bodyPr wrap="square" lIns="0" tIns="0" rIns="0" bIns="0" rtlCol="0" anchor="ctr"/>
          <a:lstStyle/>
          <a:p>
            <a:pPr indent="0" marL="0">
              <a:buNone/>
            </a:pPr>
            <a:r>
              <a:rPr lang="en-US" sz="1650" b="1" dirty="0">
                <a:solidFill>
                  <a:srgbClr val="0F172A"/>
                </a:solidFill>
                <a:latin typeface="Arial" pitchFamily="34" charset="0"/>
                <a:ea typeface="Arial" pitchFamily="34" charset="-122"/>
                <a:cs typeface="Arial" pitchFamily="34" charset="-120"/>
              </a:rPr>
              <a:t>The one CPI needs no permission either</a:t>
            </a:r>
            <a:endParaRPr lang="en-US" sz="1650" dirty="0"/>
          </a:p>
        </p:txBody>
      </p:sp>
      <p:sp>
        <p:nvSpPr>
          <p:cNvPr id="9" name="Text 7"/>
          <p:cNvSpPr txBox="1"/>
          <p:nvPr/>
        </p:nvSpPr>
        <p:spPr>
          <a:xfrm>
            <a:off x="6492240" y="2029968"/>
            <a:ext cx="4846320" cy="1554480"/>
          </a:xfrm>
          <a:prstGeom prst="rect">
            <a:avLst/>
          </a:prstGeom>
          <a:noFill/>
          <a:ln/>
        </p:spPr>
        <p:txBody>
          <a:bodyPr wrap="square" lIns="0" tIns="0" rIns="0" bIns="0" rtlCol="0" anchor="ctr"/>
          <a:lstStyle/>
          <a:p>
            <a:pPr indent="0" marL="0">
              <a:lnSpc>
                <a:spcPts val="1700"/>
              </a:lnSpc>
              <a:buNone/>
            </a:pPr>
            <a:r>
              <a:rPr lang="en-US" sz="1250" dirty="0">
                <a:solidFill>
                  <a:srgbClr val="5B6478"/>
                </a:solidFill>
                <a:latin typeface="Arial" pitchFamily="34" charset="0"/>
                <a:ea typeface="Arial" pitchFamily="34" charset="-122"/>
                <a:cs typeface="Arial" pitchFamily="34" charset="-120"/>
              </a:rPr>
              <a:t>The only thing SVI calls into Hylo is update_lst_prices, at epoch boundaries, to accrue state that is stale until cranked. It takes a payer-only signer — it is already permissionless. So even the single CPI in the design requires nothing from you.</a:t>
            </a:r>
            <a:endParaRPr lang="en-US" sz="1250" dirty="0"/>
          </a:p>
        </p:txBody>
      </p:sp>
      <p:sp>
        <p:nvSpPr>
          <p:cNvPr id="10" name="Shape 8"/>
          <p:cNvSpPr/>
          <p:nvPr/>
        </p:nvSpPr>
        <p:spPr>
          <a:xfrm>
            <a:off x="566928" y="3968496"/>
            <a:ext cx="5431536" cy="2139696"/>
          </a:xfrm>
          <a:prstGeom prst="roundRect">
            <a:avLst>
              <a:gd name="adj" fmla="val 2991"/>
            </a:avLst>
          </a:prstGeom>
          <a:solidFill>
            <a:srgbClr val="FDECEC"/>
          </a:solidFill>
          <a:ln w="12700">
            <a:solidFill>
              <a:srgbClr val="F5C2C2"/>
            </a:solidFill>
            <a:prstDash val="solid"/>
          </a:ln>
        </p:spPr>
      </p:sp>
      <p:sp>
        <p:nvSpPr>
          <p:cNvPr id="11" name="Text 9"/>
          <p:cNvSpPr txBox="1"/>
          <p:nvPr/>
        </p:nvSpPr>
        <p:spPr>
          <a:xfrm>
            <a:off x="859536" y="4151376"/>
            <a:ext cx="4846320" cy="256032"/>
          </a:xfrm>
          <a:prstGeom prst="rect">
            <a:avLst/>
          </a:prstGeom>
          <a:noFill/>
          <a:ln/>
        </p:spPr>
        <p:txBody>
          <a:bodyPr wrap="square" lIns="0" tIns="0" rIns="0" bIns="0" rtlCol="0" anchor="ctr"/>
          <a:lstStyle/>
          <a:p>
            <a:pPr indent="0" marL="0">
              <a:buNone/>
            </a:pPr>
            <a:r>
              <a:rPr lang="en-US" sz="1150" b="1" spc="160" kern="0" dirty="0">
                <a:solidFill>
                  <a:srgbClr val="DC2626"/>
                </a:solidFill>
                <a:latin typeface="Arial" pitchFamily="34" charset="0"/>
                <a:ea typeface="Arial" pitchFamily="34" charset="-122"/>
                <a:cs typeface="Arial" pitchFamily="34" charset="-120"/>
              </a:rPr>
              <a:t>NOT ASKED FOR</a:t>
            </a:r>
            <a:endParaRPr lang="en-US" sz="1150" dirty="0"/>
          </a:p>
        </p:txBody>
      </p:sp>
      <p:sp>
        <p:nvSpPr>
          <p:cNvPr id="12" name="Text 10"/>
          <p:cNvSpPr txBox="1"/>
          <p:nvPr/>
        </p:nvSpPr>
        <p:spPr>
          <a:xfrm>
            <a:off x="859536" y="4462272"/>
            <a:ext cx="4846320" cy="14630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0F172A"/>
                </a:solidFill>
                <a:latin typeface="Arial" pitchFamily="34" charset="0"/>
                <a:ea typeface="Arial" pitchFamily="34" charset="-122"/>
                <a:cs typeface="Arial" pitchFamily="34" charset="-120"/>
              </a:rPr>
              <a:t>A program upgrade</a:t>
            </a:r>
            <a:endParaRPr lang="en-US" sz="1300" dirty="0"/>
          </a:p>
          <a:p>
            <a:pPr marL="342900" indent="-342900">
              <a:spcAft>
                <a:spcPts val="400"/>
              </a:spcAft>
              <a:buSzPct val="100000"/>
              <a:buChar char="•"/>
            </a:pPr>
            <a:r>
              <a:rPr lang="en-US" sz="1300" dirty="0">
                <a:solidFill>
                  <a:srgbClr val="0F172A"/>
                </a:solidFill>
                <a:latin typeface="Arial" pitchFamily="34" charset="0"/>
                <a:ea typeface="Arial" pitchFamily="34" charset="-122"/>
                <a:cs typeface="Arial" pitchFamily="34" charset="-120"/>
              </a:rPr>
              <a:t>An engineering sprint</a:t>
            </a:r>
            <a:endParaRPr lang="en-US" sz="1300" dirty="0"/>
          </a:p>
          <a:p>
            <a:pPr marL="342900" indent="-342900">
              <a:spcAft>
                <a:spcPts val="400"/>
              </a:spcAft>
              <a:buSzPct val="100000"/>
              <a:buChar char="•"/>
            </a:pPr>
            <a:r>
              <a:rPr lang="en-US" sz="1300" dirty="0">
                <a:solidFill>
                  <a:srgbClr val="0F172A"/>
                </a:solidFill>
                <a:latin typeface="Arial" pitchFamily="34" charset="0"/>
                <a:ea typeface="Arial" pitchFamily="34" charset="-122"/>
                <a:cs typeface="Arial" pitchFamily="34" charset="-120"/>
              </a:rPr>
              <a:t>Integration work</a:t>
            </a:r>
            <a:endParaRPr lang="en-US" sz="1300" dirty="0"/>
          </a:p>
          <a:p>
            <a:pPr marL="342900" indent="-342900">
              <a:spcAft>
                <a:spcPts val="400"/>
              </a:spcAft>
              <a:buSzPct val="100000"/>
              <a:buChar char="•"/>
            </a:pPr>
            <a:r>
              <a:rPr lang="en-US" sz="1300" dirty="0">
                <a:solidFill>
                  <a:srgbClr val="0F172A"/>
                </a:solidFill>
                <a:latin typeface="Arial" pitchFamily="34" charset="0"/>
                <a:ea typeface="Arial" pitchFamily="34" charset="-122"/>
                <a:cs typeface="Arial" pitchFamily="34" charset="-120"/>
              </a:rPr>
              <a:t>Infrastructure to run</a:t>
            </a:r>
            <a:endParaRPr lang="en-US" sz="1300" dirty="0"/>
          </a:p>
          <a:p>
            <a:pPr marL="342900" indent="-342900">
              <a:spcAft>
                <a:spcPts val="400"/>
              </a:spcAft>
              <a:buSzPct val="100000"/>
              <a:buChar char="•"/>
            </a:pPr>
            <a:r>
              <a:rPr lang="en-US" sz="1300" dirty="0">
                <a:solidFill>
                  <a:srgbClr val="0F172A"/>
                </a:solidFill>
                <a:latin typeface="Arial" pitchFamily="34" charset="0"/>
                <a:ea typeface="Arial" pitchFamily="34" charset="-122"/>
                <a:cs typeface="Arial" pitchFamily="34" charset="-120"/>
              </a:rPr>
              <a:t>Funding</a:t>
            </a:r>
            <a:endParaRPr lang="en-US" sz="1300" dirty="0"/>
          </a:p>
          <a:p>
            <a:pPr marL="342900" indent="-342900">
              <a:spcAft>
                <a:spcPts val="400"/>
              </a:spcAft>
              <a:buSzPct val="100000"/>
              <a:buChar char="•"/>
            </a:pPr>
            <a:r>
              <a:rPr lang="en-US" sz="1300" dirty="0">
                <a:solidFill>
                  <a:srgbClr val="0F172A"/>
                </a:solidFill>
                <a:latin typeface="Arial" pitchFamily="34" charset="0"/>
                <a:ea typeface="Arial" pitchFamily="34" charset="-122"/>
                <a:cs typeface="Arial" pitchFamily="34" charset="-120"/>
              </a:rPr>
              <a:t>Exclusivity</a:t>
            </a:r>
            <a:endParaRPr lang="en-US" sz="1300" dirty="0"/>
          </a:p>
        </p:txBody>
      </p:sp>
      <p:sp>
        <p:nvSpPr>
          <p:cNvPr id="13" name="Shape 11"/>
          <p:cNvSpPr/>
          <p:nvPr/>
        </p:nvSpPr>
        <p:spPr>
          <a:xfrm>
            <a:off x="6199632" y="3968496"/>
            <a:ext cx="5431536" cy="2139696"/>
          </a:xfrm>
          <a:prstGeom prst="roundRect">
            <a:avLst>
              <a:gd name="adj" fmla="val 2991"/>
            </a:avLst>
          </a:prstGeom>
          <a:solidFill>
            <a:srgbClr val="EAF7EF"/>
          </a:solidFill>
          <a:ln w="12700">
            <a:solidFill>
              <a:srgbClr val="BFE3CC"/>
            </a:solidFill>
            <a:prstDash val="solid"/>
          </a:ln>
        </p:spPr>
      </p:sp>
      <p:sp>
        <p:nvSpPr>
          <p:cNvPr id="14" name="Text 12"/>
          <p:cNvSpPr txBox="1"/>
          <p:nvPr/>
        </p:nvSpPr>
        <p:spPr>
          <a:xfrm>
            <a:off x="6492240" y="4151376"/>
            <a:ext cx="4846320" cy="256032"/>
          </a:xfrm>
          <a:prstGeom prst="rect">
            <a:avLst/>
          </a:prstGeom>
          <a:noFill/>
          <a:ln/>
        </p:spPr>
        <p:txBody>
          <a:bodyPr wrap="square" lIns="0" tIns="0" rIns="0" bIns="0" rtlCol="0" anchor="ctr"/>
          <a:lstStyle/>
          <a:p>
            <a:pPr indent="0" marL="0">
              <a:buNone/>
            </a:pPr>
            <a:r>
              <a:rPr lang="en-US" sz="1150" b="1" spc="160" kern="0" dirty="0">
                <a:solidFill>
                  <a:srgbClr val="16A34A"/>
                </a:solidFill>
                <a:latin typeface="Arial" pitchFamily="34" charset="0"/>
                <a:ea typeface="Arial" pitchFamily="34" charset="-122"/>
                <a:cs typeface="Arial" pitchFamily="34" charset="-120"/>
              </a:rPr>
              <a:t>THE ENTIRE ASK</a:t>
            </a:r>
            <a:endParaRPr lang="en-US" sz="1150" dirty="0"/>
          </a:p>
        </p:txBody>
      </p:sp>
      <p:sp>
        <p:nvSpPr>
          <p:cNvPr id="15" name="Text 13"/>
          <p:cNvSpPr txBox="1"/>
          <p:nvPr/>
        </p:nvSpPr>
        <p:spPr>
          <a:xfrm>
            <a:off x="6492240" y="4517136"/>
            <a:ext cx="4846320" cy="1005840"/>
          </a:xfrm>
          <a:prstGeom prst="rect">
            <a:avLst/>
          </a:prstGeom>
          <a:noFill/>
          <a:ln/>
        </p:spPr>
        <p:txBody>
          <a:bodyPr wrap="square" lIns="0" tIns="0" rIns="0" bIns="0" rtlCol="0" anchor="ctr"/>
          <a:lstStyle/>
          <a:p>
            <a:pPr marL="342900" indent="-342900">
              <a:spcAft>
                <a:spcPts val="700"/>
              </a:spcAft>
              <a:buSzPct val="100000"/>
              <a:buChar char="•"/>
            </a:pPr>
            <a:r>
              <a:rPr lang="en-US" sz="1400" b="1" dirty="0">
                <a:solidFill>
                  <a:srgbClr val="0F172A"/>
                </a:solidFill>
                <a:latin typeface="Arial" pitchFamily="34" charset="0"/>
                <a:ea typeface="Arial" pitchFamily="34" charset="-122"/>
                <a:cs typeface="Arial" pitchFamily="34" charset="-120"/>
              </a:rPr>
              <a:t>Five technical answers</a:t>
            </a:r>
            <a:endParaRPr lang="en-US" sz="1400" dirty="0"/>
          </a:p>
          <a:p>
            <a:pPr marL="342900" indent="-342900">
              <a:spcAft>
                <a:spcPts val="700"/>
              </a:spcAft>
              <a:buSzPct val="100000"/>
              <a:buChar char="•"/>
            </a:pPr>
            <a:r>
              <a:rPr lang="en-US" sz="1400" b="1" dirty="0">
                <a:solidFill>
                  <a:srgbClr val="0F172A"/>
                </a:solidFill>
                <a:latin typeface="Arial" pitchFamily="34" charset="0"/>
                <a:ea typeface="Arial" pitchFamily="34" charset="-122"/>
                <a:cs typeface="Arial" pitchFamily="34" charset="-120"/>
              </a:rPr>
              <a:t>Permission to name Hylo as design partner</a:t>
            </a:r>
            <a:endParaRPr lang="en-US" sz="1400" dirty="0"/>
          </a:p>
          <a:p>
            <a:pPr marL="342900" indent="-342900">
              <a:spcAft>
                <a:spcPts val="700"/>
              </a:spcAft>
              <a:buSzPct val="100000"/>
              <a:buChar char="•"/>
            </a:pPr>
            <a:r>
              <a:rPr lang="en-US" sz="1400" b="1" dirty="0">
                <a:solidFill>
                  <a:srgbClr val="0F172A"/>
                </a:solidFill>
                <a:latin typeface="Arial" pitchFamily="34" charset="0"/>
                <a:ea typeface="Arial" pitchFamily="34" charset="-122"/>
                <a:cs typeface="Arial" pitchFamily="34" charset="-120"/>
              </a:rPr>
              <a:t>A co-announcement at launch</a:t>
            </a:r>
            <a:endParaRPr lang="en-US" sz="1400" dirty="0"/>
          </a:p>
        </p:txBody>
      </p:sp>
      <p:sp>
        <p:nvSpPr>
          <p:cNvPr id="16" name="Text 14"/>
          <p:cNvSpPr txBox="1"/>
          <p:nvPr/>
        </p:nvSpPr>
        <p:spPr>
          <a:xfrm>
            <a:off x="6492240" y="5632704"/>
            <a:ext cx="4846320" cy="274320"/>
          </a:xfrm>
          <a:prstGeom prst="rect">
            <a:avLst/>
          </a:prstGeom>
          <a:noFill/>
          <a:ln/>
        </p:spPr>
        <p:txBody>
          <a:bodyPr wrap="square" lIns="0" tIns="0" rIns="0" bIns="0" rtlCol="0" anchor="ctr"/>
          <a:lstStyle/>
          <a:p>
            <a:pPr indent="0" marL="0">
              <a:buNone/>
            </a:pPr>
            <a:r>
              <a:rPr lang="en-US" sz="1250" i="1" dirty="0">
                <a:solidFill>
                  <a:srgbClr val="5B6478"/>
                </a:solidFill>
                <a:latin typeface="Arial" pitchFamily="34" charset="0"/>
                <a:ea typeface="Arial" pitchFamily="34" charset="-122"/>
                <a:cs typeface="Arial" pitchFamily="34" charset="-120"/>
              </a:rPr>
              <a:t>Roughly one engineer-afternoon in total.</a:t>
            </a:r>
            <a:endParaRPr lang="en-US" sz="1250" dirty="0"/>
          </a:p>
        </p:txBody>
      </p:sp>
      <p:sp>
        <p:nvSpPr>
          <p:cNvPr id="17" name="Text 15"/>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CORRECTNESS</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We reimplement none of your math</a:t>
            </a:r>
            <a:endParaRPr lang="en-US" sz="3200" dirty="0"/>
          </a:p>
        </p:txBody>
      </p:sp>
      <p:sp>
        <p:nvSpPr>
          <p:cNvPr id="4" name="Text 2"/>
          <p:cNvSpPr txBox="1"/>
          <p:nvPr/>
        </p:nvSpPr>
        <p:spPr>
          <a:xfrm>
            <a:off x="566928" y="1280160"/>
            <a:ext cx="10424160" cy="365760"/>
          </a:xfrm>
          <a:prstGeom prst="rect">
            <a:avLst/>
          </a:prstGeom>
          <a:noFill/>
          <a:ln/>
        </p:spPr>
        <p:txBody>
          <a:bodyPr wrap="square" lIns="0" tIns="0" rIns="0" bIns="0" rtlCol="0" anchor="ctr"/>
          <a:lstStyle/>
          <a:p>
            <a:pPr indent="0" marL="0">
              <a:buNone/>
            </a:pPr>
            <a:r>
              <a:rPr lang="en-US" sz="1400" dirty="0">
                <a:solidFill>
                  <a:srgbClr val="5B6478"/>
                </a:solidFill>
                <a:latin typeface="Arial" pitchFamily="34" charset="0"/>
                <a:ea typeface="Arial" pitchFamily="34" charset="-122"/>
                <a:cs typeface="Arial" pitchFamily="34" charset="-120"/>
              </a:rPr>
              <a:t>The adapter depends on hylo-core, pinned to an exact git SHA recorded on-chain in the adapter config. Your redemption math and SVI's published value cannot diverge, because they are the same code.</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792224"/>
          <a:ext cx="11057839" cy="914400"/>
        </p:xfrm>
        <a:graphic>
          <a:graphicData uri="http://schemas.openxmlformats.org/drawingml/2006/table">
            <a:tbl>
              <a:tblPr/>
              <a:tblGrid>
                <a:gridCol w="2286000"/>
                <a:gridCol w="3566160"/>
                <a:gridCol w="2651760"/>
                <a:gridCol w="2553919"/>
              </a:tblGrid>
              <a:tr h="457200">
                <a:tc>
                  <a:txBody>
                    <a:bodyPr/>
                    <a:lstStyle/>
                    <a:p>
                      <a:pPr indent="0" marL="0">
                        <a:buNone/>
                      </a:pPr>
                      <a:r>
                        <a:rPr lang="en-US" sz="1150" b="1" dirty="0">
                          <a:solidFill>
                            <a:srgbClr val="FFFFFF"/>
                          </a:solidFill>
                          <a:latin typeface="Arial" pitchFamily="34" charset="0"/>
                          <a:ea typeface="Arial" pitchFamily="34" charset="-122"/>
                          <a:cs typeface="Arial" pitchFamily="34" charset="-120"/>
                        </a:rPr>
                        <a:t>Quantity</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hylo-core function</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Rounding, taken from your source</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SVI field</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r>
              <a:tr h="457200">
                <a:tc>
                  <a:txBody>
                    <a:bodyPr/>
                    <a:lstStyle/>
                    <a:p>
                      <a:pPr indent="0" marL="0">
                        <a:buNone/>
                      </a:pPr>
                      <a:r>
                        <a:rPr lang="en-US" sz="1150" dirty="0">
                          <a:solidFill>
                            <a:srgbClr val="0F172A"/>
                          </a:solidFill>
                          <a:latin typeface="Arial" pitchFamily="34" charset="0"/>
                          <a:ea typeface="Arial" pitchFamily="34" charset="-122"/>
                          <a:cs typeface="Arial" pitchFamily="34" charset="-120"/>
                        </a:rPr>
                        <a:t>xSOL NAV, redeem side</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exchange_math::next_levercoin_redeem_nav</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mul_div_floor × price.lower</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50" b="1" dirty="0">
                          <a:solidFill>
                            <a:srgbClr val="0F172A"/>
                          </a:solidFill>
                          <a:latin typeface="Arial" pitchFamily="34" charset="0"/>
                          <a:ea typeface="Arial" pitchFamily="34" charset="-122"/>
                          <a:cs typeface="Arial" pitchFamily="34" charset="-120"/>
                        </a:rPr>
                        <a:t>quote_amount and lower_quote_amount</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457200">
                <a:tc>
                  <a:txBody>
                    <a:bodyPr/>
                    <a:lstStyle/>
                    <a:p>
                      <a:pPr indent="0" marL="0">
                        <a:buNone/>
                      </a:pPr>
                      <a:r>
                        <a:rPr lang="en-US" sz="1150" dirty="0">
                          <a:solidFill>
                            <a:srgbClr val="0F172A"/>
                          </a:solidFill>
                          <a:latin typeface="Arial" pitchFamily="34" charset="0"/>
                          <a:ea typeface="Arial" pitchFamily="34" charset="-122"/>
                          <a:cs typeface="Arial" pitchFamily="34" charset="-120"/>
                        </a:rPr>
                        <a:t>xSOL NAV, mint side</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exchange_math::next_levercoin_mint_nav</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mul_div_ceil × price.upper</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50" b="1" dirty="0">
                          <a:solidFill>
                            <a:srgbClr val="0F172A"/>
                          </a:solidFill>
                          <a:latin typeface="Arial" pitchFamily="34" charset="0"/>
                          <a:ea typeface="Arial" pitchFamily="34" charset="-122"/>
                          <a:cs typeface="Arial" pitchFamily="34" charset="-120"/>
                        </a:rPr>
                        <a:t>upper_quote_amount</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457200">
                <a:tc>
                  <a:txBody>
                    <a:bodyPr/>
                    <a:lstStyle/>
                    <a:p>
                      <a:pPr indent="0" marL="0">
                        <a:buNone/>
                      </a:pPr>
                      <a:r>
                        <a:rPr lang="en-US" sz="1150" dirty="0">
                          <a:solidFill>
                            <a:srgbClr val="0F172A"/>
                          </a:solidFill>
                          <a:latin typeface="Arial" pitchFamily="34" charset="0"/>
                          <a:ea typeface="Arial" pitchFamily="34" charset="-122"/>
                          <a:cs typeface="Arial" pitchFamily="34" charset="-120"/>
                        </a:rPr>
                        <a:t>Collateral ratio</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exchange_math::collateral_ratio</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mul_div_floor, price.lower</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status_flags zone bits</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457200">
                <a:tc>
                  <a:txBody>
                    <a:bodyPr/>
                    <a:lstStyle/>
                    <a:p>
                      <a:pPr indent="0" marL="0">
                        <a:buNone/>
                      </a:pPr>
                      <a:r>
                        <a:rPr lang="en-US" sz="1150" dirty="0">
                          <a:solidFill>
                            <a:srgbClr val="0F172A"/>
                          </a:solidFill>
                          <a:latin typeface="Arial" pitchFamily="34" charset="0"/>
                          <a:ea typeface="Arial" pitchFamily="34" charset="-122"/>
                          <a:cs typeface="Arial" pitchFamily="34" charset="-120"/>
                        </a:rPr>
                        <a:t>hyUSD NAV if depegged</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exchange_math::depeg_stablecoin_nav</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mul_div_floor</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hylo-hyusd-backing-v1</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bl>
          </a:graphicData>
        </a:graphic>
      </p:graphicFrame>
      <p:sp>
        <p:nvSpPr>
          <p:cNvPr id="6" name="Shape 3"/>
          <p:cNvSpPr/>
          <p:nvPr/>
        </p:nvSpPr>
        <p:spPr>
          <a:xfrm>
            <a:off x="566928" y="4206240"/>
            <a:ext cx="7040880" cy="1883664"/>
          </a:xfrm>
          <a:prstGeom prst="roundRect">
            <a:avLst>
              <a:gd name="adj" fmla="val 3398"/>
            </a:avLst>
          </a:prstGeom>
          <a:solidFill>
            <a:srgbClr val="F6F5FB"/>
          </a:solidFill>
          <a:ln w="12700">
            <a:solidFill>
              <a:srgbClr val="E2E0EC"/>
            </a:solidFill>
            <a:prstDash val="solid"/>
          </a:ln>
        </p:spPr>
      </p:sp>
      <p:sp>
        <p:nvSpPr>
          <p:cNvPr id="7" name="Text 4"/>
          <p:cNvSpPr txBox="1"/>
          <p:nvPr/>
        </p:nvSpPr>
        <p:spPr>
          <a:xfrm>
            <a:off x="841248" y="4389120"/>
            <a:ext cx="6492240"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Why the headline number is the redeem side</a:t>
            </a:r>
            <a:endParaRPr lang="en-US" sz="1550" dirty="0"/>
          </a:p>
        </p:txBody>
      </p:sp>
      <p:sp>
        <p:nvSpPr>
          <p:cNvPr id="8" name="Text 5"/>
          <p:cNvSpPr txBox="1"/>
          <p:nvPr/>
        </p:nvSpPr>
        <p:spPr>
          <a:xfrm>
            <a:off x="841248" y="4718304"/>
            <a:ext cx="6492240" cy="1243584"/>
          </a:xfrm>
          <a:prstGeom prst="rect">
            <a:avLst/>
          </a:prstGeom>
          <a:noFill/>
          <a:ln/>
        </p:spPr>
        <p:txBody>
          <a:bodyPr wrap="square" lIns="0" tIns="0" rIns="0" bIns="0" rtlCol="0" anchor="ctr"/>
          <a:lstStyle/>
          <a:p>
            <a:pPr indent="0" marL="0">
              <a:lnSpc>
                <a:spcPts val="1700"/>
              </a:lnSpc>
              <a:buNone/>
            </a:pPr>
            <a:r>
              <a:rPr lang="en-US" sz="1250" dirty="0">
                <a:solidFill>
                  <a:srgbClr val="5B6478"/>
                </a:solidFill>
                <a:latin typeface="Arial" pitchFamily="34" charset="0"/>
                <a:ea typeface="Arial" pitchFamily="34" charset="-122"/>
                <a:cs typeface="Arial" pitchFamily="34" charset="-120"/>
              </a:rPr>
              <a:t>Hylo already prices NAV as a range and always takes the side favourable to the protocol — mint uses ceil math with Pyth's upper bound, redeem uses floor with the lower. A holder liquidating xSOL realises the redeem side, so redeem NAV is the defensible collateral value. Publishing the full range preserves the information for consumers with other needs. That is your convention, not ours.</a:t>
            </a:r>
            <a:endParaRPr lang="en-US" sz="1250" dirty="0"/>
          </a:p>
        </p:txBody>
      </p:sp>
      <p:sp>
        <p:nvSpPr>
          <p:cNvPr id="9" name="Shape 6"/>
          <p:cNvSpPr/>
          <p:nvPr/>
        </p:nvSpPr>
        <p:spPr>
          <a:xfrm>
            <a:off x="7808976" y="4206240"/>
            <a:ext cx="3822192" cy="1883664"/>
          </a:xfrm>
          <a:prstGeom prst="roundRect">
            <a:avLst>
              <a:gd name="adj" fmla="val 3398"/>
            </a:avLst>
          </a:prstGeom>
          <a:solidFill>
            <a:srgbClr val="241E45"/>
          </a:solidFill>
          <a:ln w="12700">
            <a:solidFill>
              <a:srgbClr val="241E45"/>
            </a:solidFill>
            <a:prstDash val="solid"/>
          </a:ln>
        </p:spPr>
      </p:sp>
      <p:sp>
        <p:nvSpPr>
          <p:cNvPr id="10" name="Text 7"/>
          <p:cNvSpPr txBox="1"/>
          <p:nvPr/>
        </p:nvSpPr>
        <p:spPr>
          <a:xfrm>
            <a:off x="8065008" y="4389120"/>
            <a:ext cx="32918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Fixed-point domain</a:t>
            </a:r>
            <a:endParaRPr lang="en-US" sz="1400" dirty="0"/>
          </a:p>
        </p:txBody>
      </p:sp>
      <p:sp>
        <p:nvSpPr>
          <p:cNvPr id="11" name="Text 8"/>
          <p:cNvSpPr txBox="1"/>
          <p:nvPr/>
        </p:nvSpPr>
        <p:spPr>
          <a:xfrm>
            <a:off x="8065008" y="4718304"/>
            <a:ext cx="3291840" cy="1225296"/>
          </a:xfrm>
          <a:prstGeom prst="rect">
            <a:avLst/>
          </a:prstGeom>
          <a:noFill/>
          <a:ln/>
        </p:spPr>
        <p:txBody>
          <a:bodyPr wrap="square" lIns="0" tIns="0" rIns="0" bIns="0" rtlCol="0" anchor="ctr"/>
          <a:lstStyle/>
          <a:p>
            <a:pPr indent="0" marL="0">
              <a:lnSpc>
                <a:spcPts val="1600"/>
              </a:lnSpc>
              <a:buNone/>
            </a:pPr>
            <a:r>
              <a:rPr lang="en-US" sz="1200" dirty="0">
                <a:solidFill>
                  <a:srgbClr val="B4ADD4"/>
                </a:solidFill>
                <a:latin typeface="Arial" pitchFamily="34" charset="0"/>
                <a:ea typeface="Arial" pitchFamily="34" charset="-122"/>
                <a:cs typeface="Arial" pitchFamily="34" charset="-120"/>
              </a:rPr>
              <a:t>UFix64&lt;N9&gt; for NAV and prices, UFix64&lt;N6&gt; for supplies — per hylo-core convention.</a:t>
            </a:r>
            <a:endParaRPr lang="en-US" sz="1200" dirty="0"/>
          </a:p>
          <a:p>
            <a:pPr indent="0" marL="0">
              <a:lnSpc>
                <a:spcPts val="1600"/>
              </a:lnSpc>
              <a:buNone/>
            </a:pPr>
            <a:endParaRPr lang="en-US" sz="1200" dirty="0"/>
          </a:p>
          <a:p>
            <a:pPr indent="0" marL="0">
              <a:lnSpc>
                <a:spcPts val="1600"/>
              </a:lnSpc>
              <a:buNone/>
            </a:pPr>
            <a:r>
              <a:rPr lang="en-US" sz="1200" dirty="0">
                <a:solidFill>
                  <a:srgbClr val="B4ADD4"/>
                </a:solidFill>
                <a:latin typeface="Arial" pitchFamily="34" charset="0"/>
                <a:ea typeface="Arial" pitchFamily="34" charset="-122"/>
                <a:cs typeface="Arial" pitchFamily="34" charset="-120"/>
              </a:rPr>
              <a:t>No floating point anywhere in SVI, by design. u128 intermediates, every function total.</a:t>
            </a:r>
            <a:endParaRPr lang="en-US" sz="1200" dirty="0"/>
          </a:p>
        </p:txBody>
      </p:sp>
      <p:sp>
        <p:nvSpPr>
          <p:cNvPr id="12" name="Text 9"/>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STATUS</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This is not a pitch for something that might exist</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316736"/>
          <a:ext cx="11057839" cy="914400"/>
        </p:xfrm>
        <a:graphic>
          <a:graphicData uri="http://schemas.openxmlformats.org/drawingml/2006/table">
            <a:tbl>
              <a:tblPr/>
              <a:tblGrid>
                <a:gridCol w="2743200"/>
                <a:gridCol w="1417320"/>
                <a:gridCol w="6897319"/>
              </a:tblGrid>
              <a:tr h="512064">
                <a:tc>
                  <a:txBody>
                    <a:bodyPr/>
                    <a:lstStyle/>
                    <a:p>
                      <a:pPr indent="0" marL="0">
                        <a:buNone/>
                      </a:pPr>
                      <a:r>
                        <a:rPr lang="en-US" sz="1150" b="1" dirty="0">
                          <a:solidFill>
                            <a:srgbClr val="FFFFFF"/>
                          </a:solidFill>
                          <a:latin typeface="Arial" pitchFamily="34" charset="0"/>
                          <a:ea typeface="Arial" pitchFamily="34" charset="-122"/>
                          <a:cs typeface="Arial" pitchFamily="34" charset="-120"/>
                        </a:rPr>
                        <a:t>Component</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State</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What it is</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r>
              <a:tr h="512064">
                <a:tc>
                  <a:txBody>
                    <a:bodyPr/>
                    <a:lstStyle/>
                    <a:p>
                      <a:pPr indent="0" marL="0">
                        <a:buNone/>
                      </a:pPr>
                      <a:r>
                        <a:rPr lang="en-US" sz="1100" dirty="0">
                          <a:solidFill>
                            <a:srgbClr val="0F172A"/>
                          </a:solidFill>
                          <a:latin typeface="Arial" pitchFamily="34" charset="0"/>
                          <a:ea typeface="Arial" pitchFamily="34" charset="-122"/>
                          <a:cs typeface="Arial" pitchFamily="34" charset="-120"/>
                        </a:rPr>
                        <a:t>crates/svi-math</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16A34A"/>
                          </a:solidFill>
                          <a:latin typeface="Arial" pitchFamily="34" charset="0"/>
                          <a:ea typeface="Arial" pitchFamily="34" charset="-122"/>
                          <a:cs typeface="Arial" pitchFamily="34" charset="-120"/>
                        </a:rPr>
                        <a:t>DONE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Exact integer math. u128 intermediates, mandatory explicit rounding, no_std, arithmetic side effects denied, every function total, property-tested.</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512064">
                <a:tc>
                  <a:txBody>
                    <a:bodyPr/>
                    <a:lstStyle/>
                    <a:p>
                      <a:pPr indent="0" marL="0">
                        <a:buNone/>
                      </a:pPr>
                      <a:r>
                        <a:rPr lang="en-US" sz="1100" dirty="0">
                          <a:solidFill>
                            <a:srgbClr val="0F172A"/>
                          </a:solidFill>
                          <a:latin typeface="Arial" pitchFamily="34" charset="0"/>
                          <a:ea typeface="Arial" pitchFamily="34" charset="-122"/>
                          <a:cs typeface="Arial" pitchFamily="34" charset="-120"/>
                        </a:rPr>
                        <a:t>programs/svi-core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16A34A"/>
                          </a:solidFill>
                          <a:latin typeface="Arial" pitchFamily="34" charset="0"/>
                          <a:ea typeface="Arial" pitchFamily="34" charset="-122"/>
                          <a:cs typeface="Arial" pitchFamily="34" charset="-120"/>
                        </a:rPr>
                        <a:t>DONE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Descriptor + 320-byte zero-copy Quote, layout asserted at compile time. publish_quote enforces: feed active, adapter PDA signed, bounds coherent, observation fresh and strictly newer.</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512064">
                <a:tc>
                  <a:txBody>
                    <a:bodyPr/>
                    <a:lstStyle/>
                    <a:p>
                      <a:pPr indent="0" marL="0">
                        <a:buNone/>
                      </a:pPr>
                      <a:r>
                        <a:rPr lang="en-US" sz="1100" dirty="0">
                          <a:solidFill>
                            <a:srgbClr val="0F172A"/>
                          </a:solidFill>
                          <a:latin typeface="Arial" pitchFamily="34" charset="0"/>
                          <a:ea typeface="Arial" pitchFamily="34" charset="-122"/>
                          <a:cs typeface="Arial" pitchFamily="34" charset="-120"/>
                        </a:rPr>
                        <a:t>programs/svi-mock-adapter</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16A34A"/>
                          </a:solidFill>
                          <a:latin typeface="Arial" pitchFamily="34" charset="0"/>
                          <a:ea typeface="Arial" pitchFamily="34" charset="-122"/>
                          <a:cs typeface="Arial" pitchFamily="34" charset="-120"/>
                        </a:rPr>
                        <a:t>DONE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Exercises the CPI and authority path end to end.</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512064">
                <a:tc>
                  <a:txBody>
                    <a:bodyPr/>
                    <a:lstStyle/>
                    <a:p>
                      <a:pPr indent="0" marL="0">
                        <a:buNone/>
                      </a:pPr>
                      <a:r>
                        <a:rPr lang="en-US" sz="1100" dirty="0">
                          <a:solidFill>
                            <a:srgbClr val="0F172A"/>
                          </a:solidFill>
                          <a:latin typeface="Arial" pitchFamily="34" charset="0"/>
                          <a:ea typeface="Arial" pitchFamily="34" charset="-122"/>
                          <a:cs typeface="Arial" pitchFamily="34" charset="-120"/>
                        </a:rPr>
                        <a:t>hylo-xsol-nav-v1 spec</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D97706"/>
                          </a:solidFill>
                          <a:latin typeface="Arial" pitchFamily="34" charset="0"/>
                          <a:ea typeface="Arial" pitchFamily="34" charset="-122"/>
                          <a:cs typeface="Arial" pitchFamily="34" charset="-120"/>
                        </a:rPr>
                        <a:t>DRAFT v0.9</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Accounts, formulas, rounding, edge cases, failure states, output mapping, update policy, verification procedure.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512064">
                <a:tc>
                  <a:txBody>
                    <a:bodyPr/>
                    <a:lstStyle/>
                    <a:p>
                      <a:pPr indent="0" marL="0">
                        <a:buNone/>
                      </a:pPr>
                      <a:r>
                        <a:rPr lang="en-US" sz="1100" dirty="0">
                          <a:solidFill>
                            <a:srgbClr val="0F172A"/>
                          </a:solidFill>
                          <a:latin typeface="Arial" pitchFamily="34" charset="0"/>
                          <a:ea typeface="Arial" pitchFamily="34" charset="-122"/>
                          <a:cs typeface="Arial" pitchFamily="34" charset="-120"/>
                        </a:rPr>
                        <a:t>programs/svi-hylo-adapter</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DC2626"/>
                          </a:solidFill>
                          <a:latin typeface="Arial" pitchFamily="34" charset="0"/>
                          <a:ea typeface="Arial" pitchFamily="34" charset="-122"/>
                          <a:cs typeface="Arial" pitchFamily="34" charset="-120"/>
                        </a:rPr>
                        <a:t>BLOCKED</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Scaffolded. Waiting on five answers — not on engineering time.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512064">
                <a:tc>
                  <a:txBody>
                    <a:bodyPr/>
                    <a:lstStyle/>
                    <a:p>
                      <a:pPr indent="0" marL="0">
                        <a:buNone/>
                      </a:pPr>
                      <a:r>
                        <a:rPr lang="en-US" sz="1100" dirty="0">
                          <a:solidFill>
                            <a:srgbClr val="0F172A"/>
                          </a:solidFill>
                          <a:latin typeface="Arial" pitchFamily="34" charset="0"/>
                          <a:ea typeface="Arial" pitchFamily="34" charset="-122"/>
                          <a:cs typeface="Arial" pitchFamily="34" charset="-120"/>
                        </a:rPr>
                        <a:t>Keeper · mirror API · observer</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5B6478"/>
                          </a:solidFill>
                          <a:latin typeface="Arial" pitchFamily="34" charset="0"/>
                          <a:ea typeface="Arial" pitchFamily="34" charset="-122"/>
                          <a:cs typeface="Arial" pitchFamily="34" charset="-120"/>
                        </a:rPr>
                        <a:t>PHASE 2</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Built once the methodology is frozen.</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bl>
          </a:graphicData>
        </a:graphic>
      </p:graphicFrame>
      <p:sp>
        <p:nvSpPr>
          <p:cNvPr id="5" name="Shape 2"/>
          <p:cNvSpPr/>
          <p:nvPr/>
        </p:nvSpPr>
        <p:spPr>
          <a:xfrm>
            <a:off x="566928" y="5779008"/>
            <a:ext cx="11057839" cy="713232"/>
          </a:xfrm>
          <a:prstGeom prst="roundRect">
            <a:avLst>
              <a:gd name="adj" fmla="val 8974"/>
            </a:avLst>
          </a:prstGeom>
          <a:solidFill>
            <a:srgbClr val="7C3AED"/>
          </a:solidFill>
          <a:ln w="12700">
            <a:solidFill>
              <a:srgbClr val="7C3AED"/>
            </a:solidFill>
            <a:prstDash val="solid"/>
          </a:ln>
        </p:spPr>
      </p:sp>
      <p:sp>
        <p:nvSpPr>
          <p:cNvPr id="6" name="Text 3"/>
          <p:cNvSpPr txBox="1"/>
          <p:nvPr/>
        </p:nvSpPr>
        <p:spPr>
          <a:xfrm>
            <a:off x="877824" y="5989320"/>
            <a:ext cx="10436047"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The critical path is not engineering capacity.  </a:t>
            </a:r>
            <a:pPr indent="0" marL="0">
              <a:buNone/>
            </a:pPr>
            <a:r>
              <a:rPr lang="en-US" sz="1700" dirty="0">
                <a:solidFill>
                  <a:srgbClr val="E4DDFB"/>
                </a:solidFill>
                <a:latin typeface="Arial" pitchFamily="34" charset="0"/>
                <a:ea typeface="Arial" pitchFamily="34" charset="-122"/>
                <a:cs typeface="Arial" pitchFamily="34" charset="-120"/>
              </a:rPr>
              <a:t>It is five answers from Hylo.</a:t>
            </a:r>
            <a:endParaRPr lang="en-US" sz="1700" dirty="0"/>
          </a:p>
        </p:txBody>
      </p:sp>
      <p:sp>
        <p:nvSpPr>
          <p:cNvPr id="7" name="Text 4"/>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B"/>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VALUE TO HYLO</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What Hylo gets for an afternoon</a:t>
            </a:r>
            <a:endParaRPr lang="en-US" sz="3200" dirty="0"/>
          </a:p>
        </p:txBody>
      </p:sp>
      <p:sp>
        <p:nvSpPr>
          <p:cNvPr id="4" name="Shape 2"/>
          <p:cNvSpPr/>
          <p:nvPr/>
        </p:nvSpPr>
        <p:spPr>
          <a:xfrm>
            <a:off x="566928" y="1463040"/>
            <a:ext cx="3503066" cy="2139696"/>
          </a:xfrm>
          <a:prstGeom prst="roundRect">
            <a:avLst>
              <a:gd name="adj" fmla="val 299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5" name="Shape 3"/>
          <p:cNvSpPr/>
          <p:nvPr/>
        </p:nvSpPr>
        <p:spPr>
          <a:xfrm>
            <a:off x="841248" y="1737360"/>
            <a:ext cx="384048" cy="384048"/>
          </a:xfrm>
          <a:prstGeom prst="ellipse">
            <a:avLst/>
          </a:prstGeom>
          <a:solidFill>
            <a:srgbClr val="EFE9FE"/>
          </a:solidFill>
          <a:ln/>
        </p:spPr>
      </p:sp>
      <p:sp>
        <p:nvSpPr>
          <p:cNvPr id="6" name="Text 4"/>
          <p:cNvSpPr txBox="1"/>
          <p:nvPr/>
        </p:nvSpPr>
        <p:spPr>
          <a:xfrm>
            <a:off x="841248" y="1801368"/>
            <a:ext cx="384048" cy="274320"/>
          </a:xfrm>
          <a:prstGeom prst="rect">
            <a:avLst/>
          </a:prstGeom>
          <a:noFill/>
          <a:ln/>
        </p:spPr>
        <p:txBody>
          <a:bodyPr wrap="square" lIns="0" tIns="0" rIns="0" bIns="0" rtlCol="0" anchor="ctr"/>
          <a:lstStyle/>
          <a:p>
            <a:pPr algn="ctr" indent="0" marL="0">
              <a:buNone/>
            </a:pPr>
            <a:r>
              <a:rPr lang="en-US" sz="1500" b="1" dirty="0">
                <a:solidFill>
                  <a:srgbClr val="7C3AED"/>
                </a:solidFill>
                <a:latin typeface="Arial" pitchFamily="34" charset="0"/>
                <a:ea typeface="Arial" pitchFamily="34" charset="-122"/>
                <a:cs typeface="Arial" pitchFamily="34" charset="-120"/>
              </a:rPr>
              <a:t>✓</a:t>
            </a:r>
            <a:endParaRPr lang="en-US" sz="1500" dirty="0"/>
          </a:p>
        </p:txBody>
      </p:sp>
      <p:sp>
        <p:nvSpPr>
          <p:cNvPr id="7" name="Text 5"/>
          <p:cNvSpPr txBox="1"/>
          <p:nvPr/>
        </p:nvSpPr>
        <p:spPr>
          <a:xfrm>
            <a:off x="841248" y="2249424"/>
            <a:ext cx="2954426" cy="548640"/>
          </a:xfrm>
          <a:prstGeom prst="rect">
            <a:avLst/>
          </a:prstGeom>
          <a:noFill/>
          <a:ln/>
        </p:spPr>
        <p:txBody>
          <a:bodyPr wrap="square" lIns="0" tIns="0" rIns="0" bIns="0" rtlCol="0" anchor="ctr"/>
          <a:lstStyle/>
          <a:p>
            <a:pPr indent="0" marL="0">
              <a:lnSpc>
                <a:spcPts val="2100"/>
              </a:lnSpc>
              <a:buNone/>
            </a:pPr>
            <a:r>
              <a:rPr lang="en-US" sz="1600" b="1" dirty="0">
                <a:solidFill>
                  <a:srgbClr val="0F172A"/>
                </a:solidFill>
                <a:latin typeface="Arial" pitchFamily="34" charset="0"/>
                <a:ea typeface="Arial" pitchFamily="34" charset="-122"/>
                <a:cs typeface="Arial" pitchFamily="34" charset="-120"/>
              </a:rPr>
              <a:t>Zero engineering cost</a:t>
            </a:r>
            <a:endParaRPr lang="en-US" sz="1600" dirty="0"/>
          </a:p>
        </p:txBody>
      </p:sp>
      <p:sp>
        <p:nvSpPr>
          <p:cNvPr id="8" name="Text 6"/>
          <p:cNvSpPr txBox="1"/>
          <p:nvPr/>
        </p:nvSpPr>
        <p:spPr>
          <a:xfrm>
            <a:off x="841248" y="2761488"/>
            <a:ext cx="2954426" cy="74980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No program changes, no integration, no infrastructure to run or be paged for.</a:t>
            </a:r>
            <a:endParaRPr lang="en-US" sz="1200" dirty="0"/>
          </a:p>
        </p:txBody>
      </p:sp>
      <p:sp>
        <p:nvSpPr>
          <p:cNvPr id="9" name="Shape 7"/>
          <p:cNvSpPr/>
          <p:nvPr/>
        </p:nvSpPr>
        <p:spPr>
          <a:xfrm>
            <a:off x="4344314" y="1463040"/>
            <a:ext cx="3503066" cy="2139696"/>
          </a:xfrm>
          <a:prstGeom prst="roundRect">
            <a:avLst>
              <a:gd name="adj" fmla="val 299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0" name="Shape 8"/>
          <p:cNvSpPr/>
          <p:nvPr/>
        </p:nvSpPr>
        <p:spPr>
          <a:xfrm>
            <a:off x="4618634" y="1737360"/>
            <a:ext cx="384048" cy="384048"/>
          </a:xfrm>
          <a:prstGeom prst="ellipse">
            <a:avLst/>
          </a:prstGeom>
          <a:solidFill>
            <a:srgbClr val="EFE9FE"/>
          </a:solidFill>
          <a:ln/>
        </p:spPr>
      </p:sp>
      <p:sp>
        <p:nvSpPr>
          <p:cNvPr id="11" name="Text 9"/>
          <p:cNvSpPr txBox="1"/>
          <p:nvPr/>
        </p:nvSpPr>
        <p:spPr>
          <a:xfrm>
            <a:off x="4618634" y="1801368"/>
            <a:ext cx="384048" cy="274320"/>
          </a:xfrm>
          <a:prstGeom prst="rect">
            <a:avLst/>
          </a:prstGeom>
          <a:noFill/>
          <a:ln/>
        </p:spPr>
        <p:txBody>
          <a:bodyPr wrap="square" lIns="0" tIns="0" rIns="0" bIns="0" rtlCol="0" anchor="ctr"/>
          <a:lstStyle/>
          <a:p>
            <a:pPr algn="ctr" indent="0" marL="0">
              <a:buNone/>
            </a:pPr>
            <a:r>
              <a:rPr lang="en-US" sz="1500" b="1" dirty="0">
                <a:solidFill>
                  <a:srgbClr val="7C3AED"/>
                </a:solidFill>
                <a:latin typeface="Arial" pitchFamily="34" charset="0"/>
                <a:ea typeface="Arial" pitchFamily="34" charset="-122"/>
                <a:cs typeface="Arial" pitchFamily="34" charset="-120"/>
              </a:rPr>
              <a:t>✓</a:t>
            </a:r>
            <a:endParaRPr lang="en-US" sz="1500" dirty="0"/>
          </a:p>
        </p:txBody>
      </p:sp>
      <p:sp>
        <p:nvSpPr>
          <p:cNvPr id="12" name="Text 10"/>
          <p:cNvSpPr txBox="1"/>
          <p:nvPr/>
        </p:nvSpPr>
        <p:spPr>
          <a:xfrm>
            <a:off x="4618634" y="2249424"/>
            <a:ext cx="2954426" cy="548640"/>
          </a:xfrm>
          <a:prstGeom prst="rect">
            <a:avLst/>
          </a:prstGeom>
          <a:noFill/>
          <a:ln/>
        </p:spPr>
        <p:txBody>
          <a:bodyPr wrap="square" lIns="0" tIns="0" rIns="0" bIns="0" rtlCol="0" anchor="ctr"/>
          <a:lstStyle/>
          <a:p>
            <a:pPr indent="0" marL="0">
              <a:lnSpc>
                <a:spcPts val="2100"/>
              </a:lnSpc>
              <a:buNone/>
            </a:pPr>
            <a:r>
              <a:rPr lang="en-US" sz="1600" b="1" dirty="0">
                <a:solidFill>
                  <a:srgbClr val="0F172A"/>
                </a:solidFill>
                <a:latin typeface="Arial" pitchFamily="34" charset="0"/>
                <a:ea typeface="Arial" pitchFamily="34" charset="-122"/>
                <a:cs typeface="Arial" pitchFamily="34" charset="-120"/>
              </a:rPr>
              <a:t>The Pyth request answered</a:t>
            </a:r>
            <a:endParaRPr lang="en-US" sz="1600" dirty="0"/>
          </a:p>
        </p:txBody>
      </p:sp>
      <p:sp>
        <p:nvSpPr>
          <p:cNvPr id="13" name="Text 11"/>
          <p:cNvSpPr txBox="1"/>
          <p:nvPr/>
        </p:nvSpPr>
        <p:spPr>
          <a:xfrm>
            <a:off x="4618634" y="2761488"/>
            <a:ext cx="2954426" cy="74980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Pyth gets exactly the API shape they asked for — minus the security objection you raised.</a:t>
            </a:r>
            <a:endParaRPr lang="en-US" sz="1200" dirty="0"/>
          </a:p>
        </p:txBody>
      </p:sp>
      <p:sp>
        <p:nvSpPr>
          <p:cNvPr id="14" name="Shape 12"/>
          <p:cNvSpPr/>
          <p:nvPr/>
        </p:nvSpPr>
        <p:spPr>
          <a:xfrm>
            <a:off x="8121701" y="1463040"/>
            <a:ext cx="3503066" cy="2139696"/>
          </a:xfrm>
          <a:prstGeom prst="roundRect">
            <a:avLst>
              <a:gd name="adj" fmla="val 299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5" name="Shape 13"/>
          <p:cNvSpPr/>
          <p:nvPr/>
        </p:nvSpPr>
        <p:spPr>
          <a:xfrm>
            <a:off x="8396021" y="1737360"/>
            <a:ext cx="384048" cy="384048"/>
          </a:xfrm>
          <a:prstGeom prst="ellipse">
            <a:avLst/>
          </a:prstGeom>
          <a:solidFill>
            <a:srgbClr val="EFE9FE"/>
          </a:solidFill>
          <a:ln/>
        </p:spPr>
      </p:sp>
      <p:sp>
        <p:nvSpPr>
          <p:cNvPr id="16" name="Text 14"/>
          <p:cNvSpPr txBox="1"/>
          <p:nvPr/>
        </p:nvSpPr>
        <p:spPr>
          <a:xfrm>
            <a:off x="8396021" y="1801368"/>
            <a:ext cx="384048" cy="274320"/>
          </a:xfrm>
          <a:prstGeom prst="rect">
            <a:avLst/>
          </a:prstGeom>
          <a:noFill/>
          <a:ln/>
        </p:spPr>
        <p:txBody>
          <a:bodyPr wrap="square" lIns="0" tIns="0" rIns="0" bIns="0" rtlCol="0" anchor="ctr"/>
          <a:lstStyle/>
          <a:p>
            <a:pPr algn="ctr" indent="0" marL="0">
              <a:buNone/>
            </a:pPr>
            <a:r>
              <a:rPr lang="en-US" sz="1500" b="1" dirty="0">
                <a:solidFill>
                  <a:srgbClr val="7C3AED"/>
                </a:solidFill>
                <a:latin typeface="Arial" pitchFamily="34" charset="0"/>
                <a:ea typeface="Arial" pitchFamily="34" charset="-122"/>
                <a:cs typeface="Arial" pitchFamily="34" charset="-120"/>
              </a:rPr>
              <a:t>✓</a:t>
            </a:r>
            <a:endParaRPr lang="en-US" sz="1500" dirty="0"/>
          </a:p>
        </p:txBody>
      </p:sp>
      <p:sp>
        <p:nvSpPr>
          <p:cNvPr id="17" name="Text 15"/>
          <p:cNvSpPr txBox="1"/>
          <p:nvPr/>
        </p:nvSpPr>
        <p:spPr>
          <a:xfrm>
            <a:off x="8396021" y="2249424"/>
            <a:ext cx="2954426" cy="548640"/>
          </a:xfrm>
          <a:prstGeom prst="rect">
            <a:avLst/>
          </a:prstGeom>
          <a:noFill/>
          <a:ln/>
        </p:spPr>
        <p:txBody>
          <a:bodyPr wrap="square" lIns="0" tIns="0" rIns="0" bIns="0" rtlCol="0" anchor="ctr"/>
          <a:lstStyle/>
          <a:p>
            <a:pPr indent="0" marL="0">
              <a:lnSpc>
                <a:spcPts val="2100"/>
              </a:lnSpc>
              <a:buNone/>
            </a:pPr>
            <a:r>
              <a:rPr lang="en-US" sz="1600" b="1" dirty="0">
                <a:solidFill>
                  <a:srgbClr val="0F172A"/>
                </a:solidFill>
                <a:latin typeface="Arial" pitchFamily="34" charset="0"/>
                <a:ea typeface="Arial" pitchFamily="34" charset="-122"/>
                <a:cs typeface="Arial" pitchFamily="34" charset="-120"/>
              </a:rPr>
              <a:t>Liability moved off your team</a:t>
            </a:r>
            <a:endParaRPr lang="en-US" sz="1600" dirty="0"/>
          </a:p>
        </p:txBody>
      </p:sp>
      <p:sp>
        <p:nvSpPr>
          <p:cNvPr id="18" name="Text 16"/>
          <p:cNvSpPr txBox="1"/>
          <p:nvPr/>
        </p:nvSpPr>
        <p:spPr>
          <a:xfrm>
            <a:off x="8396021" y="2761488"/>
            <a:ext cx="2954426" cy="74980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The valuation code is public, reproducible, and not yours to operate or be blamed for.</a:t>
            </a:r>
            <a:endParaRPr lang="en-US" sz="1200" dirty="0"/>
          </a:p>
        </p:txBody>
      </p:sp>
      <p:sp>
        <p:nvSpPr>
          <p:cNvPr id="19" name="Shape 17"/>
          <p:cNvSpPr/>
          <p:nvPr/>
        </p:nvSpPr>
        <p:spPr>
          <a:xfrm>
            <a:off x="566928" y="3877056"/>
            <a:ext cx="3503066" cy="2139696"/>
          </a:xfrm>
          <a:prstGeom prst="roundRect">
            <a:avLst>
              <a:gd name="adj" fmla="val 299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20" name="Shape 18"/>
          <p:cNvSpPr/>
          <p:nvPr/>
        </p:nvSpPr>
        <p:spPr>
          <a:xfrm>
            <a:off x="841248" y="4151376"/>
            <a:ext cx="384048" cy="384048"/>
          </a:xfrm>
          <a:prstGeom prst="ellipse">
            <a:avLst/>
          </a:prstGeom>
          <a:solidFill>
            <a:srgbClr val="EFE9FE"/>
          </a:solidFill>
          <a:ln/>
        </p:spPr>
      </p:sp>
      <p:sp>
        <p:nvSpPr>
          <p:cNvPr id="21" name="Text 19"/>
          <p:cNvSpPr txBox="1"/>
          <p:nvPr/>
        </p:nvSpPr>
        <p:spPr>
          <a:xfrm>
            <a:off x="841248" y="4215384"/>
            <a:ext cx="384048" cy="274320"/>
          </a:xfrm>
          <a:prstGeom prst="rect">
            <a:avLst/>
          </a:prstGeom>
          <a:noFill/>
          <a:ln/>
        </p:spPr>
        <p:txBody>
          <a:bodyPr wrap="square" lIns="0" tIns="0" rIns="0" bIns="0" rtlCol="0" anchor="ctr"/>
          <a:lstStyle/>
          <a:p>
            <a:pPr algn="ctr" indent="0" marL="0">
              <a:buNone/>
            </a:pPr>
            <a:r>
              <a:rPr lang="en-US" sz="1500" b="1" dirty="0">
                <a:solidFill>
                  <a:srgbClr val="7C3AED"/>
                </a:solidFill>
                <a:latin typeface="Arial" pitchFamily="34" charset="0"/>
                <a:ea typeface="Arial" pitchFamily="34" charset="-122"/>
                <a:cs typeface="Arial" pitchFamily="34" charset="-120"/>
              </a:rPr>
              <a:t>✓</a:t>
            </a:r>
            <a:endParaRPr lang="en-US" sz="1500" dirty="0"/>
          </a:p>
        </p:txBody>
      </p:sp>
      <p:sp>
        <p:nvSpPr>
          <p:cNvPr id="22" name="Text 20"/>
          <p:cNvSpPr txBox="1"/>
          <p:nvPr/>
        </p:nvSpPr>
        <p:spPr>
          <a:xfrm>
            <a:off x="841248" y="4663440"/>
            <a:ext cx="2954426" cy="548640"/>
          </a:xfrm>
          <a:prstGeom prst="rect">
            <a:avLst/>
          </a:prstGeom>
          <a:noFill/>
          <a:ln/>
        </p:spPr>
        <p:txBody>
          <a:bodyPr wrap="square" lIns="0" tIns="0" rIns="0" bIns="0" rtlCol="0" anchor="ctr"/>
          <a:lstStyle/>
          <a:p>
            <a:pPr indent="0" marL="0">
              <a:lnSpc>
                <a:spcPts val="2100"/>
              </a:lnSpc>
              <a:buNone/>
            </a:pPr>
            <a:r>
              <a:rPr lang="en-US" sz="1600" b="1" dirty="0">
                <a:solidFill>
                  <a:srgbClr val="0F172A"/>
                </a:solidFill>
                <a:latin typeface="Arial" pitchFamily="34" charset="0"/>
                <a:ea typeface="Arial" pitchFamily="34" charset="-122"/>
                <a:cs typeface="Arial" pitchFamily="34" charset="-120"/>
              </a:rPr>
              <a:t>A feed lenders can underwrite</a:t>
            </a:r>
            <a:endParaRPr lang="en-US" sz="1600" dirty="0"/>
          </a:p>
        </p:txBody>
      </p:sp>
      <p:sp>
        <p:nvSpPr>
          <p:cNvPr id="23" name="Text 21"/>
          <p:cNvSpPr txBox="1"/>
          <p:nvPr/>
        </p:nvSpPr>
        <p:spPr>
          <a:xfrm>
            <a:off x="841248" y="5175504"/>
            <a:ext cx="2954426" cy="74980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Conservative redemption-anchored value, explicit bounds, freshness stamp, and a DESTABILIZED flag that unambiguously means zero.</a:t>
            </a:r>
            <a:endParaRPr lang="en-US" sz="1200" dirty="0"/>
          </a:p>
        </p:txBody>
      </p:sp>
      <p:sp>
        <p:nvSpPr>
          <p:cNvPr id="24" name="Shape 22"/>
          <p:cNvSpPr/>
          <p:nvPr/>
        </p:nvSpPr>
        <p:spPr>
          <a:xfrm>
            <a:off x="4344314" y="3877056"/>
            <a:ext cx="3503066" cy="2139696"/>
          </a:xfrm>
          <a:prstGeom prst="roundRect">
            <a:avLst>
              <a:gd name="adj" fmla="val 299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25" name="Shape 23"/>
          <p:cNvSpPr/>
          <p:nvPr/>
        </p:nvSpPr>
        <p:spPr>
          <a:xfrm>
            <a:off x="4618634" y="4151376"/>
            <a:ext cx="384048" cy="384048"/>
          </a:xfrm>
          <a:prstGeom prst="ellipse">
            <a:avLst/>
          </a:prstGeom>
          <a:solidFill>
            <a:srgbClr val="EFE9FE"/>
          </a:solidFill>
          <a:ln/>
        </p:spPr>
      </p:sp>
      <p:sp>
        <p:nvSpPr>
          <p:cNvPr id="26" name="Text 24"/>
          <p:cNvSpPr txBox="1"/>
          <p:nvPr/>
        </p:nvSpPr>
        <p:spPr>
          <a:xfrm>
            <a:off x="4618634" y="4215384"/>
            <a:ext cx="384048" cy="274320"/>
          </a:xfrm>
          <a:prstGeom prst="rect">
            <a:avLst/>
          </a:prstGeom>
          <a:noFill/>
          <a:ln/>
        </p:spPr>
        <p:txBody>
          <a:bodyPr wrap="square" lIns="0" tIns="0" rIns="0" bIns="0" rtlCol="0" anchor="ctr"/>
          <a:lstStyle/>
          <a:p>
            <a:pPr algn="ctr" indent="0" marL="0">
              <a:buNone/>
            </a:pPr>
            <a:r>
              <a:rPr lang="en-US" sz="1500" b="1" dirty="0">
                <a:solidFill>
                  <a:srgbClr val="7C3AED"/>
                </a:solidFill>
                <a:latin typeface="Arial" pitchFamily="34" charset="0"/>
                <a:ea typeface="Arial" pitchFamily="34" charset="-122"/>
                <a:cs typeface="Arial" pitchFamily="34" charset="-120"/>
              </a:rPr>
              <a:t>✓</a:t>
            </a:r>
            <a:endParaRPr lang="en-US" sz="1500" dirty="0"/>
          </a:p>
        </p:txBody>
      </p:sp>
      <p:sp>
        <p:nvSpPr>
          <p:cNvPr id="27" name="Text 25"/>
          <p:cNvSpPr txBox="1"/>
          <p:nvPr/>
        </p:nvSpPr>
        <p:spPr>
          <a:xfrm>
            <a:off x="4618634" y="4663440"/>
            <a:ext cx="2954426" cy="548640"/>
          </a:xfrm>
          <a:prstGeom prst="rect">
            <a:avLst/>
          </a:prstGeom>
          <a:noFill/>
          <a:ln/>
        </p:spPr>
        <p:txBody>
          <a:bodyPr wrap="square" lIns="0" tIns="0" rIns="0" bIns="0" rtlCol="0" anchor="ctr"/>
          <a:lstStyle/>
          <a:p>
            <a:pPr indent="0" marL="0">
              <a:lnSpc>
                <a:spcPts val="2100"/>
              </a:lnSpc>
              <a:buNone/>
            </a:pPr>
            <a:r>
              <a:rPr lang="en-US" sz="1600" b="1" dirty="0">
                <a:solidFill>
                  <a:srgbClr val="0F172A"/>
                </a:solidFill>
                <a:latin typeface="Arial" pitchFamily="34" charset="0"/>
                <a:ea typeface="Arial" pitchFamily="34" charset="-122"/>
                <a:cs typeface="Arial" pitchFamily="34" charset="-120"/>
              </a:rPr>
              <a:t>V2 scales down this path</a:t>
            </a:r>
            <a:endParaRPr lang="en-US" sz="1600" dirty="0"/>
          </a:p>
        </p:txBody>
      </p:sp>
      <p:sp>
        <p:nvSpPr>
          <p:cNvPr id="28" name="Text 26"/>
          <p:cNvSpPr txBox="1"/>
          <p:nvPr/>
        </p:nvSpPr>
        <p:spPr>
          <a:xfrm>
            <a:off x="4618634" y="5175504"/>
            <a:ext cx="2954426" cy="74980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The xAsset Engine turns 4 feeds into 4 × N. A methodology-per-asset framework absorbs that; a hand-rolled API does not.</a:t>
            </a:r>
            <a:endParaRPr lang="en-US" sz="1200" dirty="0"/>
          </a:p>
        </p:txBody>
      </p:sp>
      <p:sp>
        <p:nvSpPr>
          <p:cNvPr id="29" name="Shape 27"/>
          <p:cNvSpPr/>
          <p:nvPr/>
        </p:nvSpPr>
        <p:spPr>
          <a:xfrm>
            <a:off x="8121701" y="3877056"/>
            <a:ext cx="3503066" cy="2139696"/>
          </a:xfrm>
          <a:prstGeom prst="roundRect">
            <a:avLst>
              <a:gd name="adj" fmla="val 299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30" name="Shape 28"/>
          <p:cNvSpPr/>
          <p:nvPr/>
        </p:nvSpPr>
        <p:spPr>
          <a:xfrm>
            <a:off x="8396021" y="4151376"/>
            <a:ext cx="384048" cy="384048"/>
          </a:xfrm>
          <a:prstGeom prst="ellipse">
            <a:avLst/>
          </a:prstGeom>
          <a:solidFill>
            <a:srgbClr val="EFE9FE"/>
          </a:solidFill>
          <a:ln/>
        </p:spPr>
      </p:sp>
      <p:sp>
        <p:nvSpPr>
          <p:cNvPr id="31" name="Text 29"/>
          <p:cNvSpPr txBox="1"/>
          <p:nvPr/>
        </p:nvSpPr>
        <p:spPr>
          <a:xfrm>
            <a:off x="8396021" y="4215384"/>
            <a:ext cx="384048" cy="274320"/>
          </a:xfrm>
          <a:prstGeom prst="rect">
            <a:avLst/>
          </a:prstGeom>
          <a:noFill/>
          <a:ln/>
        </p:spPr>
        <p:txBody>
          <a:bodyPr wrap="square" lIns="0" tIns="0" rIns="0" bIns="0" rtlCol="0" anchor="ctr"/>
          <a:lstStyle/>
          <a:p>
            <a:pPr algn="ctr" indent="0" marL="0">
              <a:buNone/>
            </a:pPr>
            <a:r>
              <a:rPr lang="en-US" sz="1500" b="1" dirty="0">
                <a:solidFill>
                  <a:srgbClr val="7C3AED"/>
                </a:solidFill>
                <a:latin typeface="Arial" pitchFamily="34" charset="0"/>
                <a:ea typeface="Arial" pitchFamily="34" charset="-122"/>
                <a:cs typeface="Arial" pitchFamily="34" charset="-120"/>
              </a:rPr>
              <a:t>✓</a:t>
            </a:r>
            <a:endParaRPr lang="en-US" sz="1500" dirty="0"/>
          </a:p>
        </p:txBody>
      </p:sp>
      <p:sp>
        <p:nvSpPr>
          <p:cNvPr id="32" name="Text 30"/>
          <p:cNvSpPr txBox="1"/>
          <p:nvPr/>
        </p:nvSpPr>
        <p:spPr>
          <a:xfrm>
            <a:off x="8396021" y="4663440"/>
            <a:ext cx="2954426" cy="548640"/>
          </a:xfrm>
          <a:prstGeom prst="rect">
            <a:avLst/>
          </a:prstGeom>
          <a:noFill/>
          <a:ln/>
        </p:spPr>
        <p:txBody>
          <a:bodyPr wrap="square" lIns="0" tIns="0" rIns="0" bIns="0" rtlCol="0" anchor="ctr"/>
          <a:lstStyle/>
          <a:p>
            <a:pPr indent="0" marL="0">
              <a:lnSpc>
                <a:spcPts val="2100"/>
              </a:lnSpc>
              <a:buNone/>
            </a:pPr>
            <a:r>
              <a:rPr lang="en-US" sz="1600" b="1" dirty="0">
                <a:solidFill>
                  <a:srgbClr val="0F172A"/>
                </a:solidFill>
                <a:latin typeface="Arial" pitchFamily="34" charset="0"/>
                <a:ea typeface="Arial" pitchFamily="34" charset="-122"/>
                <a:cs typeface="Arial" pitchFamily="34" charset="-120"/>
              </a:rPr>
              <a:t>A public artifact for Hylo</a:t>
            </a:r>
            <a:endParaRPr lang="en-US" sz="1600" dirty="0"/>
          </a:p>
        </p:txBody>
      </p:sp>
      <p:sp>
        <p:nvSpPr>
          <p:cNvPr id="33" name="Text 31"/>
          <p:cNvSpPr txBox="1"/>
          <p:nvPr/>
        </p:nvSpPr>
        <p:spPr>
          <a:xfrm>
            <a:off x="8396021" y="5175504"/>
            <a:ext cx="2954426" cy="74980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hylo-xsol-nav-v1 is a rigorous public specification of Hylo's valuation semantics — useful documentation in its own right.</a:t>
            </a:r>
            <a:endParaRPr lang="en-US" sz="1200" dirty="0"/>
          </a:p>
        </p:txBody>
      </p:sp>
      <p:sp>
        <p:nvSpPr>
          <p:cNvPr id="34" name="Text 32"/>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MARKET</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The asset class is NAV-shaped, and it is growing fast</a:t>
            </a:r>
            <a:endParaRPr lang="en-US" sz="3200" dirty="0"/>
          </a:p>
        </p:txBody>
      </p:sp>
      <p:sp>
        <p:nvSpPr>
          <p:cNvPr id="4" name="Shape 2"/>
          <p:cNvSpPr/>
          <p:nvPr/>
        </p:nvSpPr>
        <p:spPr>
          <a:xfrm>
            <a:off x="566928" y="1371600"/>
            <a:ext cx="2558720" cy="1700784"/>
          </a:xfrm>
          <a:prstGeom prst="roundRect">
            <a:avLst>
              <a:gd name="adj" fmla="val 3763"/>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5" name="Text 3"/>
          <p:cNvSpPr txBox="1"/>
          <p:nvPr/>
        </p:nvSpPr>
        <p:spPr>
          <a:xfrm>
            <a:off x="822960" y="1572768"/>
            <a:ext cx="2046656" cy="749808"/>
          </a:xfrm>
          <a:prstGeom prst="rect">
            <a:avLst/>
          </a:prstGeom>
          <a:noFill/>
          <a:ln/>
        </p:spPr>
        <p:txBody>
          <a:bodyPr wrap="square" lIns="0" tIns="0" rIns="0" bIns="0" rtlCol="0" anchor="ctr"/>
          <a:lstStyle/>
          <a:p>
            <a:pPr algn="l" indent="0" marL="0">
              <a:buNone/>
            </a:pPr>
            <a:r>
              <a:rPr lang="en-US" sz="3800" b="1" dirty="0">
                <a:solidFill>
                  <a:srgbClr val="7C3AED"/>
                </a:solidFill>
                <a:latin typeface="Arial" pitchFamily="34" charset="0"/>
                <a:ea typeface="Arial" pitchFamily="34" charset="-122"/>
                <a:cs typeface="Arial" pitchFamily="34" charset="-120"/>
              </a:rPr>
              <a:t>$3.7B</a:t>
            </a:r>
            <a:endParaRPr lang="en-US" sz="3800" dirty="0"/>
          </a:p>
        </p:txBody>
      </p:sp>
      <p:sp>
        <p:nvSpPr>
          <p:cNvPr id="6" name="Text 4"/>
          <p:cNvSpPr txBox="1"/>
          <p:nvPr/>
        </p:nvSpPr>
        <p:spPr>
          <a:xfrm>
            <a:off x="822960" y="2286000"/>
            <a:ext cx="2046656" cy="566928"/>
          </a:xfrm>
          <a:prstGeom prst="rect">
            <a:avLst/>
          </a:prstGeom>
          <a:noFill/>
          <a:ln/>
        </p:spPr>
        <p:txBody>
          <a:bodyPr wrap="square" lIns="0" tIns="0" rIns="0" bIns="0" rtlCol="0" anchor="ctr"/>
          <a:lstStyle/>
          <a:p>
            <a:pPr algn="l" indent="0" marL="0">
              <a:buNone/>
            </a:pPr>
            <a:r>
              <a:rPr lang="en-US" sz="1200" dirty="0">
                <a:solidFill>
                  <a:srgbClr val="5B6478"/>
                </a:solidFill>
                <a:latin typeface="Arial" pitchFamily="34" charset="0"/>
                <a:ea typeface="Arial" pitchFamily="34" charset="-122"/>
                <a:cs typeface="Arial" pitchFamily="34" charset="-120"/>
              </a:rPr>
              <a:t>tokenised RWA on Solana,</a:t>
            </a:r>
            <a:endParaRPr lang="en-US" sz="1200" dirty="0"/>
          </a:p>
          <a:p>
            <a:pPr algn="l" indent="0" marL="0">
              <a:buNone/>
            </a:pPr>
            <a:r>
              <a:rPr lang="en-US" sz="1200" dirty="0">
                <a:solidFill>
                  <a:srgbClr val="5B6478"/>
                </a:solidFill>
                <a:latin typeface="Arial" pitchFamily="34" charset="0"/>
                <a:ea typeface="Arial" pitchFamily="34" charset="-122"/>
                <a:cs typeface="Arial" pitchFamily="34" charset="-120"/>
              </a:rPr>
              <a:t>up 4× in six months</a:t>
            </a:r>
            <a:endParaRPr lang="en-US" sz="1200" dirty="0"/>
          </a:p>
        </p:txBody>
      </p:sp>
      <p:sp>
        <p:nvSpPr>
          <p:cNvPr id="7" name="Shape 5"/>
          <p:cNvSpPr/>
          <p:nvPr/>
        </p:nvSpPr>
        <p:spPr>
          <a:xfrm>
            <a:off x="3399968" y="1371600"/>
            <a:ext cx="2558720" cy="1700784"/>
          </a:xfrm>
          <a:prstGeom prst="roundRect">
            <a:avLst>
              <a:gd name="adj" fmla="val 3763"/>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8" name="Text 6"/>
          <p:cNvSpPr txBox="1"/>
          <p:nvPr/>
        </p:nvSpPr>
        <p:spPr>
          <a:xfrm>
            <a:off x="3656000" y="1572768"/>
            <a:ext cx="2046656" cy="749808"/>
          </a:xfrm>
          <a:prstGeom prst="rect">
            <a:avLst/>
          </a:prstGeom>
          <a:noFill/>
          <a:ln/>
        </p:spPr>
        <p:txBody>
          <a:bodyPr wrap="square" lIns="0" tIns="0" rIns="0" bIns="0" rtlCol="0" anchor="ctr"/>
          <a:lstStyle/>
          <a:p>
            <a:pPr algn="l" indent="0" marL="0">
              <a:buNone/>
            </a:pPr>
            <a:r>
              <a:rPr lang="en-US" sz="3800" b="1" dirty="0">
                <a:solidFill>
                  <a:srgbClr val="7C3AED"/>
                </a:solidFill>
                <a:latin typeface="Arial" pitchFamily="34" charset="0"/>
                <a:ea typeface="Arial" pitchFamily="34" charset="-122"/>
                <a:cs typeface="Arial" pitchFamily="34" charset="-120"/>
              </a:rPr>
              <a:t>~$15B</a:t>
            </a:r>
            <a:endParaRPr lang="en-US" sz="3800" dirty="0"/>
          </a:p>
        </p:txBody>
      </p:sp>
      <p:sp>
        <p:nvSpPr>
          <p:cNvPr id="9" name="Text 7"/>
          <p:cNvSpPr txBox="1"/>
          <p:nvPr/>
        </p:nvSpPr>
        <p:spPr>
          <a:xfrm>
            <a:off x="3656000" y="2286000"/>
            <a:ext cx="2046656" cy="566928"/>
          </a:xfrm>
          <a:prstGeom prst="rect">
            <a:avLst/>
          </a:prstGeom>
          <a:noFill/>
          <a:ln/>
        </p:spPr>
        <p:txBody>
          <a:bodyPr wrap="square" lIns="0" tIns="0" rIns="0" bIns="0" rtlCol="0" anchor="ctr"/>
          <a:lstStyle/>
          <a:p>
            <a:pPr algn="l" indent="0" marL="0">
              <a:buNone/>
            </a:pPr>
            <a:r>
              <a:rPr lang="en-US" sz="1200" dirty="0">
                <a:solidFill>
                  <a:srgbClr val="5B6478"/>
                </a:solidFill>
                <a:latin typeface="Arial" pitchFamily="34" charset="0"/>
                <a:ea typeface="Arial" pitchFamily="34" charset="-122"/>
                <a:cs typeface="Arial" pitchFamily="34" charset="-120"/>
              </a:rPr>
              <a:t>Solana LST supply —</a:t>
            </a:r>
            <a:endParaRPr lang="en-US" sz="1200" dirty="0"/>
          </a:p>
          <a:p>
            <a:pPr algn="l" indent="0" marL="0">
              <a:buNone/>
            </a:pPr>
            <a:r>
              <a:rPr lang="en-US" sz="1200" dirty="0">
                <a:solidFill>
                  <a:srgbClr val="5B6478"/>
                </a:solidFill>
                <a:latin typeface="Arial" pitchFamily="34" charset="0"/>
                <a:ea typeface="Arial" pitchFamily="34" charset="-122"/>
                <a:cs typeface="Arial" pitchFamily="34" charset="-120"/>
              </a:rPr>
              <a:t>every unit a formula, not a trade</a:t>
            </a:r>
            <a:endParaRPr lang="en-US" sz="1200" dirty="0"/>
          </a:p>
        </p:txBody>
      </p:sp>
      <p:sp>
        <p:nvSpPr>
          <p:cNvPr id="10" name="Shape 8"/>
          <p:cNvSpPr/>
          <p:nvPr/>
        </p:nvSpPr>
        <p:spPr>
          <a:xfrm>
            <a:off x="6233008" y="1371600"/>
            <a:ext cx="2558720" cy="1700784"/>
          </a:xfrm>
          <a:prstGeom prst="roundRect">
            <a:avLst>
              <a:gd name="adj" fmla="val 3763"/>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1" name="Text 9"/>
          <p:cNvSpPr txBox="1"/>
          <p:nvPr/>
        </p:nvSpPr>
        <p:spPr>
          <a:xfrm>
            <a:off x="6489040" y="1572768"/>
            <a:ext cx="2046656" cy="749808"/>
          </a:xfrm>
          <a:prstGeom prst="rect">
            <a:avLst/>
          </a:prstGeom>
          <a:noFill/>
          <a:ln/>
        </p:spPr>
        <p:txBody>
          <a:bodyPr wrap="square" lIns="0" tIns="0" rIns="0" bIns="0" rtlCol="0" anchor="ctr"/>
          <a:lstStyle/>
          <a:p>
            <a:pPr algn="l" indent="0" marL="0">
              <a:buNone/>
            </a:pPr>
            <a:r>
              <a:rPr lang="en-US" sz="3800" b="1" dirty="0">
                <a:solidFill>
                  <a:srgbClr val="7C3AED"/>
                </a:solidFill>
                <a:latin typeface="Arial" pitchFamily="34" charset="0"/>
                <a:ea typeface="Arial" pitchFamily="34" charset="-122"/>
                <a:cs typeface="Arial" pitchFamily="34" charset="-120"/>
              </a:rPr>
              <a:t>~$3.5B</a:t>
            </a:r>
            <a:endParaRPr lang="en-US" sz="3800" dirty="0"/>
          </a:p>
        </p:txBody>
      </p:sp>
      <p:sp>
        <p:nvSpPr>
          <p:cNvPr id="12" name="Text 10"/>
          <p:cNvSpPr txBox="1"/>
          <p:nvPr/>
        </p:nvSpPr>
        <p:spPr>
          <a:xfrm>
            <a:off x="6489040" y="2286000"/>
            <a:ext cx="2046656" cy="566928"/>
          </a:xfrm>
          <a:prstGeom prst="rect">
            <a:avLst/>
          </a:prstGeom>
          <a:noFill/>
          <a:ln/>
        </p:spPr>
        <p:txBody>
          <a:bodyPr wrap="square" lIns="0" tIns="0" rIns="0" bIns="0" rtlCol="0" anchor="ctr"/>
          <a:lstStyle/>
          <a:p>
            <a:pPr algn="l" indent="0" marL="0">
              <a:buNone/>
            </a:pPr>
            <a:r>
              <a:rPr lang="en-US" sz="1200" dirty="0">
                <a:solidFill>
                  <a:srgbClr val="5B6478"/>
                </a:solidFill>
                <a:latin typeface="Arial" pitchFamily="34" charset="0"/>
                <a:ea typeface="Arial" pitchFamily="34" charset="-122"/>
                <a:cs typeface="Arial" pitchFamily="34" charset="-120"/>
              </a:rPr>
              <a:t>lending TVL carrying this</a:t>
            </a:r>
            <a:endParaRPr lang="en-US" sz="1200" dirty="0"/>
          </a:p>
          <a:p>
            <a:pPr algn="l" indent="0" marL="0">
              <a:buNone/>
            </a:pPr>
            <a:r>
              <a:rPr lang="en-US" sz="1200" dirty="0">
                <a:solidFill>
                  <a:srgbClr val="5B6478"/>
                </a:solidFill>
                <a:latin typeface="Arial" pitchFamily="34" charset="0"/>
                <a:ea typeface="Arial" pitchFamily="34" charset="-122"/>
                <a:cs typeface="Arial" pitchFamily="34" charset="-120"/>
              </a:rPr>
              <a:t>valuation risk today</a:t>
            </a:r>
            <a:endParaRPr lang="en-US" sz="1200" dirty="0"/>
          </a:p>
        </p:txBody>
      </p:sp>
      <p:sp>
        <p:nvSpPr>
          <p:cNvPr id="13" name="Shape 11"/>
          <p:cNvSpPr/>
          <p:nvPr/>
        </p:nvSpPr>
        <p:spPr>
          <a:xfrm>
            <a:off x="9066047" y="1371600"/>
            <a:ext cx="2558720" cy="1700784"/>
          </a:xfrm>
          <a:prstGeom prst="roundRect">
            <a:avLst>
              <a:gd name="adj" fmla="val 3763"/>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4" name="Text 12"/>
          <p:cNvSpPr txBox="1"/>
          <p:nvPr/>
        </p:nvSpPr>
        <p:spPr>
          <a:xfrm>
            <a:off x="9322079" y="1572768"/>
            <a:ext cx="2046656" cy="749808"/>
          </a:xfrm>
          <a:prstGeom prst="rect">
            <a:avLst/>
          </a:prstGeom>
          <a:noFill/>
          <a:ln/>
        </p:spPr>
        <p:txBody>
          <a:bodyPr wrap="square" lIns="0" tIns="0" rIns="0" bIns="0" rtlCol="0" anchor="ctr"/>
          <a:lstStyle/>
          <a:p>
            <a:pPr algn="l" indent="0" marL="0">
              <a:buNone/>
            </a:pPr>
            <a:r>
              <a:rPr lang="en-US" sz="3800" b="1" dirty="0">
                <a:solidFill>
                  <a:srgbClr val="5B6478"/>
                </a:solidFill>
                <a:latin typeface="Arial" pitchFamily="34" charset="0"/>
                <a:ea typeface="Arial" pitchFamily="34" charset="-122"/>
                <a:cs typeface="Arial" pitchFamily="34" charset="-120"/>
              </a:rPr>
              <a:t>2,800+</a:t>
            </a:r>
            <a:endParaRPr lang="en-US" sz="3800" dirty="0"/>
          </a:p>
        </p:txBody>
      </p:sp>
      <p:sp>
        <p:nvSpPr>
          <p:cNvPr id="15" name="Text 13"/>
          <p:cNvSpPr txBox="1"/>
          <p:nvPr/>
        </p:nvSpPr>
        <p:spPr>
          <a:xfrm>
            <a:off x="9322079" y="2286000"/>
            <a:ext cx="2046656" cy="566928"/>
          </a:xfrm>
          <a:prstGeom prst="rect">
            <a:avLst/>
          </a:prstGeom>
          <a:noFill/>
          <a:ln/>
        </p:spPr>
        <p:txBody>
          <a:bodyPr wrap="square" lIns="0" tIns="0" rIns="0" bIns="0" rtlCol="0" anchor="ctr"/>
          <a:lstStyle/>
          <a:p>
            <a:pPr algn="l" indent="0" marL="0">
              <a:buNone/>
            </a:pPr>
            <a:r>
              <a:rPr lang="en-US" sz="1200" dirty="0">
                <a:solidFill>
                  <a:srgbClr val="5B6478"/>
                </a:solidFill>
                <a:latin typeface="Arial" pitchFamily="34" charset="0"/>
                <a:ea typeface="Arial" pitchFamily="34" charset="-122"/>
                <a:cs typeface="Arial" pitchFamily="34" charset="-120"/>
              </a:rPr>
              <a:t>Pyth feeds — built for</a:t>
            </a:r>
            <a:endParaRPr lang="en-US" sz="1200" dirty="0"/>
          </a:p>
          <a:p>
            <a:pPr algn="l" indent="0" marL="0">
              <a:buNone/>
            </a:pPr>
            <a:r>
              <a:rPr lang="en-US" sz="1200" dirty="0">
                <a:solidFill>
                  <a:srgbClr val="5B6478"/>
                </a:solidFill>
                <a:latin typeface="Arial" pitchFamily="34" charset="0"/>
                <a:ea typeface="Arial" pitchFamily="34" charset="-122"/>
                <a:cs typeface="Arial" pitchFamily="34" charset="-120"/>
              </a:rPr>
              <a:t>observed market prices</a:t>
            </a:r>
            <a:endParaRPr lang="en-US" sz="1200" dirty="0"/>
          </a:p>
        </p:txBody>
      </p:sp>
      <p:sp>
        <p:nvSpPr>
          <p:cNvPr id="16" name="Shape 14"/>
          <p:cNvSpPr/>
          <p:nvPr/>
        </p:nvSpPr>
        <p:spPr>
          <a:xfrm>
            <a:off x="566928" y="3291840"/>
            <a:ext cx="5431536" cy="2798064"/>
          </a:xfrm>
          <a:prstGeom prst="roundRect">
            <a:avLst>
              <a:gd name="adj" fmla="val 2288"/>
            </a:avLst>
          </a:prstGeom>
          <a:solidFill>
            <a:srgbClr val="F6F5FB"/>
          </a:solidFill>
          <a:ln w="12700">
            <a:solidFill>
              <a:srgbClr val="E2E0EC"/>
            </a:solidFill>
            <a:prstDash val="solid"/>
          </a:ln>
        </p:spPr>
      </p:sp>
      <p:sp>
        <p:nvSpPr>
          <p:cNvPr id="17" name="Text 15"/>
          <p:cNvSpPr txBox="1"/>
          <p:nvPr/>
        </p:nvSpPr>
        <p:spPr>
          <a:xfrm>
            <a:off x="859536" y="3493008"/>
            <a:ext cx="4846320" cy="310896"/>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Why now</a:t>
            </a:r>
            <a:endParaRPr lang="en-US" sz="1700" dirty="0"/>
          </a:p>
        </p:txBody>
      </p:sp>
      <p:sp>
        <p:nvSpPr>
          <p:cNvPr id="18" name="Text 16"/>
          <p:cNvSpPr txBox="1"/>
          <p:nvPr/>
        </p:nvSpPr>
        <p:spPr>
          <a:xfrm>
            <a:off x="859536" y="3877056"/>
            <a:ext cx="4846320" cy="201168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50" dirty="0">
                <a:solidFill>
                  <a:srgbClr val="0F172A"/>
                </a:solidFill>
                <a:latin typeface="Arial" pitchFamily="34" charset="0"/>
                <a:ea typeface="Arial" pitchFamily="34" charset="-122"/>
                <a:cs typeface="Arial" pitchFamily="34" charset="-120"/>
              </a:rPr>
              <a:t>A design partner has the problem today, with a deadline — Pyth has already asked.</a:t>
            </a:r>
            <a:endParaRPr lang="en-US" sz="1250" dirty="0"/>
          </a:p>
          <a:p>
            <a:pPr marL="342900" indent="-342900">
              <a:lnSpc>
                <a:spcPts val="1600"/>
              </a:lnSpc>
              <a:spcAft>
                <a:spcPts val="700"/>
              </a:spcAft>
              <a:buSzPct val="100000"/>
              <a:buChar char="•"/>
            </a:pPr>
            <a:r>
              <a:rPr lang="en-US" sz="1250" dirty="0">
                <a:solidFill>
                  <a:srgbClr val="0F172A"/>
                </a:solidFill>
                <a:latin typeface="Arial" pitchFamily="34" charset="0"/>
                <a:ea typeface="Arial" pitchFamily="34" charset="-122"/>
                <a:cs typeface="Arial" pitchFamily="34" charset="-120"/>
              </a:rPr>
              <a:t>Hylo V2's xAsset Engine multiplies 4 feeds into 4 × N.</a:t>
            </a:r>
            <a:endParaRPr lang="en-US" sz="1250" dirty="0"/>
          </a:p>
          <a:p>
            <a:pPr marL="342900" indent="-342900">
              <a:lnSpc>
                <a:spcPts val="1600"/>
              </a:lnSpc>
              <a:spcAft>
                <a:spcPts val="700"/>
              </a:spcAft>
              <a:buSzPct val="100000"/>
              <a:buChar char="•"/>
            </a:pPr>
            <a:r>
              <a:rPr lang="en-US" sz="1250" dirty="0">
                <a:solidFill>
                  <a:srgbClr val="0F172A"/>
                </a:solidFill>
                <a:latin typeface="Arial" pitchFamily="34" charset="0"/>
                <a:ea typeface="Arial" pitchFamily="34" charset="-122"/>
                <a:cs typeface="Arial" pitchFamily="34" charset="-120"/>
              </a:rPr>
              <a:t>Solana RWA quadrupled in six months, and it is NAV-priced by definition.</a:t>
            </a:r>
            <a:endParaRPr lang="en-US" sz="1250" dirty="0"/>
          </a:p>
          <a:p>
            <a:pPr marL="342900" indent="-342900">
              <a:lnSpc>
                <a:spcPts val="1600"/>
              </a:lnSpc>
              <a:spcAft>
                <a:spcPts val="700"/>
              </a:spcAft>
              <a:buSzPct val="100000"/>
              <a:buChar char="•"/>
            </a:pPr>
            <a:r>
              <a:rPr lang="en-US" sz="1250" dirty="0">
                <a:solidFill>
                  <a:srgbClr val="0F172A"/>
                </a:solidFill>
                <a:latin typeface="Arial" pitchFamily="34" charset="0"/>
                <a:ea typeface="Arial" pitchFamily="34" charset="-122"/>
                <a:cs typeface="Arial" pitchFamily="34" charset="-120"/>
              </a:rPr>
              <a:t>The Foundation is standardising the neighbouring layer (sRFC 40) right now.</a:t>
            </a:r>
            <a:endParaRPr lang="en-US" sz="1250" dirty="0"/>
          </a:p>
          <a:p>
            <a:pPr marL="342900" indent="-342900">
              <a:lnSpc>
                <a:spcPts val="1600"/>
              </a:lnSpc>
              <a:spcAft>
                <a:spcPts val="700"/>
              </a:spcAft>
              <a:buSzPct val="100000"/>
              <a:buChar char="•"/>
            </a:pPr>
            <a:r>
              <a:rPr lang="en-US" sz="1250" dirty="0">
                <a:solidFill>
                  <a:srgbClr val="0F172A"/>
                </a:solidFill>
                <a:latin typeface="Arial" pitchFamily="34" charset="0"/>
                <a:ea typeface="Arial" pitchFamily="34" charset="-122"/>
                <a:cs typeface="Arial" pitchFamily="34" charset="-120"/>
              </a:rPr>
              <a:t>Colosseum runs 28 Sep – 2 Nov 2026.</a:t>
            </a:r>
            <a:endParaRPr lang="en-US" sz="1250" dirty="0"/>
          </a:p>
        </p:txBody>
      </p:sp>
      <p:sp>
        <p:nvSpPr>
          <p:cNvPr id="19" name="Shape 17"/>
          <p:cNvSpPr/>
          <p:nvPr/>
        </p:nvSpPr>
        <p:spPr>
          <a:xfrm>
            <a:off x="6199632" y="3291840"/>
            <a:ext cx="5431536" cy="2798064"/>
          </a:xfrm>
          <a:prstGeom prst="roundRect">
            <a:avLst>
              <a:gd name="adj" fmla="val 2288"/>
            </a:avLst>
          </a:prstGeom>
          <a:solidFill>
            <a:srgbClr val="241E45"/>
          </a:solidFill>
          <a:ln w="12700">
            <a:solidFill>
              <a:srgbClr val="241E45"/>
            </a:solidFill>
            <a:prstDash val="solid"/>
          </a:ln>
        </p:spPr>
      </p:sp>
      <p:sp>
        <p:nvSpPr>
          <p:cNvPr id="20" name="Text 18"/>
          <p:cNvSpPr txBox="1"/>
          <p:nvPr/>
        </p:nvSpPr>
        <p:spPr>
          <a:xfrm>
            <a:off x="6492240" y="3493008"/>
            <a:ext cx="4846320" cy="310896"/>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The honest version</a:t>
            </a:r>
            <a:endParaRPr lang="en-US" sz="1700" dirty="0"/>
          </a:p>
        </p:txBody>
      </p:sp>
      <p:sp>
        <p:nvSpPr>
          <p:cNvPr id="21" name="Text 19"/>
          <p:cNvSpPr txBox="1"/>
          <p:nvPr/>
        </p:nvSpPr>
        <p:spPr>
          <a:xfrm>
            <a:off x="6492240" y="3877056"/>
            <a:ext cx="4846320" cy="2011680"/>
          </a:xfrm>
          <a:prstGeom prst="rect">
            <a:avLst/>
          </a:prstGeom>
          <a:noFill/>
          <a:ln/>
        </p:spPr>
        <p:txBody>
          <a:bodyPr wrap="square" lIns="0" tIns="0" rIns="0" bIns="0" rtlCol="0" anchor="ctr"/>
          <a:lstStyle/>
          <a:p>
            <a:pPr indent="0" marL="0">
              <a:lnSpc>
                <a:spcPts val="1600"/>
              </a:lnSpc>
              <a:buNone/>
            </a:pPr>
            <a:r>
              <a:rPr lang="en-US" sz="1200" dirty="0">
                <a:solidFill>
                  <a:srgbClr val="B4ADD4"/>
                </a:solidFill>
                <a:latin typeface="Arial" pitchFamily="34" charset="0"/>
                <a:ea typeface="Arial" pitchFamily="34" charset="-122"/>
                <a:cs typeface="Arial" pitchFamily="34" charset="-120"/>
              </a:rPr>
              <a:t>Standards do not monetise. Realistic year-one revenue is low six figures at best, from services beside a permanently free standard — custom adapters, managed keeper infrastructure, reviews. There is no token and there will not be one.</a:t>
            </a:r>
            <a:endParaRPr lang="en-US" sz="1200" dirty="0"/>
          </a:p>
          <a:p>
            <a:pPr indent="0" marL="0">
              <a:lnSpc>
                <a:spcPts val="1600"/>
              </a:lnSpc>
              <a:buNone/>
            </a:pPr>
            <a:endParaRPr lang="en-US" sz="1200" dirty="0"/>
          </a:p>
          <a:p>
            <a:pPr indent="0" marL="0">
              <a:lnSpc>
                <a:spcPts val="1600"/>
              </a:lnSpc>
              <a:buNone/>
            </a:pPr>
            <a:r>
              <a:rPr lang="en-US" sz="1200" dirty="0">
                <a:solidFill>
                  <a:srgbClr val="B4ADD4"/>
                </a:solidFill>
                <a:latin typeface="Arial" pitchFamily="34" charset="0"/>
                <a:ea typeface="Arial" pitchFamily="34" charset="-122"/>
                <a:cs typeface="Arial" pitchFamily="34" charset="-120"/>
              </a:rPr>
              <a:t>The return here is position, not revenue: authoring the valuation interface Solana adopts, with live feeds and a named partner, while the Foundation is standardising next door. Cost to find out: under $500 to deploy and $50–150 a month to run.</a:t>
            </a:r>
            <a:endParaRPr lang="en-US" sz="1200" dirty="0"/>
          </a:p>
        </p:txBody>
      </p:sp>
      <p:sp>
        <p:nvSpPr>
          <p:cNvPr id="22" name="Text 20"/>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LANDSCAPE</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Nobody does this as an open interface</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1691640"/>
                <a:gridCol w="3200400"/>
                <a:gridCol w="6165799"/>
              </a:tblGrid>
              <a:tr h="603504">
                <a:tc>
                  <a:txBody>
                    <a:bodyPr/>
                    <a:lstStyle/>
                    <a:p>
                      <a:pPr indent="0" marL="0">
                        <a:buNone/>
                      </a:pPr>
                      <a:r>
                        <a:rPr lang="en-US" sz="1150" b="1" dirty="0">
                          <a:solidFill>
                            <a:srgbClr val="FFFFFF"/>
                          </a:solidFill>
                          <a:latin typeface="Arial" pitchFamily="34" charset="0"/>
                          <a:ea typeface="Arial" pitchFamily="34" charset="-122"/>
                          <a:cs typeface="Arial" pitchFamily="34" charset="-120"/>
                        </a:rPr>
                        <a:t>Player</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What it is</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Why SVI is not redundant</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r>
              <a:tr h="603504">
                <a:tc>
                  <a:txBody>
                    <a:bodyPr/>
                    <a:lstStyle/>
                    <a:p>
                      <a:pPr indent="0" marL="0">
                        <a:buNone/>
                      </a:pPr>
                      <a:r>
                        <a:rPr lang="en-US" sz="1100" b="1" dirty="0">
                          <a:solidFill>
                            <a:srgbClr val="0F172A"/>
                          </a:solidFill>
                          <a:latin typeface="Arial" pitchFamily="34" charset="0"/>
                          <a:ea typeface="Arial" pitchFamily="34" charset="-122"/>
                          <a:cs typeface="Arial" pitchFamily="34" charset="-120"/>
                        </a:rPr>
                        <a:t>Pyth</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Push/pull oracle, 2,800+ feeds, 128 publishers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Customer, not competitor. Built for observed market prices — it has no mechanism for reproducible protocol NAV, which is why it is asking Hylo for an API.</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603504">
                <a:tc>
                  <a:txBody>
                    <a:bodyPr/>
                    <a:lstStyle/>
                    <a:p>
                      <a:pPr indent="0" marL="0">
                        <a:buNone/>
                      </a:pPr>
                      <a:r>
                        <a:rPr lang="en-US" sz="1100" b="1" dirty="0">
                          <a:solidFill>
                            <a:srgbClr val="0F172A"/>
                          </a:solidFill>
                          <a:latin typeface="Arial" pitchFamily="34" charset="0"/>
                          <a:ea typeface="Arial" pitchFamily="34" charset="-122"/>
                          <a:cs typeface="Arial" pitchFamily="34" charset="-120"/>
                        </a:rPr>
                        <a:t>Switchboard</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Permissionless custom feeds, TEE-executed jobs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Real overlap, but the math still runs off-chain in an enclave. You trade 'trust the API' for 'trust the enclave and the job definition'.</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603504">
                <a:tc>
                  <a:txBody>
                    <a:bodyPr/>
                    <a:lstStyle/>
                    <a:p>
                      <a:pPr indent="0" marL="0">
                        <a:buNone/>
                      </a:pPr>
                      <a:r>
                        <a:rPr lang="en-US" sz="1100" b="1" dirty="0">
                          <a:solidFill>
                            <a:srgbClr val="0F172A"/>
                          </a:solidFill>
                          <a:latin typeface="Arial" pitchFamily="34" charset="0"/>
                          <a:ea typeface="Arial" pitchFamily="34" charset="-122"/>
                          <a:cs typeface="Arial" pitchFamily="34" charset="-120"/>
                        </a:rPr>
                        <a:t>Kamino Scope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Oracle aggregator, ~40 asset-specific valuation types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Closest analogue and proof the adapter model works — but it is Kamino's internal component, curated by and for Kamino. A consumer target, not a rival.</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603504">
                <a:tc>
                  <a:txBody>
                    <a:bodyPr/>
                    <a:lstStyle/>
                    <a:p>
                      <a:pPr indent="0" marL="0">
                        <a:buNone/>
                      </a:pPr>
                      <a:r>
                        <a:rPr lang="en-US" sz="1100" b="1" dirty="0">
                          <a:solidFill>
                            <a:srgbClr val="0F172A"/>
                          </a:solidFill>
                          <a:latin typeface="Arial" pitchFamily="34" charset="0"/>
                          <a:ea typeface="Arial" pitchFamily="34" charset="-122"/>
                          <a:cs typeface="Arial" pitchFamily="34" charset="-120"/>
                        </a:rPr>
                        <a:t>Blueshift Doppler</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Ultra-efficient price publishing primitive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Transport, not semantics. It makes writing a number cheap; it says nothing about where the number came from.</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603504">
                <a:tc>
                  <a:txBody>
                    <a:bodyPr/>
                    <a:lstStyle/>
                    <a:p>
                      <a:pPr indent="0" marL="0">
                        <a:buNone/>
                      </a:pPr>
                      <a:r>
                        <a:rPr lang="en-US" sz="1100" b="1" dirty="0">
                          <a:solidFill>
                            <a:srgbClr val="0F172A"/>
                          </a:solidFill>
                          <a:latin typeface="Arial" pitchFamily="34" charset="0"/>
                          <a:ea typeface="Arial" pitchFamily="34" charset="-122"/>
                          <a:cs typeface="Arial" pitchFamily="34" charset="-120"/>
                        </a:rPr>
                        <a:t>sRFC 40</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Foundation + Exo vault standard, NAV-settled flows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The one genuine strategic risk. Response is to contribute into it, not compete — and to cover what vaults don't: leveraged tokens, backing NAV, redemption, receipt tokens.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603504">
                <a:tc>
                  <a:txBody>
                    <a:bodyPr/>
                    <a:lstStyle/>
                    <a:p>
                      <a:pPr indent="0" marL="0">
                        <a:buNone/>
                      </a:pPr>
                      <a:r>
                        <a:rPr lang="en-US" sz="1100" b="1" dirty="0">
                          <a:solidFill>
                            <a:srgbClr val="0F172A"/>
                          </a:solidFill>
                          <a:latin typeface="Arial" pitchFamily="34" charset="0"/>
                          <a:ea typeface="Arial" pitchFamily="34" charset="-122"/>
                          <a:cs typeface="Arial" pitchFamily="34" charset="-120"/>
                        </a:rPr>
                        <a:t>Chainlink NAV</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Brings off-chain fund NAV on-chain for RWAs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Opposite direction: it transports NAV computed off-chain by a fund administrator. SVI computes NAV from on-chain state.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bl>
          </a:graphicData>
        </a:graphic>
      </p:graphicFrame>
      <p:sp>
        <p:nvSpPr>
          <p:cNvPr id="5" name="Text 2"/>
          <p:cNvSpPr txBox="1"/>
          <p:nvPr/>
        </p:nvSpPr>
        <p:spPr>
          <a:xfrm>
            <a:off x="566928" y="5852160"/>
            <a:ext cx="11057839" cy="548640"/>
          </a:xfrm>
          <a:prstGeom prst="rect">
            <a:avLst/>
          </a:prstGeom>
          <a:noFill/>
          <a:ln/>
        </p:spPr>
        <p:txBody>
          <a:bodyPr wrap="square" lIns="0" tIns="0" rIns="0" bIns="0" rtlCol="0" anchor="ctr"/>
          <a:lstStyle/>
          <a:p>
            <a:pPr indent="0" marL="0">
              <a:lnSpc>
                <a:spcPts val="1600"/>
              </a:lnSpc>
              <a:buNone/>
            </a:pPr>
            <a:r>
              <a:rPr lang="en-US" sz="1200" i="1" dirty="0">
                <a:solidFill>
                  <a:srgbClr val="5B6478"/>
                </a:solidFill>
                <a:latin typeface="Arial" pitchFamily="34" charset="0"/>
                <a:ea typeface="Arial" pitchFamily="34" charset="-122"/>
                <a:cs typeface="Arial" pitchFamily="34" charset="-120"/>
              </a:rPr>
              <a:t>The honest read: there is no one doing exactly this, and that is not because it is hard — it is because it does not obviously monetise. Kamino, Switchboard and Blueshift could each build it in weeks. The defensible assets are methodology specs, audits, track record and partner relationships — not code.</a:t>
            </a:r>
            <a:endParaRPr lang="en-US" sz="1200" dirty="0"/>
          </a:p>
        </p:txBody>
      </p:sp>
      <p:sp>
        <p:nvSpPr>
          <p:cNvPr id="6" name="Text 3"/>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B"/>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GO-TO-MARKET</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Six stages, each with a gate before the next</a:t>
            </a:r>
            <a:endParaRPr lang="en-US" sz="3200" dirty="0"/>
          </a:p>
        </p:txBody>
      </p:sp>
      <p:sp>
        <p:nvSpPr>
          <p:cNvPr id="4" name="Shape 2"/>
          <p:cNvSpPr/>
          <p:nvPr/>
        </p:nvSpPr>
        <p:spPr>
          <a:xfrm>
            <a:off x="475488" y="1353312"/>
            <a:ext cx="11240719" cy="713232"/>
          </a:xfrm>
          <a:prstGeom prst="roundRect">
            <a:avLst>
              <a:gd name="adj" fmla="val 8974"/>
            </a:avLst>
          </a:prstGeom>
          <a:solidFill>
            <a:srgbClr val="EFE9FE"/>
          </a:solidFill>
          <a:ln w="12700">
            <a:solidFill>
              <a:srgbClr val="C4B5FD"/>
            </a:solidFill>
            <a:prstDash val="solid"/>
          </a:ln>
        </p:spPr>
      </p:sp>
      <p:sp>
        <p:nvSpPr>
          <p:cNvPr id="5" name="Shape 3"/>
          <p:cNvSpPr/>
          <p:nvPr/>
        </p:nvSpPr>
        <p:spPr>
          <a:xfrm>
            <a:off x="566928" y="1481328"/>
            <a:ext cx="457200" cy="457200"/>
          </a:xfrm>
          <a:prstGeom prst="ellipse">
            <a:avLst/>
          </a:prstGeom>
          <a:solidFill>
            <a:srgbClr val="7C3AED"/>
          </a:solidFill>
          <a:ln/>
        </p:spPr>
      </p:sp>
      <p:sp>
        <p:nvSpPr>
          <p:cNvPr id="6" name="Text 4"/>
          <p:cNvSpPr txBox="1"/>
          <p:nvPr/>
        </p:nvSpPr>
        <p:spPr>
          <a:xfrm>
            <a:off x="566928" y="1554480"/>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7" name="Text 5"/>
          <p:cNvSpPr txBox="1"/>
          <p:nvPr/>
        </p:nvSpPr>
        <p:spPr>
          <a:xfrm>
            <a:off x="1225296" y="1554480"/>
            <a:ext cx="2377440" cy="310896"/>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Spec, co-signed</a:t>
            </a:r>
            <a:endParaRPr lang="en-US" sz="1550" dirty="0"/>
          </a:p>
        </p:txBody>
      </p:sp>
      <p:sp>
        <p:nvSpPr>
          <p:cNvPr id="8" name="Text 6"/>
          <p:cNvSpPr txBox="1"/>
          <p:nvPr/>
        </p:nvSpPr>
        <p:spPr>
          <a:xfrm>
            <a:off x="3694176" y="1572768"/>
            <a:ext cx="5852160" cy="310896"/>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Hylo answers Q1–Q5. Methodology frozen and hashed.</a:t>
            </a:r>
            <a:endParaRPr lang="en-US" sz="1200" dirty="0"/>
          </a:p>
        </p:txBody>
      </p:sp>
      <p:sp>
        <p:nvSpPr>
          <p:cNvPr id="9" name="Text 7"/>
          <p:cNvSpPr txBox="1"/>
          <p:nvPr/>
        </p:nvSpPr>
        <p:spPr>
          <a:xfrm>
            <a:off x="9619488" y="1554480"/>
            <a:ext cx="2002536" cy="310896"/>
          </a:xfrm>
          <a:prstGeom prst="rect">
            <a:avLst/>
          </a:prstGeom>
          <a:noFill/>
          <a:ln/>
        </p:spPr>
        <p:txBody>
          <a:bodyPr wrap="square" lIns="0" tIns="0" rIns="0" bIns="0" rtlCol="0" anchor="ctr"/>
          <a:lstStyle/>
          <a:p>
            <a:pPr algn="r" indent="0" marL="0">
              <a:buNone/>
            </a:pPr>
            <a:r>
              <a:rPr lang="en-US" sz="1250" b="1" dirty="0">
                <a:solidFill>
                  <a:srgbClr val="7C3AED"/>
                </a:solidFill>
                <a:latin typeface="Arial" pitchFamily="34" charset="0"/>
                <a:ea typeface="Arial" pitchFamily="34" charset="-122"/>
                <a:cs typeface="Arial" pitchFamily="34" charset="-120"/>
              </a:rPr>
              <a:t>NOW — the entire ask</a:t>
            </a:r>
            <a:endParaRPr lang="en-US" sz="1250" dirty="0"/>
          </a:p>
        </p:txBody>
      </p:sp>
      <p:sp>
        <p:nvSpPr>
          <p:cNvPr id="10" name="Shape 8"/>
          <p:cNvSpPr/>
          <p:nvPr/>
        </p:nvSpPr>
        <p:spPr>
          <a:xfrm>
            <a:off x="566928" y="2203704"/>
            <a:ext cx="457200" cy="457200"/>
          </a:xfrm>
          <a:prstGeom prst="ellipse">
            <a:avLst/>
          </a:prstGeom>
          <a:solidFill>
            <a:srgbClr val="D7D4E4"/>
          </a:solidFill>
          <a:ln/>
        </p:spPr>
      </p:sp>
      <p:sp>
        <p:nvSpPr>
          <p:cNvPr id="11" name="Text 9"/>
          <p:cNvSpPr txBox="1"/>
          <p:nvPr/>
        </p:nvSpPr>
        <p:spPr>
          <a:xfrm>
            <a:off x="566928" y="2276856"/>
            <a:ext cx="457200" cy="329184"/>
          </a:xfrm>
          <a:prstGeom prst="rect">
            <a:avLst/>
          </a:prstGeom>
          <a:noFill/>
          <a:ln/>
        </p:spPr>
        <p:txBody>
          <a:bodyPr wrap="square" lIns="0" tIns="0" rIns="0" bIns="0" rtlCol="0" anchor="ctr"/>
          <a:lstStyle/>
          <a:p>
            <a:pPr algn="ctr" indent="0" marL="0">
              <a:buNone/>
            </a:pPr>
            <a:r>
              <a:rPr lang="en-US" sz="1600" b="1" dirty="0">
                <a:solidFill>
                  <a:srgbClr val="5B6478"/>
                </a:solidFill>
                <a:latin typeface="Arial" pitchFamily="34" charset="0"/>
                <a:ea typeface="Arial" pitchFamily="34" charset="-122"/>
                <a:cs typeface="Arial" pitchFamily="34" charset="-120"/>
              </a:rPr>
              <a:t>1</a:t>
            </a:r>
            <a:endParaRPr lang="en-US" sz="1600" dirty="0"/>
          </a:p>
        </p:txBody>
      </p:sp>
      <p:sp>
        <p:nvSpPr>
          <p:cNvPr id="12" name="Text 10"/>
          <p:cNvSpPr txBox="1"/>
          <p:nvPr/>
        </p:nvSpPr>
        <p:spPr>
          <a:xfrm>
            <a:off x="1225296" y="2276856"/>
            <a:ext cx="2377440" cy="310896"/>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Devnet</a:t>
            </a:r>
            <a:endParaRPr lang="en-US" sz="1550" dirty="0"/>
          </a:p>
        </p:txBody>
      </p:sp>
      <p:sp>
        <p:nvSpPr>
          <p:cNvPr id="13" name="Text 11"/>
          <p:cNvSpPr txBox="1"/>
          <p:nvPr/>
        </p:nvSpPr>
        <p:spPr>
          <a:xfrm>
            <a:off x="3694176" y="2295144"/>
            <a:ext cx="5852160" cy="310896"/>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Adapter live. Differential test vs hylo-core over 1,000+ randomised states.</a:t>
            </a:r>
            <a:endParaRPr lang="en-US" sz="1200" dirty="0"/>
          </a:p>
        </p:txBody>
      </p:sp>
      <p:sp>
        <p:nvSpPr>
          <p:cNvPr id="14" name="Text 12"/>
          <p:cNvSpPr txBox="1"/>
          <p:nvPr/>
        </p:nvSpPr>
        <p:spPr>
          <a:xfrm>
            <a:off x="9619488" y="2276856"/>
            <a:ext cx="2002536" cy="310896"/>
          </a:xfrm>
          <a:prstGeom prst="rect">
            <a:avLst/>
          </a:prstGeom>
          <a:noFill/>
          <a:ln/>
        </p:spPr>
        <p:txBody>
          <a:bodyPr wrap="square" lIns="0" tIns="0" rIns="0" bIns="0" rtlCol="0" anchor="ctr"/>
          <a:lstStyle/>
          <a:p>
            <a:pPr algn="r" indent="0" marL="0">
              <a:buNone/>
            </a:pPr>
            <a:r>
              <a:rPr lang="en-US" sz="1250" b="1" dirty="0">
                <a:solidFill>
                  <a:srgbClr val="5B6478"/>
                </a:solidFill>
                <a:latin typeface="Arial" pitchFamily="34" charset="0"/>
                <a:ea typeface="Arial" pitchFamily="34" charset="-122"/>
                <a:cs typeface="Arial" pitchFamily="34" charset="-120"/>
              </a:rPr>
              <a:t>~3 weeks</a:t>
            </a:r>
            <a:endParaRPr lang="en-US" sz="1250" dirty="0"/>
          </a:p>
        </p:txBody>
      </p:sp>
      <p:sp>
        <p:nvSpPr>
          <p:cNvPr id="15" name="Shape 13"/>
          <p:cNvSpPr/>
          <p:nvPr/>
        </p:nvSpPr>
        <p:spPr>
          <a:xfrm>
            <a:off x="566928" y="2926080"/>
            <a:ext cx="457200" cy="457200"/>
          </a:xfrm>
          <a:prstGeom prst="ellipse">
            <a:avLst/>
          </a:prstGeom>
          <a:solidFill>
            <a:srgbClr val="D7D4E4"/>
          </a:solidFill>
          <a:ln/>
        </p:spPr>
      </p:sp>
      <p:sp>
        <p:nvSpPr>
          <p:cNvPr id="16" name="Text 14"/>
          <p:cNvSpPr txBox="1"/>
          <p:nvPr/>
        </p:nvSpPr>
        <p:spPr>
          <a:xfrm>
            <a:off x="566928" y="2999232"/>
            <a:ext cx="457200" cy="329184"/>
          </a:xfrm>
          <a:prstGeom prst="rect">
            <a:avLst/>
          </a:prstGeom>
          <a:noFill/>
          <a:ln/>
        </p:spPr>
        <p:txBody>
          <a:bodyPr wrap="square" lIns="0" tIns="0" rIns="0" bIns="0" rtlCol="0" anchor="ctr"/>
          <a:lstStyle/>
          <a:p>
            <a:pPr algn="ctr" indent="0" marL="0">
              <a:buNone/>
            </a:pPr>
            <a:r>
              <a:rPr lang="en-US" sz="1600" b="1" dirty="0">
                <a:solidFill>
                  <a:srgbClr val="5B6478"/>
                </a:solidFill>
                <a:latin typeface="Arial" pitchFamily="34" charset="0"/>
                <a:ea typeface="Arial" pitchFamily="34" charset="-122"/>
                <a:cs typeface="Arial" pitchFamily="34" charset="-120"/>
              </a:rPr>
              <a:t>2</a:t>
            </a:r>
            <a:endParaRPr lang="en-US" sz="1600" dirty="0"/>
          </a:p>
        </p:txBody>
      </p:sp>
      <p:sp>
        <p:nvSpPr>
          <p:cNvPr id="17" name="Text 15"/>
          <p:cNvSpPr txBox="1"/>
          <p:nvPr/>
        </p:nvSpPr>
        <p:spPr>
          <a:xfrm>
            <a:off x="1225296" y="2999232"/>
            <a:ext cx="2377440" cy="310896"/>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Mainnet + mirror</a:t>
            </a:r>
            <a:endParaRPr lang="en-US" sz="1550" dirty="0"/>
          </a:p>
        </p:txBody>
      </p:sp>
      <p:sp>
        <p:nvSpPr>
          <p:cNvPr id="18" name="Text 16"/>
          <p:cNvSpPr txBox="1"/>
          <p:nvPr/>
        </p:nvSpPr>
        <p:spPr>
          <a:xfrm>
            <a:off x="3694176" y="3017520"/>
            <a:ext cx="5852160" cy="310896"/>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4 feeds live. Mirror serves Pyth's schema and does zero arithmetic.</a:t>
            </a:r>
            <a:endParaRPr lang="en-US" sz="1200" dirty="0"/>
          </a:p>
        </p:txBody>
      </p:sp>
      <p:sp>
        <p:nvSpPr>
          <p:cNvPr id="19" name="Text 17"/>
          <p:cNvSpPr txBox="1"/>
          <p:nvPr/>
        </p:nvSpPr>
        <p:spPr>
          <a:xfrm>
            <a:off x="9619488" y="2999232"/>
            <a:ext cx="2002536" cy="310896"/>
          </a:xfrm>
          <a:prstGeom prst="rect">
            <a:avLst/>
          </a:prstGeom>
          <a:noFill/>
          <a:ln/>
        </p:spPr>
        <p:txBody>
          <a:bodyPr wrap="square" lIns="0" tIns="0" rIns="0" bIns="0" rtlCol="0" anchor="ctr"/>
          <a:lstStyle/>
          <a:p>
            <a:pPr algn="r" indent="0" marL="0">
              <a:buNone/>
            </a:pPr>
            <a:r>
              <a:rPr lang="en-US" sz="1250" b="1" dirty="0">
                <a:solidFill>
                  <a:srgbClr val="5B6478"/>
                </a:solidFill>
                <a:latin typeface="Arial" pitchFamily="34" charset="0"/>
                <a:ea typeface="Arial" pitchFamily="34" charset="-122"/>
                <a:cs typeface="Arial" pitchFamily="34" charset="-120"/>
              </a:rPr>
              <a:t>~6 weeks</a:t>
            </a:r>
            <a:endParaRPr lang="en-US" sz="1250" dirty="0"/>
          </a:p>
        </p:txBody>
      </p:sp>
      <p:sp>
        <p:nvSpPr>
          <p:cNvPr id="20" name="Shape 18"/>
          <p:cNvSpPr/>
          <p:nvPr/>
        </p:nvSpPr>
        <p:spPr>
          <a:xfrm>
            <a:off x="566928" y="3648456"/>
            <a:ext cx="457200" cy="457200"/>
          </a:xfrm>
          <a:prstGeom prst="ellipse">
            <a:avLst/>
          </a:prstGeom>
          <a:solidFill>
            <a:srgbClr val="D7D4E4"/>
          </a:solidFill>
          <a:ln/>
        </p:spPr>
      </p:sp>
      <p:sp>
        <p:nvSpPr>
          <p:cNvPr id="21" name="Text 19"/>
          <p:cNvSpPr txBox="1"/>
          <p:nvPr/>
        </p:nvSpPr>
        <p:spPr>
          <a:xfrm>
            <a:off x="566928" y="3721608"/>
            <a:ext cx="457200" cy="329184"/>
          </a:xfrm>
          <a:prstGeom prst="rect">
            <a:avLst/>
          </a:prstGeom>
          <a:noFill/>
          <a:ln/>
        </p:spPr>
        <p:txBody>
          <a:bodyPr wrap="square" lIns="0" tIns="0" rIns="0" bIns="0" rtlCol="0" anchor="ctr"/>
          <a:lstStyle/>
          <a:p>
            <a:pPr algn="ctr" indent="0" marL="0">
              <a:buNone/>
            </a:pPr>
            <a:r>
              <a:rPr lang="en-US" sz="1600" b="1" dirty="0">
                <a:solidFill>
                  <a:srgbClr val="5B6478"/>
                </a:solidFill>
                <a:latin typeface="Arial" pitchFamily="34" charset="0"/>
                <a:ea typeface="Arial" pitchFamily="34" charset="-122"/>
                <a:cs typeface="Arial" pitchFamily="34" charset="-120"/>
              </a:rPr>
              <a:t>3</a:t>
            </a:r>
            <a:endParaRPr lang="en-US" sz="1600" dirty="0"/>
          </a:p>
        </p:txBody>
      </p:sp>
      <p:sp>
        <p:nvSpPr>
          <p:cNvPr id="22" name="Text 20"/>
          <p:cNvSpPr txBox="1"/>
          <p:nvPr/>
        </p:nvSpPr>
        <p:spPr>
          <a:xfrm>
            <a:off x="1225296" y="3721608"/>
            <a:ext cx="2377440" cy="310896"/>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First consumer</a:t>
            </a:r>
            <a:endParaRPr lang="en-US" sz="1550" dirty="0"/>
          </a:p>
        </p:txBody>
      </p:sp>
      <p:sp>
        <p:nvSpPr>
          <p:cNvPr id="23" name="Text 21"/>
          <p:cNvSpPr txBox="1"/>
          <p:nvPr/>
        </p:nvSpPr>
        <p:spPr>
          <a:xfrm>
            <a:off x="3694176" y="3739896"/>
            <a:ext cx="5852160" cy="310896"/>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One protocol reads a quote account in production.</a:t>
            </a:r>
            <a:endParaRPr lang="en-US" sz="1200" dirty="0"/>
          </a:p>
        </p:txBody>
      </p:sp>
      <p:sp>
        <p:nvSpPr>
          <p:cNvPr id="24" name="Text 22"/>
          <p:cNvSpPr txBox="1"/>
          <p:nvPr/>
        </p:nvSpPr>
        <p:spPr>
          <a:xfrm>
            <a:off x="9619488" y="3721608"/>
            <a:ext cx="2002536" cy="310896"/>
          </a:xfrm>
          <a:prstGeom prst="rect">
            <a:avLst/>
          </a:prstGeom>
          <a:noFill/>
          <a:ln/>
        </p:spPr>
        <p:txBody>
          <a:bodyPr wrap="square" lIns="0" tIns="0" rIns="0" bIns="0" rtlCol="0" anchor="ctr"/>
          <a:lstStyle/>
          <a:p>
            <a:pPr algn="r" indent="0" marL="0">
              <a:buNone/>
            </a:pPr>
            <a:r>
              <a:rPr lang="en-US" sz="1250" b="1" dirty="0">
                <a:solidFill>
                  <a:srgbClr val="5B6478"/>
                </a:solidFill>
                <a:latin typeface="Arial" pitchFamily="34" charset="0"/>
                <a:ea typeface="Arial" pitchFamily="34" charset="-122"/>
                <a:cs typeface="Arial" pitchFamily="34" charset="-120"/>
              </a:rPr>
              <a:t>Q4 26 – Q1 27</a:t>
            </a:r>
            <a:endParaRPr lang="en-US" sz="1250" dirty="0"/>
          </a:p>
        </p:txBody>
      </p:sp>
      <p:sp>
        <p:nvSpPr>
          <p:cNvPr id="25" name="Shape 23"/>
          <p:cNvSpPr/>
          <p:nvPr/>
        </p:nvSpPr>
        <p:spPr>
          <a:xfrm>
            <a:off x="566928" y="4370832"/>
            <a:ext cx="457200" cy="457200"/>
          </a:xfrm>
          <a:prstGeom prst="ellipse">
            <a:avLst/>
          </a:prstGeom>
          <a:solidFill>
            <a:srgbClr val="D7D4E4"/>
          </a:solidFill>
          <a:ln/>
        </p:spPr>
      </p:sp>
      <p:sp>
        <p:nvSpPr>
          <p:cNvPr id="26" name="Text 24"/>
          <p:cNvSpPr txBox="1"/>
          <p:nvPr/>
        </p:nvSpPr>
        <p:spPr>
          <a:xfrm>
            <a:off x="566928" y="4443984"/>
            <a:ext cx="457200" cy="329184"/>
          </a:xfrm>
          <a:prstGeom prst="rect">
            <a:avLst/>
          </a:prstGeom>
          <a:noFill/>
          <a:ln/>
        </p:spPr>
        <p:txBody>
          <a:bodyPr wrap="square" lIns="0" tIns="0" rIns="0" bIns="0" rtlCol="0" anchor="ctr"/>
          <a:lstStyle/>
          <a:p>
            <a:pPr algn="ctr" indent="0" marL="0">
              <a:buNone/>
            </a:pPr>
            <a:r>
              <a:rPr lang="en-US" sz="1600" b="1" dirty="0">
                <a:solidFill>
                  <a:srgbClr val="5B6478"/>
                </a:solidFill>
                <a:latin typeface="Arial" pitchFamily="34" charset="0"/>
                <a:ea typeface="Arial" pitchFamily="34" charset="-122"/>
                <a:cs typeface="Arial" pitchFamily="34" charset="-120"/>
              </a:rPr>
              <a:t>4</a:t>
            </a:r>
            <a:endParaRPr lang="en-US" sz="1600" dirty="0"/>
          </a:p>
        </p:txBody>
      </p:sp>
      <p:sp>
        <p:nvSpPr>
          <p:cNvPr id="27" name="Text 25"/>
          <p:cNvSpPr txBox="1"/>
          <p:nvPr/>
        </p:nvSpPr>
        <p:spPr>
          <a:xfrm>
            <a:off x="1225296" y="4443984"/>
            <a:ext cx="2377440" cy="310896"/>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Adapter #2</a:t>
            </a:r>
            <a:endParaRPr lang="en-US" sz="1550" dirty="0"/>
          </a:p>
        </p:txBody>
      </p:sp>
      <p:sp>
        <p:nvSpPr>
          <p:cNvPr id="28" name="Text 26"/>
          <p:cNvSpPr txBox="1"/>
          <p:nvPr/>
        </p:nvSpPr>
        <p:spPr>
          <a:xfrm>
            <a:off x="3694176" y="4462272"/>
            <a:ext cx="5852160" cy="310896"/>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A second protocol ships with zero changes to core or math.</a:t>
            </a:r>
            <a:endParaRPr lang="en-US" sz="1200" dirty="0"/>
          </a:p>
        </p:txBody>
      </p:sp>
      <p:sp>
        <p:nvSpPr>
          <p:cNvPr id="29" name="Text 27"/>
          <p:cNvSpPr txBox="1"/>
          <p:nvPr/>
        </p:nvSpPr>
        <p:spPr>
          <a:xfrm>
            <a:off x="9619488" y="4443984"/>
            <a:ext cx="2002536" cy="310896"/>
          </a:xfrm>
          <a:prstGeom prst="rect">
            <a:avLst/>
          </a:prstGeom>
          <a:noFill/>
          <a:ln/>
        </p:spPr>
        <p:txBody>
          <a:bodyPr wrap="square" lIns="0" tIns="0" rIns="0" bIns="0" rtlCol="0" anchor="ctr"/>
          <a:lstStyle/>
          <a:p>
            <a:pPr algn="r" indent="0" marL="0">
              <a:buNone/>
            </a:pPr>
            <a:r>
              <a:rPr lang="en-US" sz="1250" b="1" dirty="0">
                <a:solidFill>
                  <a:srgbClr val="5B6478"/>
                </a:solidFill>
                <a:latin typeface="Arial" pitchFamily="34" charset="0"/>
                <a:ea typeface="Arial" pitchFamily="34" charset="-122"/>
                <a:cs typeface="Arial" pitchFamily="34" charset="-120"/>
              </a:rPr>
              <a:t>Q1 2027</a:t>
            </a:r>
            <a:endParaRPr lang="en-US" sz="1250" dirty="0"/>
          </a:p>
        </p:txBody>
      </p:sp>
      <p:sp>
        <p:nvSpPr>
          <p:cNvPr id="30" name="Shape 28"/>
          <p:cNvSpPr/>
          <p:nvPr/>
        </p:nvSpPr>
        <p:spPr>
          <a:xfrm>
            <a:off x="566928" y="5093208"/>
            <a:ext cx="457200" cy="457200"/>
          </a:xfrm>
          <a:prstGeom prst="ellipse">
            <a:avLst/>
          </a:prstGeom>
          <a:solidFill>
            <a:srgbClr val="D7D4E4"/>
          </a:solidFill>
          <a:ln/>
        </p:spPr>
      </p:sp>
      <p:sp>
        <p:nvSpPr>
          <p:cNvPr id="31" name="Text 29"/>
          <p:cNvSpPr txBox="1"/>
          <p:nvPr/>
        </p:nvSpPr>
        <p:spPr>
          <a:xfrm>
            <a:off x="566928" y="5166360"/>
            <a:ext cx="457200" cy="329184"/>
          </a:xfrm>
          <a:prstGeom prst="rect">
            <a:avLst/>
          </a:prstGeom>
          <a:noFill/>
          <a:ln/>
        </p:spPr>
        <p:txBody>
          <a:bodyPr wrap="square" lIns="0" tIns="0" rIns="0" bIns="0" rtlCol="0" anchor="ctr"/>
          <a:lstStyle/>
          <a:p>
            <a:pPr algn="ctr" indent="0" marL="0">
              <a:buNone/>
            </a:pPr>
            <a:r>
              <a:rPr lang="en-US" sz="1600" b="1" dirty="0">
                <a:solidFill>
                  <a:srgbClr val="5B6478"/>
                </a:solidFill>
                <a:latin typeface="Arial" pitchFamily="34" charset="0"/>
                <a:ea typeface="Arial" pitchFamily="34" charset="-122"/>
                <a:cs typeface="Arial" pitchFamily="34" charset="-120"/>
              </a:rPr>
              <a:t>5</a:t>
            </a:r>
            <a:endParaRPr lang="en-US" sz="1600" dirty="0"/>
          </a:p>
        </p:txBody>
      </p:sp>
      <p:sp>
        <p:nvSpPr>
          <p:cNvPr id="32" name="Text 30"/>
          <p:cNvSpPr txBox="1"/>
          <p:nvPr/>
        </p:nvSpPr>
        <p:spPr>
          <a:xfrm>
            <a:off x="1225296" y="5166360"/>
            <a:ext cx="2377440" cy="310896"/>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Into the sRFC</a:t>
            </a:r>
            <a:endParaRPr lang="en-US" sz="1550" dirty="0"/>
          </a:p>
        </p:txBody>
      </p:sp>
      <p:sp>
        <p:nvSpPr>
          <p:cNvPr id="33" name="Text 31"/>
          <p:cNvSpPr txBox="1"/>
          <p:nvPr/>
        </p:nvSpPr>
        <p:spPr>
          <a:xfrm>
            <a:off x="3694176" y="5184648"/>
            <a:ext cx="5852160" cy="310896"/>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Submitted aligned with sRFC 40, not parallel to it.</a:t>
            </a:r>
            <a:endParaRPr lang="en-US" sz="1200" dirty="0"/>
          </a:p>
        </p:txBody>
      </p:sp>
      <p:sp>
        <p:nvSpPr>
          <p:cNvPr id="34" name="Text 32"/>
          <p:cNvSpPr txBox="1"/>
          <p:nvPr/>
        </p:nvSpPr>
        <p:spPr>
          <a:xfrm>
            <a:off x="9619488" y="5166360"/>
            <a:ext cx="2002536" cy="310896"/>
          </a:xfrm>
          <a:prstGeom prst="rect">
            <a:avLst/>
          </a:prstGeom>
          <a:noFill/>
          <a:ln/>
        </p:spPr>
        <p:txBody>
          <a:bodyPr wrap="square" lIns="0" tIns="0" rIns="0" bIns="0" rtlCol="0" anchor="ctr"/>
          <a:lstStyle/>
          <a:p>
            <a:pPr algn="r" indent="0" marL="0">
              <a:buNone/>
            </a:pPr>
            <a:r>
              <a:rPr lang="en-US" sz="1250" b="1" dirty="0">
                <a:solidFill>
                  <a:srgbClr val="5B6478"/>
                </a:solidFill>
                <a:latin typeface="Arial" pitchFamily="34" charset="0"/>
                <a:ea typeface="Arial" pitchFamily="34" charset="-122"/>
                <a:cs typeface="Arial" pitchFamily="34" charset="-120"/>
              </a:rPr>
              <a:t>Q1–Q2 2027</a:t>
            </a:r>
            <a:endParaRPr lang="en-US" sz="1250" dirty="0"/>
          </a:p>
        </p:txBody>
      </p:sp>
      <p:sp>
        <p:nvSpPr>
          <p:cNvPr id="35" name="Shape 33"/>
          <p:cNvSpPr/>
          <p:nvPr/>
        </p:nvSpPr>
        <p:spPr>
          <a:xfrm>
            <a:off x="566928" y="5870448"/>
            <a:ext cx="11057839" cy="603504"/>
          </a:xfrm>
          <a:prstGeom prst="roundRect">
            <a:avLst>
              <a:gd name="adj" fmla="val 10606"/>
            </a:avLst>
          </a:prstGeom>
          <a:solidFill>
            <a:srgbClr val="FFFFFF"/>
          </a:solidFill>
          <a:ln w="12700">
            <a:solidFill>
              <a:srgbClr val="E2E0EC"/>
            </a:solidFill>
            <a:prstDash val="solid"/>
          </a:ln>
        </p:spPr>
      </p:sp>
      <p:sp>
        <p:nvSpPr>
          <p:cNvPr id="36" name="Text 34"/>
          <p:cNvSpPr txBox="1"/>
          <p:nvPr/>
        </p:nvSpPr>
        <p:spPr>
          <a:xfrm>
            <a:off x="841248" y="6016752"/>
            <a:ext cx="10509199" cy="329184"/>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Stages 0–2 are within our control and only prove competence.  </a:t>
            </a:r>
            <a:pPr indent="0" marL="0">
              <a:buNone/>
            </a:pPr>
            <a:r>
              <a:rPr lang="en-US" sz="1250" dirty="0">
                <a:solidFill>
                  <a:srgbClr val="5B6478"/>
                </a:solidFill>
                <a:latin typeface="Arial" pitchFamily="34" charset="0"/>
                <a:ea typeface="Arial" pitchFamily="34" charset="-122"/>
                <a:cs typeface="Arial" pitchFamily="34" charset="-120"/>
              </a:rPr>
              <a:t>Stages 3 and 4 are the real test — until a second protocol adopts it, SVI is a Hylo wrapper, and we say so.</a:t>
            </a:r>
            <a:endParaRPr lang="en-US" sz="1250" dirty="0"/>
          </a:p>
        </p:txBody>
      </p:sp>
      <p:sp>
        <p:nvSpPr>
          <p:cNvPr id="37" name="Text 35"/>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32B"/>
        </a:solidFill>
      </p:bgPr>
    </p:bg>
    <p:spTree>
      <p:nvGrpSpPr>
        <p:cNvPr id="1" name=""/>
        <p:cNvGrpSpPr/>
        <p:nvPr/>
      </p:nvGrpSpPr>
      <p:grpSpPr>
        <a:xfrm>
          <a:off x="0" y="0"/>
          <a:ext cx="0" cy="0"/>
          <a:chOff x="0" y="0"/>
          <a:chExt cx="0" cy="0"/>
        </a:xfrm>
      </p:grpSpPr>
      <p:sp>
        <p:nvSpPr>
          <p:cNvPr id="2" name="Text 0"/>
          <p:cNvSpPr txBox="1"/>
          <p:nvPr/>
        </p:nvSpPr>
        <p:spPr>
          <a:xfrm>
            <a:off x="566928" y="512064"/>
            <a:ext cx="11057839" cy="274320"/>
          </a:xfrm>
          <a:prstGeom prst="rect">
            <a:avLst/>
          </a:prstGeom>
          <a:noFill/>
          <a:ln/>
        </p:spPr>
        <p:txBody>
          <a:bodyPr wrap="square" lIns="0" tIns="0" rIns="0" bIns="0" rtlCol="0" anchor="ctr"/>
          <a:lstStyle/>
          <a:p>
            <a:pPr indent="0" marL="0">
              <a:buNone/>
            </a:pPr>
            <a:r>
              <a:rPr lang="en-US" sz="1200" b="1" spc="200" kern="0" dirty="0">
                <a:solidFill>
                  <a:srgbClr val="C4B5FD"/>
                </a:solidFill>
                <a:latin typeface="Arial" pitchFamily="34" charset="0"/>
                <a:ea typeface="Arial" pitchFamily="34" charset="-122"/>
                <a:cs typeface="Arial" pitchFamily="34" charset="-120"/>
              </a:rPr>
              <a:t>THE ASK</a:t>
            </a:r>
            <a:endParaRPr lang="en-US" sz="1200" dirty="0"/>
          </a:p>
        </p:txBody>
      </p:sp>
      <p:sp>
        <p:nvSpPr>
          <p:cNvPr id="3" name="Text 1"/>
          <p:cNvSpPr txBox="1"/>
          <p:nvPr/>
        </p:nvSpPr>
        <p:spPr>
          <a:xfrm>
            <a:off x="566928" y="841248"/>
            <a:ext cx="11057839" cy="6400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Five answers, a name, and a retweet</a:t>
            </a:r>
            <a:endParaRPr lang="en-US" sz="3800" dirty="0"/>
          </a:p>
        </p:txBody>
      </p:sp>
      <p:sp>
        <p:nvSpPr>
          <p:cNvPr id="4" name="Text 2"/>
          <p:cNvSpPr txBox="1"/>
          <p:nvPr/>
        </p:nvSpPr>
        <p:spPr>
          <a:xfrm>
            <a:off x="566928" y="1664208"/>
            <a:ext cx="658368" cy="310896"/>
          </a:xfrm>
          <a:prstGeom prst="rect">
            <a:avLst/>
          </a:prstGeom>
          <a:noFill/>
          <a:ln/>
        </p:spPr>
        <p:txBody>
          <a:bodyPr wrap="square" lIns="0" tIns="0" rIns="0" bIns="0" rtlCol="0" anchor="ctr"/>
          <a:lstStyle/>
          <a:p>
            <a:pPr indent="0" marL="0">
              <a:buNone/>
            </a:pPr>
            <a:r>
              <a:rPr lang="en-US" sz="1500" b="1" dirty="0">
                <a:solidFill>
                  <a:srgbClr val="C4B5FD"/>
                </a:solidFill>
                <a:latin typeface="Arial" pitchFamily="34" charset="0"/>
                <a:ea typeface="Arial" pitchFamily="34" charset="-122"/>
                <a:cs typeface="Arial" pitchFamily="34" charset="-120"/>
              </a:rPr>
              <a:t>Q1</a:t>
            </a:r>
            <a:endParaRPr lang="en-US" sz="1500" dirty="0"/>
          </a:p>
        </p:txBody>
      </p:sp>
      <p:sp>
        <p:nvSpPr>
          <p:cNvPr id="5" name="Text 3"/>
          <p:cNvSpPr txBox="1"/>
          <p:nvPr/>
        </p:nvSpPr>
        <p:spPr>
          <a:xfrm>
            <a:off x="1280160" y="1664208"/>
            <a:ext cx="320040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V1 vs V2 layout, and timing</a:t>
            </a:r>
            <a:endParaRPr lang="en-US" sz="1500" dirty="0"/>
          </a:p>
        </p:txBody>
      </p:sp>
      <p:sp>
        <p:nvSpPr>
          <p:cNvPr id="6" name="Text 4"/>
          <p:cNvSpPr txBox="1"/>
          <p:nvPr/>
        </p:nvSpPr>
        <p:spPr>
          <a:xfrm>
            <a:off x="4590288" y="1627632"/>
            <a:ext cx="7031736" cy="658368"/>
          </a:xfrm>
          <a:prstGeom prst="rect">
            <a:avLst/>
          </a:prstGeom>
          <a:noFill/>
          <a:ln/>
        </p:spPr>
        <p:txBody>
          <a:bodyPr wrap="square" lIns="0" tIns="0" rIns="0" bIns="0" rtlCol="0" anchor="ctr"/>
          <a:lstStyle/>
          <a:p>
            <a:pPr indent="0" marL="0">
              <a:lnSpc>
                <a:spcPts val="1550"/>
              </a:lnSpc>
              <a:buNone/>
            </a:pPr>
            <a:r>
              <a:rPr lang="en-US" sz="1150" dirty="0">
                <a:solidFill>
                  <a:srgbClr val="A79FD0"/>
                </a:solidFill>
                <a:latin typeface="Arial" pitchFamily="34" charset="0"/>
                <a:ea typeface="Arial" pitchFamily="34" charset="-122"/>
                <a:cs typeface="Arial" pitchFamily="34" charset="-120"/>
              </a:rPr>
              <a:t>The equations doc describes V2, the addresses page lists V1 programs, and the SDK has cbBTC / exo machinery. Which layout is live on mainnet today, and is any account structure changing before November?</a:t>
            </a:r>
            <a:endParaRPr lang="en-US" sz="1150" dirty="0"/>
          </a:p>
        </p:txBody>
      </p:sp>
      <p:sp>
        <p:nvSpPr>
          <p:cNvPr id="7" name="Shape 5"/>
          <p:cNvSpPr/>
          <p:nvPr/>
        </p:nvSpPr>
        <p:spPr>
          <a:xfrm>
            <a:off x="566928" y="2359152"/>
            <a:ext cx="11057839" cy="0"/>
          </a:xfrm>
          <a:prstGeom prst="line">
            <a:avLst/>
          </a:prstGeom>
          <a:noFill/>
          <a:ln w="12700">
            <a:solidFill>
              <a:srgbClr val="342C5C"/>
            </a:solidFill>
            <a:prstDash val="solid"/>
          </a:ln>
        </p:spPr>
      </p:sp>
      <p:sp>
        <p:nvSpPr>
          <p:cNvPr id="8" name="Text 6"/>
          <p:cNvSpPr txBox="1"/>
          <p:nvPr/>
        </p:nvSpPr>
        <p:spPr>
          <a:xfrm>
            <a:off x="566928" y="2487168"/>
            <a:ext cx="658368" cy="310896"/>
          </a:xfrm>
          <a:prstGeom prst="rect">
            <a:avLst/>
          </a:prstGeom>
          <a:noFill/>
          <a:ln/>
        </p:spPr>
        <p:txBody>
          <a:bodyPr wrap="square" lIns="0" tIns="0" rIns="0" bIns="0" rtlCol="0" anchor="ctr"/>
          <a:lstStyle/>
          <a:p>
            <a:pPr indent="0" marL="0">
              <a:buNone/>
            </a:pPr>
            <a:r>
              <a:rPr lang="en-US" sz="1500" b="1" dirty="0">
                <a:solidFill>
                  <a:srgbClr val="C4B5FD"/>
                </a:solidFill>
                <a:latin typeface="Arial" pitchFamily="34" charset="0"/>
                <a:ea typeface="Arial" pitchFamily="34" charset="-122"/>
                <a:cs typeface="Arial" pitchFamily="34" charset="-120"/>
              </a:rPr>
              <a:t>Q2</a:t>
            </a:r>
            <a:endParaRPr lang="en-US" sz="1500" dirty="0"/>
          </a:p>
        </p:txBody>
      </p:sp>
      <p:sp>
        <p:nvSpPr>
          <p:cNvPr id="9" name="Text 7"/>
          <p:cNvSpPr txBox="1"/>
          <p:nvPr/>
        </p:nvSpPr>
        <p:spPr>
          <a:xfrm>
            <a:off x="1280160" y="2487168"/>
            <a:ext cx="320040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update_lst_prices via CPI</a:t>
            </a:r>
            <a:endParaRPr lang="en-US" sz="1500" dirty="0"/>
          </a:p>
        </p:txBody>
      </p:sp>
      <p:sp>
        <p:nvSpPr>
          <p:cNvPr id="10" name="Text 8"/>
          <p:cNvSpPr txBox="1"/>
          <p:nvPr/>
        </p:nvSpPr>
        <p:spPr>
          <a:xfrm>
            <a:off x="4590288" y="2450592"/>
            <a:ext cx="7031736" cy="658368"/>
          </a:xfrm>
          <a:prstGeom prst="rect">
            <a:avLst/>
          </a:prstGeom>
          <a:noFill/>
          <a:ln/>
        </p:spPr>
        <p:txBody>
          <a:bodyPr wrap="square" lIns="0" tIns="0" rIns="0" bIns="0" rtlCol="0" anchor="ctr"/>
          <a:lstStyle/>
          <a:p>
            <a:pPr indent="0" marL="0">
              <a:lnSpc>
                <a:spcPts val="1550"/>
              </a:lnSpc>
              <a:buNone/>
            </a:pPr>
            <a:r>
              <a:rPr lang="en-US" sz="1150" dirty="0">
                <a:solidFill>
                  <a:srgbClr val="A79FD0"/>
                </a:solidFill>
                <a:latin typeface="Arial" pitchFamily="34" charset="0"/>
                <a:ea typeface="Arial" pitchFamily="34" charset="-122"/>
                <a:cs typeface="Arial" pitchFamily="34" charset="-120"/>
              </a:rPr>
              <a:t>Any constraint preventing invocation from a third-party program — LUT requirements, remaining-accounts size? This decides whether the epoch-boundary path bundles your crank or degrades for a window.</a:t>
            </a:r>
            <a:endParaRPr lang="en-US" sz="1150" dirty="0"/>
          </a:p>
        </p:txBody>
      </p:sp>
      <p:sp>
        <p:nvSpPr>
          <p:cNvPr id="11" name="Shape 9"/>
          <p:cNvSpPr/>
          <p:nvPr/>
        </p:nvSpPr>
        <p:spPr>
          <a:xfrm>
            <a:off x="566928" y="3182112"/>
            <a:ext cx="11057839" cy="0"/>
          </a:xfrm>
          <a:prstGeom prst="line">
            <a:avLst/>
          </a:prstGeom>
          <a:noFill/>
          <a:ln w="12700">
            <a:solidFill>
              <a:srgbClr val="342C5C"/>
            </a:solidFill>
            <a:prstDash val="solid"/>
          </a:ln>
        </p:spPr>
      </p:sp>
      <p:sp>
        <p:nvSpPr>
          <p:cNvPr id="12" name="Text 10"/>
          <p:cNvSpPr txBox="1"/>
          <p:nvPr/>
        </p:nvSpPr>
        <p:spPr>
          <a:xfrm>
            <a:off x="566928" y="3310128"/>
            <a:ext cx="658368" cy="310896"/>
          </a:xfrm>
          <a:prstGeom prst="rect">
            <a:avLst/>
          </a:prstGeom>
          <a:noFill/>
          <a:ln/>
        </p:spPr>
        <p:txBody>
          <a:bodyPr wrap="square" lIns="0" tIns="0" rIns="0" bIns="0" rtlCol="0" anchor="ctr"/>
          <a:lstStyle/>
          <a:p>
            <a:pPr indent="0" marL="0">
              <a:buNone/>
            </a:pPr>
            <a:r>
              <a:rPr lang="en-US" sz="1500" b="1" dirty="0">
                <a:solidFill>
                  <a:srgbClr val="C4B5FD"/>
                </a:solidFill>
                <a:latin typeface="Arial" pitchFamily="34" charset="0"/>
                <a:ea typeface="Arial" pitchFamily="34" charset="-122"/>
                <a:cs typeface="Arial" pitchFamily="34" charset="-120"/>
              </a:rPr>
              <a:t>Q3</a:t>
            </a:r>
            <a:endParaRPr lang="en-US" sz="1500" dirty="0"/>
          </a:p>
        </p:txBody>
      </p:sp>
      <p:sp>
        <p:nvSpPr>
          <p:cNvPr id="13" name="Text 11"/>
          <p:cNvSpPr txBox="1"/>
          <p:nvPr/>
        </p:nvSpPr>
        <p:spPr>
          <a:xfrm>
            <a:off x="1280160" y="3310128"/>
            <a:ext cx="320040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Pyth's exact request</a:t>
            </a:r>
            <a:endParaRPr lang="en-US" sz="1500" dirty="0"/>
          </a:p>
        </p:txBody>
      </p:sp>
      <p:sp>
        <p:nvSpPr>
          <p:cNvPr id="14" name="Text 12"/>
          <p:cNvSpPr txBox="1"/>
          <p:nvPr/>
        </p:nvSpPr>
        <p:spPr>
          <a:xfrm>
            <a:off x="4590288" y="3273552"/>
            <a:ext cx="7031736" cy="658368"/>
          </a:xfrm>
          <a:prstGeom prst="rect">
            <a:avLst/>
          </a:prstGeom>
          <a:noFill/>
          <a:ln/>
        </p:spPr>
        <p:txBody>
          <a:bodyPr wrap="square" lIns="0" tIns="0" rIns="0" bIns="0" rtlCol="0" anchor="ctr"/>
          <a:lstStyle/>
          <a:p>
            <a:pPr indent="0" marL="0">
              <a:lnSpc>
                <a:spcPts val="1550"/>
              </a:lnSpc>
              <a:buNone/>
            </a:pPr>
            <a:r>
              <a:rPr lang="en-US" sz="1150" dirty="0">
                <a:solidFill>
                  <a:srgbClr val="A79FD0"/>
                </a:solidFill>
                <a:latin typeface="Arial" pitchFamily="34" charset="0"/>
                <a:ea typeface="Arial" pitchFamily="34" charset="-122"/>
                <a:cs typeface="Arial" pitchFamily="34" charset="-120"/>
              </a:rPr>
              <a:t>Which feeds, what cadence, what response schema? Highest-value answer of the five: it defines the mirror contract. A forwarded message is enough.</a:t>
            </a:r>
            <a:endParaRPr lang="en-US" sz="1150" dirty="0"/>
          </a:p>
        </p:txBody>
      </p:sp>
      <p:sp>
        <p:nvSpPr>
          <p:cNvPr id="15" name="Shape 13"/>
          <p:cNvSpPr/>
          <p:nvPr/>
        </p:nvSpPr>
        <p:spPr>
          <a:xfrm>
            <a:off x="566928" y="4005072"/>
            <a:ext cx="11057839" cy="0"/>
          </a:xfrm>
          <a:prstGeom prst="line">
            <a:avLst/>
          </a:prstGeom>
          <a:noFill/>
          <a:ln w="12700">
            <a:solidFill>
              <a:srgbClr val="342C5C"/>
            </a:solidFill>
            <a:prstDash val="solid"/>
          </a:ln>
        </p:spPr>
      </p:sp>
      <p:sp>
        <p:nvSpPr>
          <p:cNvPr id="16" name="Text 14"/>
          <p:cNvSpPr txBox="1"/>
          <p:nvPr/>
        </p:nvSpPr>
        <p:spPr>
          <a:xfrm>
            <a:off x="566928" y="4133088"/>
            <a:ext cx="658368" cy="310896"/>
          </a:xfrm>
          <a:prstGeom prst="rect">
            <a:avLst/>
          </a:prstGeom>
          <a:noFill/>
          <a:ln/>
        </p:spPr>
        <p:txBody>
          <a:bodyPr wrap="square" lIns="0" tIns="0" rIns="0" bIns="0" rtlCol="0" anchor="ctr"/>
          <a:lstStyle/>
          <a:p>
            <a:pPr indent="0" marL="0">
              <a:buNone/>
            </a:pPr>
            <a:r>
              <a:rPr lang="en-US" sz="1500" b="1" dirty="0">
                <a:solidFill>
                  <a:srgbClr val="C4B5FD"/>
                </a:solidFill>
                <a:latin typeface="Arial" pitchFamily="34" charset="0"/>
                <a:ea typeface="Arial" pitchFamily="34" charset="-122"/>
                <a:cs typeface="Arial" pitchFamily="34" charset="-120"/>
              </a:rPr>
              <a:t>Q4</a:t>
            </a:r>
            <a:endParaRPr lang="en-US" sz="1500" dirty="0"/>
          </a:p>
        </p:txBody>
      </p:sp>
      <p:sp>
        <p:nvSpPr>
          <p:cNvPr id="17" name="Text 15"/>
          <p:cNvSpPr txBox="1"/>
          <p:nvPr/>
        </p:nvSpPr>
        <p:spPr>
          <a:xfrm>
            <a:off x="1280160" y="4133088"/>
            <a:ext cx="320040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SDK release pinning</a:t>
            </a:r>
            <a:endParaRPr lang="en-US" sz="1500" dirty="0"/>
          </a:p>
        </p:txBody>
      </p:sp>
      <p:sp>
        <p:nvSpPr>
          <p:cNvPr id="18" name="Text 16"/>
          <p:cNvSpPr txBox="1"/>
          <p:nvPr/>
        </p:nvSpPr>
        <p:spPr>
          <a:xfrm>
            <a:off x="4590288" y="4096512"/>
            <a:ext cx="7031736" cy="658368"/>
          </a:xfrm>
          <a:prstGeom prst="rect">
            <a:avLst/>
          </a:prstGeom>
          <a:noFill/>
          <a:ln/>
        </p:spPr>
        <p:txBody>
          <a:bodyPr wrap="square" lIns="0" tIns="0" rIns="0" bIns="0" rtlCol="0" anchor="ctr"/>
          <a:lstStyle/>
          <a:p>
            <a:pPr indent="0" marL="0">
              <a:lnSpc>
                <a:spcPts val="1550"/>
              </a:lnSpc>
              <a:buNone/>
            </a:pPr>
            <a:r>
              <a:rPr lang="en-US" sz="1150" dirty="0">
                <a:solidFill>
                  <a:srgbClr val="A79FD0"/>
                </a:solidFill>
                <a:latin typeface="Arial" pitchFamily="34" charset="0"/>
                <a:ea typeface="Arial" pitchFamily="34" charset="-122"/>
                <a:cs typeface="Arial" pitchFamily="34" charset="-120"/>
              </a:rPr>
              <a:t>Will Hylo tag SDK releases aligned to program deployments, so the adapter can pin hylo-core to the deployed program version?</a:t>
            </a:r>
            <a:endParaRPr lang="en-US" sz="1150" dirty="0"/>
          </a:p>
        </p:txBody>
      </p:sp>
      <p:sp>
        <p:nvSpPr>
          <p:cNvPr id="19" name="Shape 17"/>
          <p:cNvSpPr/>
          <p:nvPr/>
        </p:nvSpPr>
        <p:spPr>
          <a:xfrm>
            <a:off x="566928" y="4828032"/>
            <a:ext cx="11057839" cy="0"/>
          </a:xfrm>
          <a:prstGeom prst="line">
            <a:avLst/>
          </a:prstGeom>
          <a:noFill/>
          <a:ln w="12700">
            <a:solidFill>
              <a:srgbClr val="342C5C"/>
            </a:solidFill>
            <a:prstDash val="solid"/>
          </a:ln>
        </p:spPr>
      </p:sp>
      <p:sp>
        <p:nvSpPr>
          <p:cNvPr id="20" name="Text 18"/>
          <p:cNvSpPr txBox="1"/>
          <p:nvPr/>
        </p:nvSpPr>
        <p:spPr>
          <a:xfrm>
            <a:off x="566928" y="4956048"/>
            <a:ext cx="658368" cy="310896"/>
          </a:xfrm>
          <a:prstGeom prst="rect">
            <a:avLst/>
          </a:prstGeom>
          <a:noFill/>
          <a:ln/>
        </p:spPr>
        <p:txBody>
          <a:bodyPr wrap="square" lIns="0" tIns="0" rIns="0" bIns="0" rtlCol="0" anchor="ctr"/>
          <a:lstStyle/>
          <a:p>
            <a:pPr indent="0" marL="0">
              <a:buNone/>
            </a:pPr>
            <a:r>
              <a:rPr lang="en-US" sz="1500" b="1" dirty="0">
                <a:solidFill>
                  <a:srgbClr val="C4B5FD"/>
                </a:solidFill>
                <a:latin typeface="Arial" pitchFamily="34" charset="0"/>
                <a:ea typeface="Arial" pitchFamily="34" charset="-122"/>
                <a:cs typeface="Arial" pitchFamily="34" charset="-120"/>
              </a:rPr>
              <a:t>Q5</a:t>
            </a:r>
            <a:endParaRPr lang="en-US" sz="1500" dirty="0"/>
          </a:p>
        </p:txBody>
      </p:sp>
      <p:sp>
        <p:nvSpPr>
          <p:cNvPr id="21" name="Text 19"/>
          <p:cNvSpPr txBox="1"/>
          <p:nvPr/>
        </p:nvSpPr>
        <p:spPr>
          <a:xfrm>
            <a:off x="1280160" y="4956048"/>
            <a:ext cx="320040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Design-partner blessing</a:t>
            </a:r>
            <a:endParaRPr lang="en-US" sz="1500" dirty="0"/>
          </a:p>
        </p:txBody>
      </p:sp>
      <p:sp>
        <p:nvSpPr>
          <p:cNvPr id="22" name="Text 20"/>
          <p:cNvSpPr txBox="1"/>
          <p:nvPr/>
        </p:nvSpPr>
        <p:spPr>
          <a:xfrm>
            <a:off x="4590288" y="4919472"/>
            <a:ext cx="7031736" cy="658368"/>
          </a:xfrm>
          <a:prstGeom prst="rect">
            <a:avLst/>
          </a:prstGeom>
          <a:noFill/>
          <a:ln/>
        </p:spPr>
        <p:txBody>
          <a:bodyPr wrap="square" lIns="0" tIns="0" rIns="0" bIns="0" rtlCol="0" anchor="ctr"/>
          <a:lstStyle/>
          <a:p>
            <a:pPr indent="0" marL="0">
              <a:lnSpc>
                <a:spcPts val="1550"/>
              </a:lnSpc>
              <a:buNone/>
            </a:pPr>
            <a:r>
              <a:rPr lang="en-US" sz="1150" dirty="0">
                <a:solidFill>
                  <a:srgbClr val="A79FD0"/>
                </a:solidFill>
                <a:latin typeface="Arial" pitchFamily="34" charset="0"/>
                <a:ea typeface="Arial" pitchFamily="34" charset="-122"/>
                <a:cs typeface="Arial" pitchFamily="34" charset="-120"/>
              </a:rPr>
              <a:t>May SVI name Hylo as design partner for the spec and the Colosseum submission, and would Hylo co-announce at launch?</a:t>
            </a:r>
            <a:endParaRPr lang="en-US" sz="1150" dirty="0"/>
          </a:p>
        </p:txBody>
      </p:sp>
      <p:sp>
        <p:nvSpPr>
          <p:cNvPr id="23" name="Shape 21"/>
          <p:cNvSpPr/>
          <p:nvPr/>
        </p:nvSpPr>
        <p:spPr>
          <a:xfrm>
            <a:off x="566928" y="5650992"/>
            <a:ext cx="11057839" cy="0"/>
          </a:xfrm>
          <a:prstGeom prst="line">
            <a:avLst/>
          </a:prstGeom>
          <a:noFill/>
          <a:ln w="12700">
            <a:solidFill>
              <a:srgbClr val="342C5C"/>
            </a:solidFill>
            <a:prstDash val="solid"/>
          </a:ln>
        </p:spPr>
      </p:sp>
      <p:sp>
        <p:nvSpPr>
          <p:cNvPr id="24" name="Shape 22"/>
          <p:cNvSpPr/>
          <p:nvPr/>
        </p:nvSpPr>
        <p:spPr>
          <a:xfrm>
            <a:off x="566928" y="5852160"/>
            <a:ext cx="11057839" cy="621792"/>
          </a:xfrm>
          <a:prstGeom prst="roundRect">
            <a:avLst>
              <a:gd name="adj" fmla="val 10294"/>
            </a:avLst>
          </a:prstGeom>
          <a:solidFill>
            <a:srgbClr val="7C3AED"/>
          </a:solidFill>
          <a:ln w="12700">
            <a:solidFill>
              <a:srgbClr val="7C3AED"/>
            </a:solidFill>
            <a:prstDash val="solid"/>
          </a:ln>
        </p:spPr>
      </p:sp>
      <p:sp>
        <p:nvSpPr>
          <p:cNvPr id="25" name="Text 23"/>
          <p:cNvSpPr txBox="1"/>
          <p:nvPr/>
        </p:nvSpPr>
        <p:spPr>
          <a:xfrm>
            <a:off x="859536" y="6007608"/>
            <a:ext cx="10472623"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Deadline that matters:  </a:t>
            </a:r>
            <a:pPr indent="0" marL="0">
              <a:buNone/>
            </a:pPr>
            <a:r>
              <a:rPr lang="en-US" sz="1250" dirty="0">
                <a:solidFill>
                  <a:srgbClr val="E4DDFB"/>
                </a:solidFill>
                <a:latin typeface="Arial" pitchFamily="34" charset="0"/>
                <a:ea typeface="Arial" pitchFamily="34" charset="-122"/>
                <a:cs typeface="Arial" pitchFamily="34" charset="-120"/>
              </a:rPr>
              <a:t>Colosseum runs 28 Sep – 2 Nov 2026. Answers by mid-September make a mainnet-live submission with Hylo named as design partner realistic.</a:t>
            </a:r>
            <a:endParaRPr lang="en-US" sz="1250" dirty="0"/>
          </a:p>
        </p:txBody>
      </p:sp>
      <p:sp>
        <p:nvSpPr>
          <p:cNvPr id="26" name="Text 24"/>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6B6494"/>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PILOT</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Six weeks from spec freeze to Pyth evaluating</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335024"/>
          <a:ext cx="11057839" cy="914400"/>
        </p:xfrm>
        <a:graphic>
          <a:graphicData uri="http://schemas.openxmlformats.org/drawingml/2006/table">
            <a:tbl>
              <a:tblPr/>
              <a:tblGrid>
                <a:gridCol w="2103120"/>
                <a:gridCol w="1234440"/>
                <a:gridCol w="5486400"/>
                <a:gridCol w="2233879"/>
              </a:tblGrid>
              <a:tr h="493776">
                <a:tc>
                  <a:txBody>
                    <a:bodyPr/>
                    <a:lstStyle/>
                    <a:p>
                      <a:pPr indent="0" marL="0">
                        <a:buNone/>
                      </a:pPr>
                      <a:r>
                        <a:rPr lang="en-US" sz="1150" b="1" dirty="0">
                          <a:solidFill>
                            <a:srgbClr val="FFFFFF"/>
                          </a:solidFill>
                          <a:latin typeface="Arial" pitchFamily="34" charset="0"/>
                          <a:ea typeface="Arial" pitchFamily="34" charset="-122"/>
                          <a:cs typeface="Arial" pitchFamily="34" charset="-120"/>
                        </a:rPr>
                        <a:t>Phase</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Duration</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What ships</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Hylo's involvement</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r>
              <a:tr h="4937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0 · Spec freeze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1 week</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Q1–Q5 folded in; methodology hashed and frozen at v1.0</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D97706"/>
                          </a:solidFill>
                          <a:latin typeface="Arial" pitchFamily="34" charset="0"/>
                          <a:ea typeface="Arial" pitchFamily="34" charset="-122"/>
                          <a:cs typeface="Arial" pitchFamily="34" charset="-120"/>
                        </a:rPr>
                        <a:t>One review pass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4937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1 · Devnet</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2 weeks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Adapter computes xSOL NAV; differential test vs hylo-core; failure paths tested</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16A34A"/>
                          </a:solidFill>
                          <a:latin typeface="Arial" pitchFamily="34" charset="0"/>
                          <a:ea typeface="Arial" pitchFamily="34" charset="-122"/>
                          <a:cs typeface="Arial" pitchFamily="34" charset="-120"/>
                        </a:rPr>
                        <a:t>None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4937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2 · Observer parity</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1 week</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Zero divergence over 72h continuous; compute budget under 200k CU</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16A34A"/>
                          </a:solidFill>
                          <a:latin typeface="Arial" pitchFamily="34" charset="0"/>
                          <a:ea typeface="Arial" pitchFamily="34" charset="-122"/>
                          <a:cs typeface="Arial" pitchFamily="34" charset="-120"/>
                        </a:rPr>
                        <a:t>None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4937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3 · Mainnet feeds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1 week</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xsol-nav, hyusd-backing, ehyusd-rate, xsol-leverage live; keeper up</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5B6478"/>
                          </a:solidFill>
                          <a:latin typeface="Arial" pitchFamily="34" charset="0"/>
                          <a:ea typeface="Arial" pitchFamily="34" charset="-122"/>
                          <a:cs typeface="Arial" pitchFamily="34" charset="-120"/>
                        </a:rPr>
                        <a:t>Optional: co-run a keeper</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4937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4 · Mirror + Pyth</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1 week</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Mirror API in Pyth's schema, zero arithmetic; conformance suite public</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D97706"/>
                          </a:solidFill>
                          <a:latin typeface="Arial" pitchFamily="34" charset="0"/>
                          <a:ea typeface="Arial" pitchFamily="34" charset="-122"/>
                          <a:cs typeface="Arial" pitchFamily="34" charset="-120"/>
                        </a:rPr>
                        <a:t>An intro to Pyth, if willing</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493776">
                <a:tc>
                  <a:txBody>
                    <a:bodyPr/>
                    <a:lstStyle/>
                    <a:p>
                      <a:pPr indent="0" marL="0">
                        <a:buNone/>
                      </a:pPr>
                      <a:r>
                        <a:rPr lang="en-US" sz="1100" b="1" dirty="0">
                          <a:solidFill>
                            <a:srgbClr val="0F172A"/>
                          </a:solidFill>
                          <a:latin typeface="Arial" pitchFamily="34" charset="0"/>
                          <a:ea typeface="Arial" pitchFamily="34" charset="-122"/>
                          <a:cs typeface="Arial" pitchFamily="34" charset="-120"/>
                        </a:rPr>
                        <a:t>5 · Co-announce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Public launch</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D97706"/>
                          </a:solidFill>
                          <a:latin typeface="Arial" pitchFamily="34" charset="0"/>
                          <a:ea typeface="Arial" pitchFamily="34" charset="-122"/>
                          <a:cs typeface="Arial" pitchFamily="34" charset="-120"/>
                        </a:rPr>
                        <a:t>A retweet</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bl>
          </a:graphicData>
        </a:graphic>
      </p:graphicFrame>
      <p:sp>
        <p:nvSpPr>
          <p:cNvPr id="5" name="Shape 2"/>
          <p:cNvSpPr/>
          <p:nvPr/>
        </p:nvSpPr>
        <p:spPr>
          <a:xfrm>
            <a:off x="566928" y="5394960"/>
            <a:ext cx="5431536" cy="914400"/>
          </a:xfrm>
          <a:prstGeom prst="roundRect">
            <a:avLst>
              <a:gd name="adj" fmla="val 7000"/>
            </a:avLst>
          </a:prstGeom>
          <a:solidFill>
            <a:srgbClr val="EAF7EF"/>
          </a:solidFill>
          <a:ln w="12700">
            <a:solidFill>
              <a:srgbClr val="BFE3CC"/>
            </a:solidFill>
            <a:prstDash val="solid"/>
          </a:ln>
        </p:spPr>
      </p:sp>
      <p:sp>
        <p:nvSpPr>
          <p:cNvPr id="6" name="Text 3"/>
          <p:cNvSpPr txBox="1"/>
          <p:nvPr/>
        </p:nvSpPr>
        <p:spPr>
          <a:xfrm>
            <a:off x="841248" y="5596128"/>
            <a:ext cx="4882896" cy="548640"/>
          </a:xfrm>
          <a:prstGeom prst="rect">
            <a:avLst/>
          </a:prstGeom>
          <a:noFill/>
          <a:ln/>
        </p:spPr>
        <p:txBody>
          <a:bodyPr wrap="square" lIns="0" tIns="0" rIns="0" bIns="0" rtlCol="0" anchor="ctr"/>
          <a:lstStyle/>
          <a:p>
            <a:pPr indent="0" marL="0">
              <a:lnSpc>
                <a:spcPts val="1900"/>
              </a:lnSpc>
              <a:buNone/>
            </a:pPr>
            <a:r>
              <a:rPr lang="en-US" sz="1400" b="1" dirty="0">
                <a:solidFill>
                  <a:srgbClr val="0F172A"/>
                </a:solidFill>
                <a:latin typeface="Arial" pitchFamily="34" charset="0"/>
                <a:ea typeface="Arial" pitchFamily="34" charset="-122"/>
                <a:cs typeface="Arial" pitchFamily="34" charset="-120"/>
              </a:rPr>
              <a:t>Hylo's cumulative time across all six phases is measured in hours.</a:t>
            </a:r>
            <a:endParaRPr lang="en-US" sz="1400" dirty="0"/>
          </a:p>
        </p:txBody>
      </p:sp>
      <p:sp>
        <p:nvSpPr>
          <p:cNvPr id="7" name="Shape 4"/>
          <p:cNvSpPr/>
          <p:nvPr/>
        </p:nvSpPr>
        <p:spPr>
          <a:xfrm>
            <a:off x="6199632" y="5394960"/>
            <a:ext cx="5431536" cy="914400"/>
          </a:xfrm>
          <a:prstGeom prst="roundRect">
            <a:avLst>
              <a:gd name="adj" fmla="val 7000"/>
            </a:avLst>
          </a:prstGeom>
          <a:solidFill>
            <a:srgbClr val="F6F5FB"/>
          </a:solidFill>
          <a:ln w="12700">
            <a:solidFill>
              <a:srgbClr val="E2E0EC"/>
            </a:solidFill>
            <a:prstDash val="solid"/>
          </a:ln>
        </p:spPr>
      </p:sp>
      <p:sp>
        <p:nvSpPr>
          <p:cNvPr id="8" name="Text 5"/>
          <p:cNvSpPr txBox="1"/>
          <p:nvPr/>
        </p:nvSpPr>
        <p:spPr>
          <a:xfrm>
            <a:off x="6473952" y="5522976"/>
            <a:ext cx="4882896" cy="694944"/>
          </a:xfrm>
          <a:prstGeom prst="rect">
            <a:avLst/>
          </a:prstGeom>
          <a:noFill/>
          <a:ln/>
        </p:spPr>
        <p:txBody>
          <a:bodyPr wrap="square" lIns="0" tIns="0" rIns="0" bIns="0" rtlCol="0" anchor="ctr"/>
          <a:lstStyle/>
          <a:p>
            <a:pPr indent="0" marL="0">
              <a:lnSpc>
                <a:spcPts val="1450"/>
              </a:lnSpc>
              <a:buNone/>
            </a:pPr>
            <a:r>
              <a:rPr lang="en-US" sz="1100" b="1" dirty="0">
                <a:solidFill>
                  <a:srgbClr val="0F172A"/>
                </a:solidFill>
                <a:latin typeface="Arial" pitchFamily="34" charset="0"/>
                <a:ea typeface="Arial" pitchFamily="34" charset="-122"/>
                <a:cs typeface="Arial" pitchFamily="34" charset="-120"/>
              </a:rPr>
              <a:t>Exit conditions:  </a:t>
            </a:r>
            <a:pPr indent="0" marL="0">
              <a:lnSpc>
                <a:spcPts val="1450"/>
              </a:lnSpc>
              <a:buNone/>
            </a:pPr>
            <a:r>
              <a:rPr lang="en-US" sz="1100" dirty="0">
                <a:solidFill>
                  <a:srgbClr val="5B6478"/>
                </a:solidFill>
                <a:latin typeface="Arial" pitchFamily="34" charset="0"/>
                <a:ea typeface="Arial" pitchFamily="34" charset="-122"/>
                <a:cs typeface="Arial" pitchFamily="34" charset="-120"/>
              </a:rPr>
              <a:t>if Hylo wants the feeds retired we deprecate them publicly and immediately; the adapter is open source and yours to fork or take over; nothing here creates exclusivity in either direction.</a:t>
            </a:r>
            <a:endParaRPr lang="en-US" sz="1100" dirty="0"/>
          </a:p>
        </p:txBody>
      </p:sp>
      <p:sp>
        <p:nvSpPr>
          <p:cNvPr id="9" name="Text 6"/>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B"/>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CANDOUR</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The objections worth raising, answered</a:t>
            </a:r>
            <a:endParaRPr lang="en-US" sz="3200" dirty="0"/>
          </a:p>
        </p:txBody>
      </p:sp>
      <p:sp>
        <p:nvSpPr>
          <p:cNvPr id="4" name="Shape 2"/>
          <p:cNvSpPr/>
          <p:nvPr/>
        </p:nvSpPr>
        <p:spPr>
          <a:xfrm>
            <a:off x="566928" y="1426464"/>
            <a:ext cx="5391760" cy="2231136"/>
          </a:xfrm>
          <a:prstGeom prst="roundRect">
            <a:avLst>
              <a:gd name="adj" fmla="val 2869"/>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5" name="Text 3"/>
          <p:cNvSpPr txBox="1"/>
          <p:nvPr/>
        </p:nvSpPr>
        <p:spPr>
          <a:xfrm>
            <a:off x="841248" y="1645920"/>
            <a:ext cx="4843120" cy="566928"/>
          </a:xfrm>
          <a:prstGeom prst="rect">
            <a:avLst/>
          </a:prstGeom>
          <a:noFill/>
          <a:ln/>
        </p:spPr>
        <p:txBody>
          <a:bodyPr wrap="square" lIns="0" tIns="0" rIns="0" bIns="0" rtlCol="0" anchor="ctr"/>
          <a:lstStyle/>
          <a:p>
            <a:pPr indent="0" marL="0">
              <a:lnSpc>
                <a:spcPts val="1900"/>
              </a:lnSpc>
              <a:buNone/>
            </a:pPr>
            <a:r>
              <a:rPr lang="en-US" sz="1450" b="1" dirty="0">
                <a:solidFill>
                  <a:srgbClr val="0F172A"/>
                </a:solidFill>
                <a:latin typeface="Arial" pitchFamily="34" charset="0"/>
                <a:ea typeface="Arial" pitchFamily="34" charset="-122"/>
                <a:cs typeface="Arial" pitchFamily="34" charset="-120"/>
              </a:rPr>
              <a:t>“This makes SVI a dependency for our asset pricing.”</a:t>
            </a:r>
            <a:endParaRPr lang="en-US" sz="1450" dirty="0"/>
          </a:p>
        </p:txBody>
      </p:sp>
      <p:sp>
        <p:nvSpPr>
          <p:cNvPr id="6" name="Text 4"/>
          <p:cNvSpPr txBox="1"/>
          <p:nvPr/>
        </p:nvSpPr>
        <p:spPr>
          <a:xfrm>
            <a:off x="841248" y="2231136"/>
            <a:ext cx="4843120" cy="1280160"/>
          </a:xfrm>
          <a:prstGeom prst="rect">
            <a:avLst/>
          </a:prstGeom>
          <a:noFill/>
          <a:ln/>
        </p:spPr>
        <p:txBody>
          <a:bodyPr wrap="square" lIns="0" tIns="0" rIns="0" bIns="0" rtlCol="0" anchor="ctr"/>
          <a:lstStyle/>
          <a:p>
            <a:pPr indent="0" marL="0">
              <a:lnSpc>
                <a:spcPts val="1600"/>
              </a:lnSpc>
              <a:buNone/>
            </a:pPr>
            <a:r>
              <a:rPr lang="en-US" sz="1150" dirty="0">
                <a:solidFill>
                  <a:srgbClr val="5B6478"/>
                </a:solidFill>
                <a:latin typeface="Arial" pitchFamily="34" charset="0"/>
                <a:ea typeface="Arial" pitchFamily="34" charset="-122"/>
                <a:cs typeface="Arial" pitchFamily="34" charset="-120"/>
              </a:rPr>
              <a:t>It doesn't, and that is deliberate. Cranking is permissionless — Hylo can run a keeper. The adapter is open source, the quote account is readable with no SVI infrastructure involved, and the methodology is a public document. If SVI disappears tomorrow, everything except the mirror keeps working — and the mirror is the piece that does no math.</a:t>
            </a:r>
            <a:endParaRPr lang="en-US" sz="1150" dirty="0"/>
          </a:p>
        </p:txBody>
      </p:sp>
      <p:sp>
        <p:nvSpPr>
          <p:cNvPr id="7" name="Shape 5"/>
          <p:cNvSpPr/>
          <p:nvPr/>
        </p:nvSpPr>
        <p:spPr>
          <a:xfrm>
            <a:off x="6233008" y="1426464"/>
            <a:ext cx="5391760" cy="2231136"/>
          </a:xfrm>
          <a:prstGeom prst="roundRect">
            <a:avLst>
              <a:gd name="adj" fmla="val 2869"/>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8" name="Text 6"/>
          <p:cNvSpPr txBox="1"/>
          <p:nvPr/>
        </p:nvSpPr>
        <p:spPr>
          <a:xfrm>
            <a:off x="6507328" y="1645920"/>
            <a:ext cx="4843120" cy="566928"/>
          </a:xfrm>
          <a:prstGeom prst="rect">
            <a:avLst/>
          </a:prstGeom>
          <a:noFill/>
          <a:ln/>
        </p:spPr>
        <p:txBody>
          <a:bodyPr wrap="square" lIns="0" tIns="0" rIns="0" bIns="0" rtlCol="0" anchor="ctr"/>
          <a:lstStyle/>
          <a:p>
            <a:pPr indent="0" marL="0">
              <a:lnSpc>
                <a:spcPts val="1900"/>
              </a:lnSpc>
              <a:buNone/>
            </a:pPr>
            <a:r>
              <a:rPr lang="en-US" sz="1450" b="1" dirty="0">
                <a:solidFill>
                  <a:srgbClr val="0F172A"/>
                </a:solidFill>
                <a:latin typeface="Arial" pitchFamily="34" charset="0"/>
                <a:ea typeface="Arial" pitchFamily="34" charset="-122"/>
                <a:cs typeface="Arial" pitchFamily="34" charset="-120"/>
              </a:rPr>
              <a:t>“What if your adapter is wrong and someone gets liquidated?”</a:t>
            </a:r>
            <a:endParaRPr lang="en-US" sz="1450" dirty="0"/>
          </a:p>
        </p:txBody>
      </p:sp>
      <p:sp>
        <p:nvSpPr>
          <p:cNvPr id="9" name="Text 7"/>
          <p:cNvSpPr txBox="1"/>
          <p:nvPr/>
        </p:nvSpPr>
        <p:spPr>
          <a:xfrm>
            <a:off x="6507328" y="2231136"/>
            <a:ext cx="4843120" cy="1280160"/>
          </a:xfrm>
          <a:prstGeom prst="rect">
            <a:avLst/>
          </a:prstGeom>
          <a:noFill/>
          <a:ln/>
        </p:spPr>
        <p:txBody>
          <a:bodyPr wrap="square" lIns="0" tIns="0" rIns="0" bIns="0" rtlCol="0" anchor="ctr"/>
          <a:lstStyle/>
          <a:p>
            <a:pPr indent="0" marL="0">
              <a:lnSpc>
                <a:spcPts val="1600"/>
              </a:lnSpc>
              <a:buNone/>
            </a:pPr>
            <a:r>
              <a:rPr lang="en-US" sz="1150" dirty="0">
                <a:solidFill>
                  <a:srgbClr val="5B6478"/>
                </a:solidFill>
                <a:latin typeface="Arial" pitchFamily="34" charset="0"/>
                <a:ea typeface="Arial" pitchFamily="34" charset="-122"/>
                <a:cs typeface="Arial" pitchFamily="34" charset="-120"/>
              </a:rPr>
              <a:t>A real risk. Hence: call hylo-core rather than reimplement it; an independent observer that halts on a one-unit divergence; abort rather than publish on any unverified input; and no real-collateral use until a third-party audit. Until that audit, our own position is that no lending market should underwrite against these feeds.</a:t>
            </a:r>
            <a:endParaRPr lang="en-US" sz="1150" dirty="0"/>
          </a:p>
        </p:txBody>
      </p:sp>
      <p:sp>
        <p:nvSpPr>
          <p:cNvPr id="10" name="Shape 8"/>
          <p:cNvSpPr/>
          <p:nvPr/>
        </p:nvSpPr>
        <p:spPr>
          <a:xfrm>
            <a:off x="566928" y="3913632"/>
            <a:ext cx="5391760" cy="2231136"/>
          </a:xfrm>
          <a:prstGeom prst="roundRect">
            <a:avLst>
              <a:gd name="adj" fmla="val 2869"/>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1" name="Text 9"/>
          <p:cNvSpPr txBox="1"/>
          <p:nvPr/>
        </p:nvSpPr>
        <p:spPr>
          <a:xfrm>
            <a:off x="841248" y="4133088"/>
            <a:ext cx="4843120" cy="566928"/>
          </a:xfrm>
          <a:prstGeom prst="rect">
            <a:avLst/>
          </a:prstGeom>
          <a:noFill/>
          <a:ln/>
        </p:spPr>
        <p:txBody>
          <a:bodyPr wrap="square" lIns="0" tIns="0" rIns="0" bIns="0" rtlCol="0" anchor="ctr"/>
          <a:lstStyle/>
          <a:p>
            <a:pPr indent="0" marL="0">
              <a:lnSpc>
                <a:spcPts val="1900"/>
              </a:lnSpc>
              <a:buNone/>
            </a:pPr>
            <a:r>
              <a:rPr lang="en-US" sz="1450" b="1" dirty="0">
                <a:solidFill>
                  <a:srgbClr val="0F172A"/>
                </a:solidFill>
                <a:latin typeface="Arial" pitchFamily="34" charset="0"/>
                <a:ea typeface="Arial" pitchFamily="34" charset="-122"/>
                <a:cs typeface="Arial" pitchFamily="34" charset="-120"/>
              </a:rPr>
              <a:t>“Is this a hackathon project that dies in November?”</a:t>
            </a:r>
            <a:endParaRPr lang="en-US" sz="1450" dirty="0"/>
          </a:p>
        </p:txBody>
      </p:sp>
      <p:sp>
        <p:nvSpPr>
          <p:cNvPr id="12" name="Text 10"/>
          <p:cNvSpPr txBox="1"/>
          <p:nvPr/>
        </p:nvSpPr>
        <p:spPr>
          <a:xfrm>
            <a:off x="841248" y="4718304"/>
            <a:ext cx="4843120" cy="1280160"/>
          </a:xfrm>
          <a:prstGeom prst="rect">
            <a:avLst/>
          </a:prstGeom>
          <a:noFill/>
          <a:ln/>
        </p:spPr>
        <p:txBody>
          <a:bodyPr wrap="square" lIns="0" tIns="0" rIns="0" bIns="0" rtlCol="0" anchor="ctr"/>
          <a:lstStyle/>
          <a:p>
            <a:pPr indent="0" marL="0">
              <a:lnSpc>
                <a:spcPts val="1600"/>
              </a:lnSpc>
              <a:buNone/>
            </a:pPr>
            <a:r>
              <a:rPr lang="en-US" sz="1150" dirty="0">
                <a:solidFill>
                  <a:srgbClr val="5B6478"/>
                </a:solidFill>
                <a:latin typeface="Arial" pitchFamily="34" charset="0"/>
                <a:ea typeface="Arial" pitchFamily="34" charset="-122"/>
                <a:cs typeface="Arial" pitchFamily="34" charset="-120"/>
              </a:rPr>
              <a:t>Partly — that is what the funding path is for. Mitigations that hold regardless: everything open source, the keeper permissionless, the core small enough to freeze, and the methodology spec standing on its own as documentation of Hylo's valuation semantics even if every line of SVI code were abandoned.</a:t>
            </a:r>
            <a:endParaRPr lang="en-US" sz="1150" dirty="0"/>
          </a:p>
        </p:txBody>
      </p:sp>
      <p:sp>
        <p:nvSpPr>
          <p:cNvPr id="13" name="Shape 11"/>
          <p:cNvSpPr/>
          <p:nvPr/>
        </p:nvSpPr>
        <p:spPr>
          <a:xfrm>
            <a:off x="6233008" y="3913632"/>
            <a:ext cx="5391760" cy="2231136"/>
          </a:xfrm>
          <a:prstGeom prst="roundRect">
            <a:avLst>
              <a:gd name="adj" fmla="val 2869"/>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4" name="Text 12"/>
          <p:cNvSpPr txBox="1"/>
          <p:nvPr/>
        </p:nvSpPr>
        <p:spPr>
          <a:xfrm>
            <a:off x="6507328" y="4133088"/>
            <a:ext cx="4843120" cy="566928"/>
          </a:xfrm>
          <a:prstGeom prst="rect">
            <a:avLst/>
          </a:prstGeom>
          <a:noFill/>
          <a:ln/>
        </p:spPr>
        <p:txBody>
          <a:bodyPr wrap="square" lIns="0" tIns="0" rIns="0" bIns="0" rtlCol="0" anchor="ctr"/>
          <a:lstStyle/>
          <a:p>
            <a:pPr indent="0" marL="0">
              <a:lnSpc>
                <a:spcPts val="1900"/>
              </a:lnSpc>
              <a:buNone/>
            </a:pPr>
            <a:r>
              <a:rPr lang="en-US" sz="1450" b="1" dirty="0">
                <a:solidFill>
                  <a:srgbClr val="0F172A"/>
                </a:solidFill>
                <a:latin typeface="Arial" pitchFamily="34" charset="0"/>
                <a:ea typeface="Arial" pitchFamily="34" charset="-122"/>
                <a:cs typeface="Arial" pitchFamily="34" charset="-120"/>
              </a:rPr>
              <a:t>“What's in it for you?”</a:t>
            </a:r>
            <a:endParaRPr lang="en-US" sz="1450" dirty="0"/>
          </a:p>
        </p:txBody>
      </p:sp>
      <p:sp>
        <p:nvSpPr>
          <p:cNvPr id="15" name="Text 13"/>
          <p:cNvSpPr txBox="1"/>
          <p:nvPr/>
        </p:nvSpPr>
        <p:spPr>
          <a:xfrm>
            <a:off x="6507328" y="4718304"/>
            <a:ext cx="4843120" cy="1280160"/>
          </a:xfrm>
          <a:prstGeom prst="rect">
            <a:avLst/>
          </a:prstGeom>
          <a:noFill/>
          <a:ln/>
        </p:spPr>
        <p:txBody>
          <a:bodyPr wrap="square" lIns="0" tIns="0" rIns="0" bIns="0" rtlCol="0" anchor="ctr"/>
          <a:lstStyle/>
          <a:p>
            <a:pPr indent="0" marL="0">
              <a:lnSpc>
                <a:spcPts val="1600"/>
              </a:lnSpc>
              <a:buNone/>
            </a:pPr>
            <a:r>
              <a:rPr lang="en-US" sz="1150" dirty="0">
                <a:solidFill>
                  <a:srgbClr val="5B6478"/>
                </a:solidFill>
                <a:latin typeface="Arial" pitchFamily="34" charset="0"/>
                <a:ea typeface="Arial" pitchFamily="34" charset="-122"/>
                <a:cs typeface="Arial" pitchFamily="34" charset="-120"/>
              </a:rPr>
              <a:t>Reputation, a Colosseum submission with a real design partner, and a shot at authoring a Solana standard. Not revenue — the standard and SDKs are permanently free and there is no token. Worth being blunt about, because an unexplained motivation is its own kind of risk.</a:t>
            </a:r>
            <a:endParaRPr lang="en-US" sz="1150" dirty="0"/>
          </a:p>
        </p:txBody>
      </p:sp>
      <p:sp>
        <p:nvSpPr>
          <p:cNvPr id="16" name="Text 14"/>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32B"/>
        </a:solidFill>
      </p:bgPr>
    </p:bg>
    <p:spTree>
      <p:nvGrpSpPr>
        <p:cNvPr id="1" name=""/>
        <p:cNvGrpSpPr/>
        <p:nvPr/>
      </p:nvGrpSpPr>
      <p:grpSpPr>
        <a:xfrm>
          <a:off x="0" y="0"/>
          <a:ext cx="0" cy="0"/>
          <a:chOff x="0" y="0"/>
          <a:chExt cx="0" cy="0"/>
        </a:xfrm>
      </p:grpSpPr>
      <p:sp>
        <p:nvSpPr>
          <p:cNvPr id="2" name="Shape 0"/>
          <p:cNvSpPr/>
          <p:nvPr/>
        </p:nvSpPr>
        <p:spPr>
          <a:xfrm>
            <a:off x="7863840" y="-1737360"/>
            <a:ext cx="6766560" cy="6766560"/>
          </a:xfrm>
          <a:prstGeom prst="roundRect">
            <a:avLst>
              <a:gd name="adj" fmla="val 6757"/>
            </a:avLst>
          </a:prstGeom>
          <a:solidFill>
            <a:srgbClr val="7C3AED">
              <a:alpha val="14000"/>
            </a:srgbClr>
          </a:solidFill>
          <a:ln/>
        </p:spPr>
      </p:sp>
      <p:sp>
        <p:nvSpPr>
          <p:cNvPr id="3" name="Text 1"/>
          <p:cNvSpPr txBox="1"/>
          <p:nvPr/>
        </p:nvSpPr>
        <p:spPr>
          <a:xfrm>
            <a:off x="566928" y="786384"/>
            <a:ext cx="11057839" cy="274320"/>
          </a:xfrm>
          <a:prstGeom prst="rect">
            <a:avLst/>
          </a:prstGeom>
          <a:noFill/>
          <a:ln/>
        </p:spPr>
        <p:txBody>
          <a:bodyPr wrap="square" lIns="0" tIns="0" rIns="0" bIns="0" rtlCol="0" anchor="ctr"/>
          <a:lstStyle/>
          <a:p>
            <a:pPr indent="0" marL="0">
              <a:buNone/>
            </a:pPr>
            <a:r>
              <a:rPr lang="en-US" sz="1200" b="1" spc="200" kern="0" dirty="0">
                <a:solidFill>
                  <a:srgbClr val="C4B5FD"/>
                </a:solidFill>
                <a:latin typeface="Arial" pitchFamily="34" charset="0"/>
                <a:ea typeface="Arial" pitchFamily="34" charset="-122"/>
                <a:cs typeface="Arial" pitchFamily="34" charset="-120"/>
              </a:rPr>
              <a:t>WHAT HAPPENS NEXT</a:t>
            </a:r>
            <a:endParaRPr lang="en-US" sz="1200" dirty="0"/>
          </a:p>
        </p:txBody>
      </p:sp>
      <p:sp>
        <p:nvSpPr>
          <p:cNvPr id="4" name="Text 2"/>
          <p:cNvSpPr txBox="1"/>
          <p:nvPr/>
        </p:nvSpPr>
        <p:spPr>
          <a:xfrm>
            <a:off x="566928" y="1316736"/>
            <a:ext cx="365760" cy="310896"/>
          </a:xfrm>
          <a:prstGeom prst="rect">
            <a:avLst/>
          </a:prstGeom>
          <a:noFill/>
          <a:ln/>
        </p:spPr>
        <p:txBody>
          <a:bodyPr wrap="square" lIns="0" tIns="0" rIns="0" bIns="0" rtlCol="0" anchor="ctr"/>
          <a:lstStyle/>
          <a:p>
            <a:pPr indent="0" marL="0">
              <a:buNone/>
            </a:pPr>
            <a:r>
              <a:rPr lang="en-US" sz="1400" b="1" dirty="0">
                <a:solidFill>
                  <a:srgbClr val="7C3AED"/>
                </a:solidFill>
                <a:latin typeface="Arial" pitchFamily="34" charset="0"/>
                <a:ea typeface="Arial" pitchFamily="34" charset="-122"/>
                <a:cs typeface="Arial" pitchFamily="34" charset="-120"/>
              </a:rPr>
              <a:t>1</a:t>
            </a:r>
            <a:endParaRPr lang="en-US" sz="1400" dirty="0"/>
          </a:p>
        </p:txBody>
      </p:sp>
      <p:sp>
        <p:nvSpPr>
          <p:cNvPr id="5" name="Text 3"/>
          <p:cNvSpPr txBox="1"/>
          <p:nvPr/>
        </p:nvSpPr>
        <p:spPr>
          <a:xfrm>
            <a:off x="987552" y="1316736"/>
            <a:ext cx="786384" cy="310896"/>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You</a:t>
            </a:r>
            <a:endParaRPr lang="en-US" sz="1400" dirty="0"/>
          </a:p>
        </p:txBody>
      </p:sp>
      <p:sp>
        <p:nvSpPr>
          <p:cNvPr id="6" name="Text 4"/>
          <p:cNvSpPr txBox="1"/>
          <p:nvPr/>
        </p:nvSpPr>
        <p:spPr>
          <a:xfrm>
            <a:off x="1883664" y="1316736"/>
            <a:ext cx="7498080" cy="310896"/>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Answer Q1–Q5. Telegram, a call, or comments on the spec — whichever is least effort.</a:t>
            </a:r>
            <a:endParaRPr lang="en-US" sz="1400" dirty="0"/>
          </a:p>
        </p:txBody>
      </p:sp>
      <p:sp>
        <p:nvSpPr>
          <p:cNvPr id="7" name="Text 5"/>
          <p:cNvSpPr txBox="1"/>
          <p:nvPr/>
        </p:nvSpPr>
        <p:spPr>
          <a:xfrm>
            <a:off x="566928" y="1828800"/>
            <a:ext cx="365760" cy="310896"/>
          </a:xfrm>
          <a:prstGeom prst="rect">
            <a:avLst/>
          </a:prstGeom>
          <a:noFill/>
          <a:ln/>
        </p:spPr>
        <p:txBody>
          <a:bodyPr wrap="square" lIns="0" tIns="0" rIns="0" bIns="0" rtlCol="0" anchor="ctr"/>
          <a:lstStyle/>
          <a:p>
            <a:pPr indent="0" marL="0">
              <a:buNone/>
            </a:pPr>
            <a:r>
              <a:rPr lang="en-US" sz="1400" b="1" dirty="0">
                <a:solidFill>
                  <a:srgbClr val="7C3AED"/>
                </a:solidFill>
                <a:latin typeface="Arial" pitchFamily="34" charset="0"/>
                <a:ea typeface="Arial" pitchFamily="34" charset="-122"/>
                <a:cs typeface="Arial" pitchFamily="34" charset="-120"/>
              </a:rPr>
              <a:t>2</a:t>
            </a:r>
            <a:endParaRPr lang="en-US" sz="1400" dirty="0"/>
          </a:p>
        </p:txBody>
      </p:sp>
      <p:sp>
        <p:nvSpPr>
          <p:cNvPr id="8" name="Text 6"/>
          <p:cNvSpPr txBox="1"/>
          <p:nvPr/>
        </p:nvSpPr>
        <p:spPr>
          <a:xfrm>
            <a:off x="987552" y="1828800"/>
            <a:ext cx="786384" cy="310896"/>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Us</a:t>
            </a:r>
            <a:endParaRPr lang="en-US" sz="1400" dirty="0"/>
          </a:p>
        </p:txBody>
      </p:sp>
      <p:sp>
        <p:nvSpPr>
          <p:cNvPr id="9" name="Text 7"/>
          <p:cNvSpPr txBox="1"/>
          <p:nvPr/>
        </p:nvSpPr>
        <p:spPr>
          <a:xfrm>
            <a:off x="1883664" y="1828800"/>
            <a:ext cx="7498080" cy="310896"/>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Fold them in, freeze hylo-xsol-nav-v1 at v1.0, publish the hash.</a:t>
            </a:r>
            <a:endParaRPr lang="en-US" sz="1400" dirty="0"/>
          </a:p>
        </p:txBody>
      </p:sp>
      <p:sp>
        <p:nvSpPr>
          <p:cNvPr id="10" name="Text 8"/>
          <p:cNvSpPr txBox="1"/>
          <p:nvPr/>
        </p:nvSpPr>
        <p:spPr>
          <a:xfrm>
            <a:off x="566928" y="2340864"/>
            <a:ext cx="365760" cy="310896"/>
          </a:xfrm>
          <a:prstGeom prst="rect">
            <a:avLst/>
          </a:prstGeom>
          <a:noFill/>
          <a:ln/>
        </p:spPr>
        <p:txBody>
          <a:bodyPr wrap="square" lIns="0" tIns="0" rIns="0" bIns="0" rtlCol="0" anchor="ctr"/>
          <a:lstStyle/>
          <a:p>
            <a:pPr indent="0" marL="0">
              <a:buNone/>
            </a:pPr>
            <a:r>
              <a:rPr lang="en-US" sz="1400" b="1" dirty="0">
                <a:solidFill>
                  <a:srgbClr val="7C3AED"/>
                </a:solidFill>
                <a:latin typeface="Arial" pitchFamily="34" charset="0"/>
                <a:ea typeface="Arial" pitchFamily="34" charset="-122"/>
                <a:cs typeface="Arial" pitchFamily="34" charset="-120"/>
              </a:rPr>
              <a:t>3</a:t>
            </a:r>
            <a:endParaRPr lang="en-US" sz="1400" dirty="0"/>
          </a:p>
        </p:txBody>
      </p:sp>
      <p:sp>
        <p:nvSpPr>
          <p:cNvPr id="11" name="Text 9"/>
          <p:cNvSpPr txBox="1"/>
          <p:nvPr/>
        </p:nvSpPr>
        <p:spPr>
          <a:xfrm>
            <a:off x="987552" y="2340864"/>
            <a:ext cx="786384" cy="310896"/>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Us</a:t>
            </a:r>
            <a:endParaRPr lang="en-US" sz="1400" dirty="0"/>
          </a:p>
        </p:txBody>
      </p:sp>
      <p:sp>
        <p:nvSpPr>
          <p:cNvPr id="12" name="Text 10"/>
          <p:cNvSpPr txBox="1"/>
          <p:nvPr/>
        </p:nvSpPr>
        <p:spPr>
          <a:xfrm>
            <a:off x="1883664" y="2340864"/>
            <a:ext cx="7498080" cy="310896"/>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Build, test, ship to devnet, run the observer to parity.</a:t>
            </a:r>
            <a:endParaRPr lang="en-US" sz="1400" dirty="0"/>
          </a:p>
        </p:txBody>
      </p:sp>
      <p:sp>
        <p:nvSpPr>
          <p:cNvPr id="13" name="Text 11"/>
          <p:cNvSpPr txBox="1"/>
          <p:nvPr/>
        </p:nvSpPr>
        <p:spPr>
          <a:xfrm>
            <a:off x="566928" y="2852928"/>
            <a:ext cx="365760" cy="310896"/>
          </a:xfrm>
          <a:prstGeom prst="rect">
            <a:avLst/>
          </a:prstGeom>
          <a:noFill/>
          <a:ln/>
        </p:spPr>
        <p:txBody>
          <a:bodyPr wrap="square" lIns="0" tIns="0" rIns="0" bIns="0" rtlCol="0" anchor="ctr"/>
          <a:lstStyle/>
          <a:p>
            <a:pPr indent="0" marL="0">
              <a:buNone/>
            </a:pPr>
            <a:r>
              <a:rPr lang="en-US" sz="1400" b="1" dirty="0">
                <a:solidFill>
                  <a:srgbClr val="7C3AED"/>
                </a:solidFill>
                <a:latin typeface="Arial" pitchFamily="34" charset="0"/>
                <a:ea typeface="Arial" pitchFamily="34" charset="-122"/>
                <a:cs typeface="Arial" pitchFamily="34" charset="-120"/>
              </a:rPr>
              <a:t>4</a:t>
            </a:r>
            <a:endParaRPr lang="en-US" sz="1400" dirty="0"/>
          </a:p>
        </p:txBody>
      </p:sp>
      <p:sp>
        <p:nvSpPr>
          <p:cNvPr id="14" name="Text 12"/>
          <p:cNvSpPr txBox="1"/>
          <p:nvPr/>
        </p:nvSpPr>
        <p:spPr>
          <a:xfrm>
            <a:off x="987552" y="2852928"/>
            <a:ext cx="786384" cy="310896"/>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You</a:t>
            </a:r>
            <a:endParaRPr lang="en-US" sz="1400" dirty="0"/>
          </a:p>
        </p:txBody>
      </p:sp>
      <p:sp>
        <p:nvSpPr>
          <p:cNvPr id="15" name="Text 13"/>
          <p:cNvSpPr txBox="1"/>
          <p:nvPr/>
        </p:nvSpPr>
        <p:spPr>
          <a:xfrm>
            <a:off x="1883664" y="2852928"/>
            <a:ext cx="7498080" cy="310896"/>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One review pass on the frozen spec, and a yes or no on being named.</a:t>
            </a:r>
            <a:endParaRPr lang="en-US" sz="1400" dirty="0"/>
          </a:p>
        </p:txBody>
      </p:sp>
      <p:sp>
        <p:nvSpPr>
          <p:cNvPr id="16" name="Text 14"/>
          <p:cNvSpPr txBox="1"/>
          <p:nvPr/>
        </p:nvSpPr>
        <p:spPr>
          <a:xfrm>
            <a:off x="566928" y="3364992"/>
            <a:ext cx="365760" cy="310896"/>
          </a:xfrm>
          <a:prstGeom prst="rect">
            <a:avLst/>
          </a:prstGeom>
          <a:noFill/>
          <a:ln/>
        </p:spPr>
        <p:txBody>
          <a:bodyPr wrap="square" lIns="0" tIns="0" rIns="0" bIns="0" rtlCol="0" anchor="ctr"/>
          <a:lstStyle/>
          <a:p>
            <a:pPr indent="0" marL="0">
              <a:buNone/>
            </a:pPr>
            <a:r>
              <a:rPr lang="en-US" sz="1400" b="1" dirty="0">
                <a:solidFill>
                  <a:srgbClr val="7C3AED"/>
                </a:solidFill>
                <a:latin typeface="Arial" pitchFamily="34" charset="0"/>
                <a:ea typeface="Arial" pitchFamily="34" charset="-122"/>
                <a:cs typeface="Arial" pitchFamily="34" charset="-120"/>
              </a:rPr>
              <a:t>5</a:t>
            </a:r>
            <a:endParaRPr lang="en-US" sz="1400" dirty="0"/>
          </a:p>
        </p:txBody>
      </p:sp>
      <p:sp>
        <p:nvSpPr>
          <p:cNvPr id="17" name="Text 15"/>
          <p:cNvSpPr txBox="1"/>
          <p:nvPr/>
        </p:nvSpPr>
        <p:spPr>
          <a:xfrm>
            <a:off x="987552" y="3364992"/>
            <a:ext cx="786384" cy="310896"/>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Us</a:t>
            </a:r>
            <a:endParaRPr lang="en-US" sz="1400" dirty="0"/>
          </a:p>
        </p:txBody>
      </p:sp>
      <p:sp>
        <p:nvSpPr>
          <p:cNvPr id="18" name="Text 16"/>
          <p:cNvSpPr txBox="1"/>
          <p:nvPr/>
        </p:nvSpPr>
        <p:spPr>
          <a:xfrm>
            <a:off x="1883664" y="3364992"/>
            <a:ext cx="7498080" cy="310896"/>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Mainnet feeds, mirror API, Pyth intro.</a:t>
            </a:r>
            <a:endParaRPr lang="en-US" sz="1400" dirty="0"/>
          </a:p>
        </p:txBody>
      </p:sp>
      <p:sp>
        <p:nvSpPr>
          <p:cNvPr id="19" name="Text 17"/>
          <p:cNvSpPr txBox="1"/>
          <p:nvPr/>
        </p:nvSpPr>
        <p:spPr>
          <a:xfrm>
            <a:off x="566928" y="3877056"/>
            <a:ext cx="365760" cy="310896"/>
          </a:xfrm>
          <a:prstGeom prst="rect">
            <a:avLst/>
          </a:prstGeom>
          <a:noFill/>
          <a:ln/>
        </p:spPr>
        <p:txBody>
          <a:bodyPr wrap="square" lIns="0" tIns="0" rIns="0" bIns="0" rtlCol="0" anchor="ctr"/>
          <a:lstStyle/>
          <a:p>
            <a:pPr indent="0" marL="0">
              <a:buNone/>
            </a:pPr>
            <a:r>
              <a:rPr lang="en-US" sz="1400" b="1" dirty="0">
                <a:solidFill>
                  <a:srgbClr val="7C3AED"/>
                </a:solidFill>
                <a:latin typeface="Arial" pitchFamily="34" charset="0"/>
                <a:ea typeface="Arial" pitchFamily="34" charset="-122"/>
                <a:cs typeface="Arial" pitchFamily="34" charset="-120"/>
              </a:rPr>
              <a:t>6</a:t>
            </a:r>
            <a:endParaRPr lang="en-US" sz="1400" dirty="0"/>
          </a:p>
        </p:txBody>
      </p:sp>
      <p:sp>
        <p:nvSpPr>
          <p:cNvPr id="20" name="Text 18"/>
          <p:cNvSpPr txBox="1"/>
          <p:nvPr/>
        </p:nvSpPr>
        <p:spPr>
          <a:xfrm>
            <a:off x="987552" y="3877056"/>
            <a:ext cx="786384" cy="310896"/>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Both</a:t>
            </a:r>
            <a:endParaRPr lang="en-US" sz="1400" dirty="0"/>
          </a:p>
        </p:txBody>
      </p:sp>
      <p:sp>
        <p:nvSpPr>
          <p:cNvPr id="21" name="Text 19"/>
          <p:cNvSpPr txBox="1"/>
          <p:nvPr/>
        </p:nvSpPr>
        <p:spPr>
          <a:xfrm>
            <a:off x="1883664" y="3877056"/>
            <a:ext cx="7498080" cy="310896"/>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Co-announce.</a:t>
            </a:r>
            <a:endParaRPr lang="en-US" sz="1400" dirty="0"/>
          </a:p>
        </p:txBody>
      </p:sp>
      <p:sp>
        <p:nvSpPr>
          <p:cNvPr id="22" name="Shape 20"/>
          <p:cNvSpPr/>
          <p:nvPr/>
        </p:nvSpPr>
        <p:spPr>
          <a:xfrm>
            <a:off x="566928" y="4626864"/>
            <a:ext cx="8814816" cy="0"/>
          </a:xfrm>
          <a:prstGeom prst="line">
            <a:avLst/>
          </a:prstGeom>
          <a:noFill/>
          <a:ln w="12700">
            <a:solidFill>
              <a:srgbClr val="342C5C"/>
            </a:solidFill>
            <a:prstDash val="solid"/>
          </a:ln>
        </p:spPr>
      </p:sp>
      <p:sp>
        <p:nvSpPr>
          <p:cNvPr id="23" name="Text 21"/>
          <p:cNvSpPr txBox="1"/>
          <p:nvPr/>
        </p:nvSpPr>
        <p:spPr>
          <a:xfrm>
            <a:off x="566928" y="4828032"/>
            <a:ext cx="8814816" cy="822960"/>
          </a:xfrm>
          <a:prstGeom prst="rect">
            <a:avLst/>
          </a:prstGeom>
          <a:noFill/>
          <a:ln/>
        </p:spPr>
        <p:txBody>
          <a:bodyPr wrap="square" lIns="0" tIns="0" rIns="0" bIns="0" rtlCol="0" anchor="ctr"/>
          <a:lstStyle/>
          <a:p>
            <a:pPr indent="0" marL="0">
              <a:lnSpc>
                <a:spcPts val="2000"/>
              </a:lnSpc>
              <a:buNone/>
            </a:pPr>
            <a:r>
              <a:rPr lang="en-US" sz="1400" dirty="0">
                <a:solidFill>
                  <a:srgbClr val="A79FD0"/>
                </a:solidFill>
                <a:latin typeface="Arial" pitchFamily="34" charset="0"/>
                <a:ea typeface="Arial" pitchFamily="34" charset="-122"/>
                <a:cs typeface="Arial" pitchFamily="34" charset="-120"/>
              </a:rPr>
              <a:t>The methodology spec is complete except for those five answers. Reading §§2–6 takes about fifteen minutes and is the fastest way to check whether we have understood Hylo's math correctly — which, if we haven't, is the most valuable thing you could tell us.</a:t>
            </a:r>
            <a:endParaRPr lang="en-US" sz="1400" dirty="0"/>
          </a:p>
        </p:txBody>
      </p:sp>
      <p:sp>
        <p:nvSpPr>
          <p:cNvPr id="24" name="Text 22"/>
          <p:cNvSpPr txBox="1"/>
          <p:nvPr/>
        </p:nvSpPr>
        <p:spPr>
          <a:xfrm>
            <a:off x="566928" y="5760720"/>
            <a:ext cx="6400800" cy="402336"/>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Fail stale, never fail wrong.</a:t>
            </a:r>
            <a:endParaRPr lang="en-US" sz="2100" dirty="0"/>
          </a:p>
        </p:txBody>
      </p:sp>
      <p:sp>
        <p:nvSpPr>
          <p:cNvPr id="25" name="Text 23"/>
          <p:cNvSpPr txBox="1"/>
          <p:nvPr/>
        </p:nvSpPr>
        <p:spPr>
          <a:xfrm>
            <a:off x="566928" y="6199632"/>
            <a:ext cx="7315200" cy="274320"/>
          </a:xfrm>
          <a:prstGeom prst="rect">
            <a:avLst/>
          </a:prstGeom>
          <a:noFill/>
          <a:ln/>
        </p:spPr>
        <p:txBody>
          <a:bodyPr wrap="square" lIns="0" tIns="0" rIns="0" bIns="0" rtlCol="0" anchor="ctr"/>
          <a:lstStyle/>
          <a:p>
            <a:pPr indent="0" marL="0">
              <a:buNone/>
            </a:pPr>
            <a:r>
              <a:rPr lang="en-US" sz="1250" dirty="0">
                <a:solidFill>
                  <a:srgbClr val="7F77AC"/>
                </a:solidFill>
                <a:latin typeface="Arial" pitchFamily="34" charset="0"/>
                <a:ea typeface="Arial" pitchFamily="34" charset="-122"/>
                <a:cs typeface="Arial" pitchFamily="34" charset="-120"/>
              </a:rPr>
              <a:t>github.com/princedotrs/solana-valuation-interface</a:t>
            </a:r>
            <a:endParaRPr lang="en-US" sz="1250" dirty="0"/>
          </a:p>
        </p:txBody>
      </p:sp>
      <p:sp>
        <p:nvSpPr>
          <p:cNvPr id="26" name="Text 24"/>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6B6494"/>
                </a:solidFill>
                <a:latin typeface="Arial" pitchFamily="34" charset="0"/>
                <a:ea typeface="Arial" pitchFamily="34" charset="-122"/>
                <a:cs typeface="Arial"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SVI x Hylo — Solana Valuation Interface</dc:title>
  <dc:subject>PptxGenJS Presentation</dc:subject>
  <dc:creator>Prince — SVI</dc:creator>
  <cp:lastModifiedBy>Prince — SVI</cp:lastModifiedBy>
  <cp:revision>1</cp:revision>
  <dcterms:created xsi:type="dcterms:W3CDTF">2026-09-05T17:05:53Z</dcterms:created>
  <dcterms:modified xsi:type="dcterms:W3CDTF">2026-09-05T17:05:53Z</dcterms:modified>
</cp:coreProperties>
</file>