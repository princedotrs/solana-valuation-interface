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title out loud and stop. It does the work. Do not explain the product yet -- the next slide is the problem, and the audience has to feel it before the fix means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word 'fork' out loud: same bytes as mainnet, local validator. The point of this slide is not xSOL -- it is that two adapters this different publish into one account shape consumers read the same way. That is why it is an interface and not an oracle.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The whole pitch rests on the audience agreeing that a 3am price on a closed stock is not a price. If they nod here, everything after is mechanics.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MARKET_CLOSED is not an error and saying so is the point. An equity feed is SUPPOSED to be hours old overnight. If we refused to publish then, the feed would go dark exactly when a consumer most needs telling.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the pipeline Pyth asked Hylo for. Right is the same pipeline with the arithmetic moved on-chain. Be explicit that the publisher key on the right is still trusted — we do not fix that, and saying so buys credibility for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class, not the same protocol. Loopscale is the sharpest: on Solana, and lists hyUSD.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 exists already, we touch nothing. Purple = we deploy. Amber = the product. Green = operations. Blue = consumers. The keeper pays gas but cannot influence the value. Hylo's programs are never modified and never asked for permission: Solana account data is public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first framing of the video was 'our price is fresher than Pyth', which is false and would be dismantled in the replies. Pyth publishes the input; SVI publishes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a risk person cares about most. Every failure mode is visible and none produces a plausible wrong number. Each refusal logs the epochs, slots and timestamps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Solana RWA $3.7B (Jul 2026); LST supply approaching $15B (May 2026, Sanctum); lending TVL Kamino ~$2.1B + marginfi ~$700M + Save ~$400M + Drift spot ~$300M. Say the honest-version box out loud — it is what makes the rest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Hylo column is an open door, not a dependency. The old deck's five questions still stand in the spec's §10; if Hylo answers them, good; if not, the adapter reads public bytes and mainnet happens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32B"/>
        </a:solidFill>
      </p:bgPr>
    </p:bg>
    <p:spTree>
      <p:nvGrpSpPr>
        <p:cNvPr id="1" name=""/>
        <p:cNvGrpSpPr/>
        <p:nvPr/>
      </p:nvGrpSpPr>
      <p:grpSpPr>
        <a:xfrm>
          <a:off x="0" y="0"/>
          <a:ext cx="0" cy="0"/>
          <a:chOff x="0" y="0"/>
          <a:chExt cx="0" cy="0"/>
        </a:xfrm>
      </p:grpSpPr>
      <p:sp>
        <p:nvSpPr>
          <p:cNvPr id="2" name="Shape 0"/>
          <p:cNvSpPr/>
          <p:nvPr/>
        </p:nvSpPr>
        <p:spPr>
          <a:xfrm>
            <a:off x="-2011680" y="-2377440"/>
            <a:ext cx="6583680" cy="6583680"/>
          </a:xfrm>
          <a:prstGeom prst="roundRect">
            <a:avLst>
              <a:gd name="adj" fmla="val 6944"/>
            </a:avLst>
          </a:prstGeom>
          <a:solidFill>
            <a:srgbClr val="7C3AED">
              <a:alpha val="16000"/>
            </a:srgbClr>
          </a:solidFill>
          <a:ln/>
        </p:spPr>
      </p:sp>
      <p:sp>
        <p:nvSpPr>
          <p:cNvPr id="3" name="Shape 1"/>
          <p:cNvSpPr/>
          <p:nvPr/>
        </p:nvSpPr>
        <p:spPr>
          <a:xfrm>
            <a:off x="8595360" y="4023360"/>
            <a:ext cx="5852160" cy="5852160"/>
          </a:xfrm>
          <a:prstGeom prst="roundRect">
            <a:avLst>
              <a:gd name="adj" fmla="val 7813"/>
            </a:avLst>
          </a:prstGeom>
          <a:solidFill>
            <a:srgbClr val="7C3AED">
              <a:alpha val="12000"/>
            </a:srgbClr>
          </a:solidFill>
          <a:ln/>
        </p:spPr>
      </p:sp>
      <p:sp>
        <p:nvSpPr>
          <p:cNvPr id="4" name="Text 2"/>
          <p:cNvSpPr txBox="1"/>
          <p:nvPr/>
        </p:nvSpPr>
        <p:spPr>
          <a:xfrm>
            <a:off x="566928" y="1481328"/>
            <a:ext cx="11057839" cy="292608"/>
          </a:xfrm>
          <a:prstGeom prst="rect">
            <a:avLst/>
          </a:prstGeom>
          <a:noFill/>
          <a:ln/>
        </p:spPr>
        <p:txBody>
          <a:bodyPr wrap="square" lIns="0" tIns="0" rIns="0" bIns="0" rtlCol="0" anchor="ctr"/>
          <a:lstStyle/>
          <a:p>
            <a:pPr indent="0" marL="0">
              <a:buNone/>
            </a:pPr>
            <a:r>
              <a:rPr lang="en-US" sz="1300" b="1" spc="240" kern="0" dirty="0">
                <a:solidFill>
                  <a:srgbClr val="C4B5FD"/>
                </a:solidFill>
                <a:latin typeface="Arial" pitchFamily="34" charset="0"/>
                <a:ea typeface="Arial" pitchFamily="34" charset="-122"/>
                <a:cs typeface="Arial" pitchFamily="34" charset="-120"/>
              </a:rPr>
              <a:t>SOLANA VALUATION INTERFACE</a:t>
            </a:r>
            <a:endParaRPr lang="en-US" sz="1300" dirty="0"/>
          </a:p>
        </p:txBody>
      </p:sp>
      <p:sp>
        <p:nvSpPr>
          <p:cNvPr id="5" name="Text 3"/>
          <p:cNvSpPr txBox="1"/>
          <p:nvPr/>
        </p:nvSpPr>
        <p:spPr>
          <a:xfrm>
            <a:off x="566928" y="1901952"/>
            <a:ext cx="9509760" cy="1828800"/>
          </a:xfrm>
          <a:prstGeom prst="rect">
            <a:avLst/>
          </a:prstGeom>
          <a:noFill/>
          <a:ln/>
        </p:spPr>
        <p:txBody>
          <a:bodyPr wrap="square" lIns="0" tIns="0" rIns="0" bIns="0" rtlCol="0" anchor="ctr"/>
          <a:lstStyle/>
          <a:p>
            <a:pPr indent="0" marL="0">
              <a:lnSpc>
                <a:spcPts val="5400"/>
              </a:lnSpc>
              <a:buNone/>
            </a:pPr>
            <a:r>
              <a:rPr lang="en-US" sz="5000" b="1" dirty="0">
                <a:solidFill>
                  <a:srgbClr val="FFFFFF"/>
                </a:solidFill>
                <a:latin typeface="Arial" pitchFamily="34" charset="0"/>
                <a:ea typeface="Arial" pitchFamily="34" charset="-122"/>
                <a:cs typeface="Arial" pitchFamily="34" charset="-120"/>
              </a:rPr>
              <a:t>AAPLx trades all night.</a:t>
            </a:r>
            <a:endParaRPr lang="en-US" sz="5000" dirty="0"/>
          </a:p>
          <a:p>
            <a:pPr indent="0" marL="0">
              <a:lnSpc>
                <a:spcPts val="5400"/>
              </a:lnSpc>
              <a:buNone/>
            </a:pPr>
            <a:r>
              <a:rPr lang="en-US" sz="5000" b="1" dirty="0">
                <a:solidFill>
                  <a:srgbClr val="FFFFFF"/>
                </a:solidFill>
                <a:latin typeface="Arial" pitchFamily="34" charset="0"/>
                <a:ea typeface="Arial" pitchFamily="34" charset="-122"/>
                <a:cs typeface="Arial" pitchFamily="34" charset="-120"/>
              </a:rPr>
              <a:t>Apple doesn't.</a:t>
            </a:r>
            <a:endParaRPr lang="en-US" sz="5000" dirty="0"/>
          </a:p>
        </p:txBody>
      </p:sp>
      <p:sp>
        <p:nvSpPr>
          <p:cNvPr id="6" name="Text 4"/>
          <p:cNvSpPr txBox="1"/>
          <p:nvPr/>
        </p:nvSpPr>
        <p:spPr>
          <a:xfrm>
            <a:off x="566928" y="3913632"/>
            <a:ext cx="9326880" cy="822960"/>
          </a:xfrm>
          <a:prstGeom prst="rect">
            <a:avLst/>
          </a:prstGeom>
          <a:noFill/>
          <a:ln/>
        </p:spPr>
        <p:txBody>
          <a:bodyPr wrap="square" lIns="0" tIns="0" rIns="0" bIns="0" rtlCol="0" anchor="ctr"/>
          <a:lstStyle/>
          <a:p>
            <a:pPr indent="0" marL="0">
              <a:lnSpc>
                <a:spcPts val="2400"/>
              </a:lnSpc>
              <a:buNone/>
            </a:pPr>
            <a:r>
              <a:rPr lang="en-US" sz="1650" dirty="0">
                <a:solidFill>
                  <a:srgbClr val="C9C4E4"/>
                </a:solidFill>
                <a:latin typeface="Arial" pitchFamily="34" charset="0"/>
                <a:ea typeface="Arial" pitchFamily="34" charset="-122"/>
                <a:cs typeface="Arial" pitchFamily="34" charset="-120"/>
              </a:rPr>
              <a:t>A tokenized stock trades 24/7. The share it represents trades 6.5 hours a day. SVI puts the real value on-chain — </a:t>
            </a:r>
            <a:pPr indent="0" marL="0">
              <a:lnSpc>
                <a:spcPts val="2400"/>
              </a:lnSpc>
              <a:buNone/>
            </a:pPr>
            <a:r>
              <a:rPr lang="en-US" sz="1650" b="1" dirty="0">
                <a:solidFill>
                  <a:srgbClr val="FFFFFF"/>
                </a:solidFill>
                <a:latin typeface="Arial" pitchFamily="34" charset="0"/>
                <a:ea typeface="Arial" pitchFamily="34" charset="-122"/>
                <a:cs typeface="Arial" pitchFamily="34" charset="-120"/>
              </a:rPr>
              <a:t>in an account anyone can read, that tells you when the market is shut.</a:t>
            </a:r>
            <a:endParaRPr lang="en-US" sz="1650" dirty="0"/>
          </a:p>
        </p:txBody>
      </p:sp>
      <p:sp>
        <p:nvSpPr>
          <p:cNvPr id="7" name="Shape 5"/>
          <p:cNvSpPr/>
          <p:nvPr/>
        </p:nvSpPr>
        <p:spPr>
          <a:xfrm>
            <a:off x="566928" y="5029200"/>
            <a:ext cx="2743200" cy="0"/>
          </a:xfrm>
          <a:prstGeom prst="line">
            <a:avLst/>
          </a:prstGeom>
          <a:noFill/>
          <a:ln w="31750">
            <a:solidFill>
              <a:srgbClr val="7C3AED"/>
            </a:solidFill>
            <a:prstDash val="solid"/>
          </a:ln>
        </p:spPr>
      </p:sp>
      <p:sp>
        <p:nvSpPr>
          <p:cNvPr id="8" name="Text 6"/>
          <p:cNvSpPr txBox="1"/>
          <p:nvPr/>
        </p:nvSpPr>
        <p:spPr>
          <a:xfrm>
            <a:off x="566928" y="5230368"/>
            <a:ext cx="7315200" cy="731520"/>
          </a:xfrm>
          <a:prstGeom prst="rect">
            <a:avLst/>
          </a:prstGeom>
          <a:noFill/>
          <a:ln/>
        </p:spPr>
        <p:txBody>
          <a:bodyPr wrap="square" lIns="0" tIns="0" rIns="0" bIns="0" rtlCol="0" anchor="ctr"/>
          <a:lstStyle/>
          <a:p>
            <a:pPr indent="0" marL="0">
              <a:lnSpc>
                <a:spcPts val="2100"/>
              </a:lnSpc>
              <a:buNone/>
            </a:pPr>
            <a:r>
              <a:rPr lang="en-US" sz="1400" b="1" dirty="0">
                <a:solidFill>
                  <a:srgbClr val="FFFFFF"/>
                </a:solidFill>
                <a:latin typeface="Arial" pitchFamily="34" charset="0"/>
                <a:ea typeface="Arial" pitchFamily="34" charset="-122"/>
                <a:cs typeface="Arial" pitchFamily="34" charset="-120"/>
              </a:rPr>
              <a:t>Two Pyth feeds in, two verifiable quotes out, one transaction  ·  devnet</a:t>
            </a:r>
            <a:pPr indent="0" marL="0">
              <a:lnSpc>
                <a:spcPts val="2100"/>
              </a:lnSpc>
              <a:buNone/>
            </a:pPr>
            <a:endParaRPr lang="en-US" sz="1400" dirty="0"/>
          </a:p>
          <a:p>
            <a:pPr indent="0" marL="0">
              <a:lnSpc>
                <a:spcPts val="2100"/>
              </a:lnSpc>
              <a:buNone/>
            </a:pPr>
            <a:r>
              <a:rPr lang="en-US" sz="1400" dirty="0">
                <a:solidFill>
                  <a:srgbClr val="9F98C4"/>
                </a:solidFill>
                <a:latin typeface="Arial" pitchFamily="34" charset="0"/>
                <a:ea typeface="Arial" pitchFamily="34" charset="-122"/>
                <a:cs typeface="Arial" pitchFamily="34" charset="-120"/>
              </a:rPr>
              <a:t>Prince  ·  SVI  ·  September 2026</a:t>
            </a:r>
            <a:endParaRPr lang="en-US" sz="1400" dirty="0"/>
          </a:p>
        </p:txBody>
      </p:sp>
      <p:sp>
        <p:nvSpPr>
          <p:cNvPr id="9" name="Text 7"/>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ADAPTER #2 · HYLO-XSOL-NAV-V1</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The interface already generalises. Here is the receipt.</a:t>
            </a:r>
            <a:endParaRPr lang="en-US" sz="3200" dirty="0"/>
          </a:p>
        </p:txBody>
      </p:sp>
      <p:sp>
        <p:nvSpPr>
          <p:cNvPr id="4" name="Text 2"/>
          <p:cNvSpPr txBox="1"/>
          <p:nvPr/>
        </p:nvSpPr>
        <p:spPr>
          <a:xfrm>
            <a:off x="566928" y="1280160"/>
            <a:ext cx="10424160" cy="365760"/>
          </a:xfrm>
          <a:prstGeom prst="rect">
            <a:avLst/>
          </a:prstGeom>
          <a:noFill/>
          <a:ln/>
        </p:spPr>
        <p:txBody>
          <a:bodyPr wrap="square" lIns="0" tIns="0" rIns="0" bIns="0" rtlCol="0" anchor="ctr"/>
          <a:lstStyle/>
          <a:p>
            <a:pPr indent="0" marL="0">
              <a:buNone/>
            </a:pPr>
            <a:r>
              <a:rPr lang="en-US" sz="1400" dirty="0">
                <a:solidFill>
                  <a:srgbClr val="5B6478"/>
                </a:solidFill>
                <a:latin typeface="Arial" pitchFamily="34" charset="0"/>
                <a:ea typeface="Arial" pitchFamily="34" charset="-122"/>
                <a:cs typeface="Arial" pitchFamily="34" charset="-120"/>
              </a:rPr>
              <a:t>Before stocks, the same core published a leveraged token's NAV — computed by subtraction from a protocol's vault, nothing like a Pyth feed. 10 Sep 2026, on a fork of Solana mainnet with Hylo's real accounts re-cloned seconds before.</a:t>
            </a:r>
            <a:endParaRPr lang="en-US" sz="1400" dirty="0"/>
          </a:p>
        </p:txBody>
      </p:sp>
      <p:sp>
        <p:nvSpPr>
          <p:cNvPr id="5" name="Shape 3"/>
          <p:cNvSpPr/>
          <p:nvPr/>
        </p:nvSpPr>
        <p:spPr>
          <a:xfrm>
            <a:off x="566928" y="1828800"/>
            <a:ext cx="2558720" cy="1737360"/>
          </a:xfrm>
          <a:prstGeom prst="roundRect">
            <a:avLst>
              <a:gd name="adj" fmla="val 3684"/>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6" name="Text 4"/>
          <p:cNvSpPr txBox="1"/>
          <p:nvPr/>
        </p:nvSpPr>
        <p:spPr>
          <a:xfrm>
            <a:off x="822960" y="2029968"/>
            <a:ext cx="2046656" cy="749808"/>
          </a:xfrm>
          <a:prstGeom prst="rect">
            <a:avLst/>
          </a:prstGeom>
          <a:noFill/>
          <a:ln/>
        </p:spPr>
        <p:txBody>
          <a:bodyPr wrap="square" lIns="0" tIns="0" rIns="0" bIns="0" rtlCol="0" anchor="ctr"/>
          <a:lstStyle/>
          <a:p>
            <a:pPr algn="l" indent="0" marL="0">
              <a:buNone/>
            </a:pPr>
            <a:r>
              <a:rPr lang="en-US" sz="3600" b="1" dirty="0">
                <a:solidFill>
                  <a:srgbClr val="7C3AED"/>
                </a:solidFill>
                <a:latin typeface="Arial" pitchFamily="34" charset="0"/>
                <a:ea typeface="Arial" pitchFamily="34" charset="-122"/>
                <a:cs typeface="Arial" pitchFamily="34" charset="-120"/>
              </a:rPr>
              <a:t>$0.0603</a:t>
            </a:r>
            <a:endParaRPr lang="en-US" sz="3600" dirty="0"/>
          </a:p>
        </p:txBody>
      </p:sp>
      <p:sp>
        <p:nvSpPr>
          <p:cNvPr id="7" name="Text 5"/>
          <p:cNvSpPr txBox="1"/>
          <p:nvPr/>
        </p:nvSpPr>
        <p:spPr>
          <a:xfrm>
            <a:off x="822960" y="2743200"/>
            <a:ext cx="2046656" cy="566928"/>
          </a:xfrm>
          <a:prstGeom prst="rect">
            <a:avLst/>
          </a:prstGeom>
          <a:noFill/>
          <a:ln/>
        </p:spPr>
        <p:txBody>
          <a:bodyPr wrap="square" lIns="0" tIns="0" rIns="0" bIns="0" rtlCol="0" anchor="ctr"/>
          <a:lstStyle/>
          <a:p>
            <a:pPr algn="l" indent="0" marL="0">
              <a:buNone/>
            </a:pPr>
            <a:r>
              <a:rPr lang="en-US" sz="1150" dirty="0">
                <a:solidFill>
                  <a:srgbClr val="5B6478"/>
                </a:solidFill>
                <a:latin typeface="Arial" pitchFamily="34" charset="0"/>
                <a:ea typeface="Arial" pitchFamily="34" charset="-122"/>
                <a:cs typeface="Arial" pitchFamily="34" charset="-120"/>
              </a:rPr>
              <a:t>per xSOL — $0.060285498,</a:t>
            </a:r>
            <a:endParaRPr lang="en-US" sz="1150" dirty="0"/>
          </a:p>
          <a:p>
            <a:pPr algn="l" indent="0" marL="0">
              <a:buNone/>
            </a:pPr>
            <a:r>
              <a:rPr lang="en-US" sz="1150" dirty="0">
                <a:solidFill>
                  <a:srgbClr val="5B6478"/>
                </a:solidFill>
                <a:latin typeface="Arial" pitchFamily="34" charset="0"/>
                <a:ea typeface="Arial" pitchFamily="34" charset="-122"/>
                <a:cs typeface="Arial" pitchFamily="34" charset="-120"/>
              </a:rPr>
              <a:t>computed on-chain by hylo-core</a:t>
            </a:r>
            <a:endParaRPr lang="en-US" sz="1150" dirty="0"/>
          </a:p>
        </p:txBody>
      </p:sp>
      <p:sp>
        <p:nvSpPr>
          <p:cNvPr id="8" name="Shape 6"/>
          <p:cNvSpPr/>
          <p:nvPr/>
        </p:nvSpPr>
        <p:spPr>
          <a:xfrm>
            <a:off x="3399968" y="1828800"/>
            <a:ext cx="2558720" cy="1737360"/>
          </a:xfrm>
          <a:prstGeom prst="roundRect">
            <a:avLst>
              <a:gd name="adj" fmla="val 3684"/>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9" name="Text 7"/>
          <p:cNvSpPr txBox="1"/>
          <p:nvPr/>
        </p:nvSpPr>
        <p:spPr>
          <a:xfrm>
            <a:off x="3656000" y="2029968"/>
            <a:ext cx="2046656" cy="749808"/>
          </a:xfrm>
          <a:prstGeom prst="rect">
            <a:avLst/>
          </a:prstGeom>
          <a:noFill/>
          <a:ln/>
        </p:spPr>
        <p:txBody>
          <a:bodyPr wrap="square" lIns="0" tIns="0" rIns="0" bIns="0" rtlCol="0" anchor="ctr"/>
          <a:lstStyle/>
          <a:p>
            <a:pPr algn="l" indent="0" marL="0">
              <a:buNone/>
            </a:pPr>
            <a:r>
              <a:rPr lang="en-US" sz="3600" b="1" dirty="0">
                <a:solidFill>
                  <a:srgbClr val="7C3AED"/>
                </a:solidFill>
                <a:latin typeface="Arial" pitchFamily="34" charset="0"/>
                <a:ea typeface="Arial" pitchFamily="34" charset="-122"/>
                <a:cs typeface="Arial" pitchFamily="34" charset="-120"/>
              </a:rPr>
              <a:t>4.9 bps</a:t>
            </a:r>
            <a:endParaRPr lang="en-US" sz="3600" dirty="0"/>
          </a:p>
        </p:txBody>
      </p:sp>
      <p:sp>
        <p:nvSpPr>
          <p:cNvPr id="10" name="Text 8"/>
          <p:cNvSpPr txBox="1"/>
          <p:nvPr/>
        </p:nvSpPr>
        <p:spPr>
          <a:xfrm>
            <a:off x="3656000" y="2743200"/>
            <a:ext cx="2046656" cy="566928"/>
          </a:xfrm>
          <a:prstGeom prst="rect">
            <a:avLst/>
          </a:prstGeom>
          <a:noFill/>
          <a:ln/>
        </p:spPr>
        <p:txBody>
          <a:bodyPr wrap="square" lIns="0" tIns="0" rIns="0" bIns="0" rtlCol="0" anchor="ctr"/>
          <a:lstStyle/>
          <a:p>
            <a:pPr algn="l" indent="0" marL="0">
              <a:buNone/>
            </a:pPr>
            <a:r>
              <a:rPr lang="en-US" sz="1150" dirty="0">
                <a:solidFill>
                  <a:srgbClr val="5B6478"/>
                </a:solidFill>
                <a:latin typeface="Arial" pitchFamily="34" charset="0"/>
                <a:ea typeface="Arial" pitchFamily="34" charset="-122"/>
                <a:cs typeface="Arial" pitchFamily="34" charset="-120"/>
              </a:rPr>
              <a:t>wide band: redeem $0.060285498,</a:t>
            </a:r>
            <a:endParaRPr lang="en-US" sz="1150" dirty="0"/>
          </a:p>
          <a:p>
            <a:pPr algn="l" indent="0" marL="0">
              <a:buNone/>
            </a:pPr>
            <a:r>
              <a:rPr lang="en-US" sz="1150" dirty="0">
                <a:solidFill>
                  <a:srgbClr val="5B6478"/>
                </a:solidFill>
                <a:latin typeface="Arial" pitchFamily="34" charset="0"/>
                <a:ea typeface="Arial" pitchFamily="34" charset="-122"/>
                <a:cs typeface="Arial" pitchFamily="34" charset="-120"/>
              </a:rPr>
              <a:t>mint $0.060315053</a:t>
            </a:r>
            <a:endParaRPr lang="en-US" sz="1150" dirty="0"/>
          </a:p>
        </p:txBody>
      </p:sp>
      <p:sp>
        <p:nvSpPr>
          <p:cNvPr id="11" name="Shape 9"/>
          <p:cNvSpPr/>
          <p:nvPr/>
        </p:nvSpPr>
        <p:spPr>
          <a:xfrm>
            <a:off x="6233008" y="1828800"/>
            <a:ext cx="2558720" cy="1737360"/>
          </a:xfrm>
          <a:prstGeom prst="roundRect">
            <a:avLst>
              <a:gd name="adj" fmla="val 3684"/>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2" name="Text 10"/>
          <p:cNvSpPr txBox="1"/>
          <p:nvPr/>
        </p:nvSpPr>
        <p:spPr>
          <a:xfrm>
            <a:off x="6489040" y="2029968"/>
            <a:ext cx="2046656" cy="749808"/>
          </a:xfrm>
          <a:prstGeom prst="rect">
            <a:avLst/>
          </a:prstGeom>
          <a:noFill/>
          <a:ln/>
        </p:spPr>
        <p:txBody>
          <a:bodyPr wrap="square" lIns="0" tIns="0" rIns="0" bIns="0" rtlCol="0" anchor="ctr"/>
          <a:lstStyle/>
          <a:p>
            <a:pPr algn="l" indent="0" marL="0">
              <a:buNone/>
            </a:pPr>
            <a:r>
              <a:rPr lang="en-US" sz="3600" b="1" dirty="0">
                <a:solidFill>
                  <a:srgbClr val="16A34A"/>
                </a:solidFill>
                <a:latin typeface="Arial" pitchFamily="34" charset="0"/>
                <a:ea typeface="Arial" pitchFamily="34" charset="-122"/>
                <a:cs typeface="Arial" pitchFamily="34" charset="-120"/>
              </a:rPr>
              <a:t>0</a:t>
            </a:r>
            <a:endParaRPr lang="en-US" sz="3600" dirty="0"/>
          </a:p>
        </p:txBody>
      </p:sp>
      <p:sp>
        <p:nvSpPr>
          <p:cNvPr id="13" name="Text 11"/>
          <p:cNvSpPr txBox="1"/>
          <p:nvPr/>
        </p:nvSpPr>
        <p:spPr>
          <a:xfrm>
            <a:off x="6489040" y="2743200"/>
            <a:ext cx="2046656" cy="566928"/>
          </a:xfrm>
          <a:prstGeom prst="rect">
            <a:avLst/>
          </a:prstGeom>
          <a:noFill/>
          <a:ln/>
        </p:spPr>
        <p:txBody>
          <a:bodyPr wrap="square" lIns="0" tIns="0" rIns="0" bIns="0" rtlCol="0" anchor="ctr"/>
          <a:lstStyle/>
          <a:p>
            <a:pPr algn="l" indent="0" marL="0">
              <a:buNone/>
            </a:pPr>
            <a:r>
              <a:rPr lang="en-US" sz="1150" dirty="0">
                <a:solidFill>
                  <a:srgbClr val="5B6478"/>
                </a:solidFill>
                <a:latin typeface="Arial" pitchFamily="34" charset="0"/>
                <a:ea typeface="Arial" pitchFamily="34" charset="-122"/>
                <a:cs typeface="Arial" pitchFamily="34" charset="-120"/>
              </a:rPr>
              <a:t>difference from an independent</a:t>
            </a:r>
            <a:endParaRPr lang="en-US" sz="1150" dirty="0"/>
          </a:p>
          <a:p>
            <a:pPr algn="l" indent="0" marL="0">
              <a:buNone/>
            </a:pPr>
            <a:r>
              <a:rPr lang="en-US" sz="1150" dirty="0">
                <a:solidFill>
                  <a:srgbClr val="5B6478"/>
                </a:solidFill>
                <a:latin typeface="Arial" pitchFamily="34" charset="0"/>
                <a:ea typeface="Arial" pitchFamily="34" charset="-122"/>
                <a:cs typeface="Arial" pitchFamily="34" charset="-120"/>
              </a:rPr>
              <a:t>off-chain recomputation</a:t>
            </a:r>
            <a:endParaRPr lang="en-US" sz="1150" dirty="0"/>
          </a:p>
        </p:txBody>
      </p:sp>
      <p:sp>
        <p:nvSpPr>
          <p:cNvPr id="14" name="Shape 12"/>
          <p:cNvSpPr/>
          <p:nvPr/>
        </p:nvSpPr>
        <p:spPr>
          <a:xfrm>
            <a:off x="9066047" y="1828800"/>
            <a:ext cx="2558720" cy="1737360"/>
          </a:xfrm>
          <a:prstGeom prst="roundRect">
            <a:avLst>
              <a:gd name="adj" fmla="val 3684"/>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5" name="Text 13"/>
          <p:cNvSpPr txBox="1"/>
          <p:nvPr/>
        </p:nvSpPr>
        <p:spPr>
          <a:xfrm>
            <a:off x="9322079" y="2029968"/>
            <a:ext cx="2046656" cy="749808"/>
          </a:xfrm>
          <a:prstGeom prst="rect">
            <a:avLst/>
          </a:prstGeom>
          <a:noFill/>
          <a:ln/>
        </p:spPr>
        <p:txBody>
          <a:bodyPr wrap="square" lIns="0" tIns="0" rIns="0" bIns="0" rtlCol="0" anchor="ctr"/>
          <a:lstStyle/>
          <a:p>
            <a:pPr algn="l" indent="0" marL="0">
              <a:buNone/>
            </a:pPr>
            <a:r>
              <a:rPr lang="en-US" sz="3600" b="1" dirty="0">
                <a:solidFill>
                  <a:srgbClr val="5B6478"/>
                </a:solidFill>
                <a:latin typeface="Arial" pitchFamily="34" charset="0"/>
                <a:ea typeface="Arial" pitchFamily="34" charset="-122"/>
                <a:cs typeface="Arial" pitchFamily="34" charset="-120"/>
              </a:rPr>
              <a:t>~13k CU</a:t>
            </a:r>
            <a:endParaRPr lang="en-US" sz="3600" dirty="0"/>
          </a:p>
        </p:txBody>
      </p:sp>
      <p:sp>
        <p:nvSpPr>
          <p:cNvPr id="16" name="Text 14"/>
          <p:cNvSpPr txBox="1"/>
          <p:nvPr/>
        </p:nvSpPr>
        <p:spPr>
          <a:xfrm>
            <a:off x="9322079" y="2743200"/>
            <a:ext cx="2046656" cy="566928"/>
          </a:xfrm>
          <a:prstGeom prst="rect">
            <a:avLst/>
          </a:prstGeom>
          <a:noFill/>
          <a:ln/>
        </p:spPr>
        <p:txBody>
          <a:bodyPr wrap="square" lIns="0" tIns="0" rIns="0" bIns="0" rtlCol="0" anchor="ctr"/>
          <a:lstStyle/>
          <a:p>
            <a:pPr algn="l" indent="0" marL="0">
              <a:buNone/>
            </a:pPr>
            <a:r>
              <a:rPr lang="en-US" sz="1150" dirty="0">
                <a:solidFill>
                  <a:srgbClr val="5B6478"/>
                </a:solidFill>
                <a:latin typeface="Arial" pitchFamily="34" charset="0"/>
                <a:ea typeface="Arial" pitchFamily="34" charset="-122"/>
                <a:cs typeface="Arial" pitchFamily="34" charset="-120"/>
              </a:rPr>
              <a:t>to refresh; ~200 CU</a:t>
            </a:r>
            <a:endParaRPr lang="en-US" sz="1150" dirty="0"/>
          </a:p>
          <a:p>
            <a:pPr algn="l" indent="0" marL="0">
              <a:buNone/>
            </a:pPr>
            <a:r>
              <a:rPr lang="en-US" sz="1150" dirty="0">
                <a:solidFill>
                  <a:srgbClr val="5B6478"/>
                </a:solidFill>
                <a:latin typeface="Arial" pitchFamily="34" charset="0"/>
                <a:ea typeface="Arial" pitchFamily="34" charset="-122"/>
                <a:cs typeface="Arial" pitchFamily="34" charset="-120"/>
              </a:rPr>
              <a:t>for a consumer to read</a:t>
            </a:r>
            <a:endParaRPr lang="en-US" sz="1150" dirty="0"/>
          </a:p>
        </p:txBody>
      </p:sp>
      <p:sp>
        <p:nvSpPr>
          <p:cNvPr id="17" name="Shape 15"/>
          <p:cNvSpPr/>
          <p:nvPr/>
        </p:nvSpPr>
        <p:spPr>
          <a:xfrm>
            <a:off x="566928" y="3803904"/>
            <a:ext cx="6766560" cy="2286000"/>
          </a:xfrm>
          <a:prstGeom prst="roundRect">
            <a:avLst>
              <a:gd name="adj" fmla="val 2800"/>
            </a:avLst>
          </a:prstGeom>
          <a:solidFill>
            <a:srgbClr val="241E45"/>
          </a:solidFill>
          <a:ln w="12700">
            <a:solidFill>
              <a:srgbClr val="241E45"/>
            </a:solidFill>
            <a:prstDash val="solid"/>
          </a:ln>
        </p:spPr>
      </p:sp>
      <p:sp>
        <p:nvSpPr>
          <p:cNvPr id="18" name="Text 16"/>
          <p:cNvSpPr txBox="1"/>
          <p:nvPr/>
        </p:nvSpPr>
        <p:spPr>
          <a:xfrm>
            <a:off x="841248" y="3968496"/>
            <a:ext cx="6309360" cy="237744"/>
          </a:xfrm>
          <a:prstGeom prst="rect">
            <a:avLst/>
          </a:prstGeom>
          <a:noFill/>
          <a:ln/>
        </p:spPr>
        <p:txBody>
          <a:bodyPr wrap="square" lIns="0" tIns="0" rIns="0" bIns="0" rtlCol="0" anchor="ctr"/>
          <a:lstStyle/>
          <a:p>
            <a:pPr indent="0" marL="0">
              <a:buNone/>
            </a:pPr>
            <a:r>
              <a:rPr lang="en-US" sz="950" dirty="0">
                <a:solidFill>
                  <a:srgbClr val="9F98C4"/>
                </a:solidFill>
                <a:latin typeface="Courier New" pitchFamily="34" charset="0"/>
                <a:ea typeface="Courier New" pitchFamily="34" charset="-122"/>
                <a:cs typeface="Courier New" pitchFamily="34" charset="-120"/>
              </a:rPr>
              <a:t>PUBLISHED QUOTE  ·  G28Ba5F9X71Pih2SNobXyU98tjQdga1Ztbzqg3PU4rWj</a:t>
            </a:r>
            <a:endParaRPr lang="en-US" sz="950" dirty="0"/>
          </a:p>
        </p:txBody>
      </p:sp>
      <p:sp>
        <p:nvSpPr>
          <p:cNvPr id="19" name="Text 17"/>
          <p:cNvSpPr txBox="1"/>
          <p:nvPr/>
        </p:nvSpPr>
        <p:spPr>
          <a:xfrm>
            <a:off x="841248" y="4279392"/>
            <a:ext cx="6309360" cy="1700784"/>
          </a:xfrm>
          <a:prstGeom prst="rect">
            <a:avLst/>
          </a:prstGeom>
          <a:noFill/>
          <a:ln/>
        </p:spPr>
        <p:txBody>
          <a:bodyPr wrap="square" lIns="0" tIns="0" rIns="0" bIns="0" rtlCol="0" anchor="ctr"/>
          <a:lstStyle/>
          <a:p>
            <a:pPr indent="0" marL="0">
              <a:lnSpc>
                <a:spcPts val="1800"/>
              </a:lnSpc>
              <a:buNone/>
            </a:pPr>
            <a:r>
              <a:rPr lang="en-US" sz="1200" dirty="0">
                <a:solidFill>
                  <a:srgbClr val="FFFFFF"/>
                </a:solidFill>
                <a:latin typeface="Courier New" pitchFamily="34" charset="0"/>
                <a:ea typeface="Courier New" pitchFamily="34" charset="-122"/>
                <a:cs typeface="Courier New" pitchFamily="34" charset="-120"/>
              </a:rPr>
              <a:t>quote_amount    $ 0.060285498</a:t>
            </a:r>
            <a:endParaRPr lang="en-US" sz="1200" dirty="0"/>
          </a:p>
          <a:p>
            <a:pPr indent="0" marL="0">
              <a:lnSpc>
                <a:spcPts val="1800"/>
              </a:lnSpc>
              <a:buNone/>
            </a:pPr>
            <a:r>
              <a:rPr lang="en-US" sz="1200" dirty="0">
                <a:solidFill>
                  <a:srgbClr val="FFFFFF"/>
                </a:solidFill>
                <a:latin typeface="Courier New" pitchFamily="34" charset="0"/>
                <a:ea typeface="Courier New" pitchFamily="34" charset="-122"/>
                <a:cs typeface="Courier New" pitchFamily="34" charset="-120"/>
              </a:rPr>
              <a:t>lower / upper   $ 0.060285498 .. $ 0.060315053</a:t>
            </a:r>
            <a:endParaRPr lang="en-US" sz="1200" dirty="0"/>
          </a:p>
          <a:p>
            <a:pPr indent="0" marL="0">
              <a:lnSpc>
                <a:spcPts val="1800"/>
              </a:lnSpc>
              <a:buNone/>
            </a:pPr>
            <a:r>
              <a:rPr lang="en-US" sz="1200" dirty="0">
                <a:solidFill>
                  <a:srgbClr val="FFFFFF"/>
                </a:solidFill>
                <a:latin typeface="Courier New" pitchFamily="34" charset="0"/>
                <a:ea typeface="Courier New" pitchFamily="34" charset="-122"/>
                <a:cs typeface="Courier New" pitchFamily="34" charset="-120"/>
              </a:rPr>
              <a:t>base_amount     1000000  (1 whole xSOL)</a:t>
            </a:r>
            <a:endParaRPr lang="en-US" sz="1200" dirty="0"/>
          </a:p>
          <a:p>
            <a:pPr indent="0" marL="0">
              <a:lnSpc>
                <a:spcPts val="1800"/>
              </a:lnSpc>
              <a:buNone/>
            </a:pPr>
            <a:r>
              <a:rPr lang="en-US" sz="1200" dirty="0">
                <a:solidFill>
                  <a:srgbClr val="FFFFFF"/>
                </a:solidFill>
                <a:latin typeface="Courier New" pitchFamily="34" charset="0"/>
                <a:ea typeface="Courier New" pitchFamily="34" charset="-122"/>
                <a:cs typeface="Courier New" pitchFamily="34" charset="-120"/>
              </a:rPr>
              <a:t>observed_slot   445953445   valid_until 445954195</a:t>
            </a:r>
            <a:endParaRPr lang="en-US" sz="1200" dirty="0"/>
          </a:p>
          <a:p>
            <a:pPr indent="0" marL="0">
              <a:lnSpc>
                <a:spcPts val="1800"/>
              </a:lnSpc>
              <a:buNone/>
            </a:pPr>
            <a:r>
              <a:rPr lang="en-US" sz="1200" dirty="0">
                <a:solidFill>
                  <a:srgbClr val="FFFFFF"/>
                </a:solidFill>
                <a:latin typeface="Courier New" pitchFamily="34" charset="0"/>
                <a:ea typeface="Courier New" pitchFamily="34" charset="-122"/>
                <a:cs typeface="Courier New" pitchFamily="34" charset="-120"/>
              </a:rPr>
              <a:t>sequence        1           flags  BUY_ZONE</a:t>
            </a:r>
            <a:endParaRPr lang="en-US" sz="1200" dirty="0"/>
          </a:p>
          <a:p>
            <a:pPr indent="0" marL="0">
              <a:lnSpc>
                <a:spcPts val="1800"/>
              </a:lnSpc>
              <a:buNone/>
            </a:pPr>
            <a:r>
              <a:rPr lang="en-US" sz="1200" dirty="0">
                <a:solidFill>
                  <a:srgbClr val="FFFFFF"/>
                </a:solidFill>
                <a:latin typeface="Courier New" pitchFamily="34" charset="0"/>
                <a:ea typeface="Courier New" pitchFamily="34" charset="-122"/>
                <a:cs typeface="Courier New" pitchFamily="34" charset="-120"/>
              </a:rPr>
              <a:t>off-chain hylo-core:  $ 0.060285498   MATCH</a:t>
            </a:r>
            <a:endParaRPr lang="en-US" sz="1200" dirty="0"/>
          </a:p>
        </p:txBody>
      </p:sp>
      <p:sp>
        <p:nvSpPr>
          <p:cNvPr id="20" name="Shape 18"/>
          <p:cNvSpPr/>
          <p:nvPr/>
        </p:nvSpPr>
        <p:spPr>
          <a:xfrm>
            <a:off x="7552944" y="3803904"/>
            <a:ext cx="4071823" cy="2286000"/>
          </a:xfrm>
          <a:prstGeom prst="roundRect">
            <a:avLst>
              <a:gd name="adj" fmla="val 2800"/>
            </a:avLst>
          </a:prstGeom>
          <a:solidFill>
            <a:srgbClr val="EAF7EF"/>
          </a:solidFill>
          <a:ln w="12700">
            <a:solidFill>
              <a:srgbClr val="BFE3CC"/>
            </a:solidFill>
            <a:prstDash val="solid"/>
          </a:ln>
        </p:spPr>
      </p:sp>
      <p:sp>
        <p:nvSpPr>
          <p:cNvPr id="21" name="Text 19"/>
          <p:cNvSpPr txBox="1"/>
          <p:nvPr/>
        </p:nvSpPr>
        <p:spPr>
          <a:xfrm>
            <a:off x="7827264" y="3986784"/>
            <a:ext cx="3566160" cy="292608"/>
          </a:xfrm>
          <a:prstGeom prst="rect">
            <a:avLst/>
          </a:prstGeom>
          <a:noFill/>
          <a:ln/>
        </p:spPr>
        <p:txBody>
          <a:bodyPr wrap="square" lIns="0" tIns="0" rIns="0" bIns="0" rtlCol="0" anchor="ctr"/>
          <a:lstStyle/>
          <a:p>
            <a:pPr indent="0" marL="0">
              <a:buNone/>
            </a:pPr>
            <a:r>
              <a:rPr lang="en-US" sz="1500" b="1" dirty="0">
                <a:solidFill>
                  <a:srgbClr val="16A34A"/>
                </a:solidFill>
                <a:latin typeface="Arial" pitchFamily="34" charset="0"/>
                <a:ea typeface="Arial" pitchFamily="34" charset="-122"/>
                <a:cs typeface="Arial" pitchFamily="34" charset="-120"/>
              </a:rPr>
              <a:t>What this proves</a:t>
            </a:r>
            <a:endParaRPr lang="en-US" sz="1500" dirty="0"/>
          </a:p>
        </p:txBody>
      </p:sp>
      <p:sp>
        <p:nvSpPr>
          <p:cNvPr id="22" name="Text 20"/>
          <p:cNvSpPr txBox="1"/>
          <p:nvPr/>
        </p:nvSpPr>
        <p:spPr>
          <a:xfrm>
            <a:off x="7827264" y="4334256"/>
            <a:ext cx="3566160" cy="1645920"/>
          </a:xfrm>
          <a:prstGeom prst="rect">
            <a:avLst/>
          </a:prstGeom>
          <a:noFill/>
          <a:ln/>
        </p:spPr>
        <p:txBody>
          <a:bodyPr wrap="square" lIns="0" tIns="0" rIns="0" bIns="0" rtlCol="0" anchor="ctr"/>
          <a:lstStyle/>
          <a:p>
            <a:pPr marL="342900" indent="-342900">
              <a:lnSpc>
                <a:spcPts val="1450"/>
              </a:lnSpc>
              <a:spcAft>
                <a:spcPts val="400"/>
              </a:spcAft>
              <a:buSzPct val="100000"/>
              <a:buChar char="•"/>
            </a:pPr>
            <a:r>
              <a:rPr lang="en-US" sz="1100" dirty="0">
                <a:solidFill>
                  <a:srgbClr val="0F172A"/>
                </a:solidFill>
                <a:latin typeface="Arial" pitchFamily="34" charset="0"/>
                <a:ea typeface="Arial" pitchFamily="34" charset="-122"/>
                <a:cs typeface="Arial" pitchFamily="34" charset="-120"/>
              </a:rPr>
              <a:t>The adapter read Hylo's real state and priced xSOL with Hylo's own library</a:t>
            </a:r>
            <a:endParaRPr lang="en-US" sz="1100" dirty="0"/>
          </a:p>
          <a:p>
            <a:pPr marL="342900" indent="-342900">
              <a:lnSpc>
                <a:spcPts val="1450"/>
              </a:lnSpc>
              <a:spcAft>
                <a:spcPts val="400"/>
              </a:spcAft>
              <a:buSzPct val="100000"/>
              <a:buChar char="•"/>
            </a:pPr>
            <a:r>
              <a:rPr lang="en-US" sz="1100" dirty="0">
                <a:solidFill>
                  <a:srgbClr val="0F172A"/>
                </a:solidFill>
                <a:latin typeface="Arial" pitchFamily="34" charset="0"/>
                <a:ea typeface="Arial" pitchFamily="34" charset="-122"/>
                <a:cs typeface="Arial" pitchFamily="34" charset="-120"/>
              </a:rPr>
              <a:t>It called svi-core over a frozen byte format, signed by its own PDA</a:t>
            </a:r>
            <a:endParaRPr lang="en-US" sz="1100" dirty="0"/>
          </a:p>
          <a:p>
            <a:pPr marL="342900" indent="-342900">
              <a:lnSpc>
                <a:spcPts val="1450"/>
              </a:lnSpc>
              <a:spcAft>
                <a:spcPts val="400"/>
              </a:spcAft>
              <a:buSzPct val="100000"/>
              <a:buChar char="•"/>
            </a:pPr>
            <a:r>
              <a:rPr lang="en-US" sz="1100" dirty="0">
                <a:solidFill>
                  <a:srgbClr val="0F172A"/>
                </a:solidFill>
                <a:latin typeface="Arial" pitchFamily="34" charset="0"/>
                <a:ea typeface="Arial" pitchFamily="34" charset="-122"/>
                <a:cs typeface="Arial" pitchFamily="34" charset="-120"/>
              </a:rPr>
              <a:t>svi-core wrote the quote; a consumer read it back by byte offset</a:t>
            </a:r>
            <a:endParaRPr lang="en-US" sz="1100" dirty="0"/>
          </a:p>
          <a:p>
            <a:pPr marL="342900" indent="-342900">
              <a:lnSpc>
                <a:spcPts val="1450"/>
              </a:lnSpc>
              <a:spcAft>
                <a:spcPts val="400"/>
              </a:spcAft>
              <a:buSzPct val="100000"/>
              <a:buChar char="•"/>
            </a:pPr>
            <a:r>
              <a:rPr lang="en-US" sz="1100" dirty="0">
                <a:solidFill>
                  <a:srgbClr val="0F172A"/>
                </a:solidFill>
                <a:latin typeface="Arial" pitchFamily="34" charset="0"/>
                <a:ea typeface="Arial" pitchFamily="34" charset="-122"/>
                <a:cs typeface="Arial" pitchFamily="34" charset="-120"/>
              </a:rPr>
              <a:t>An off-chain reader over the same bytes agreed to the last digit</a:t>
            </a:r>
            <a:endParaRPr lang="en-US" sz="1100" dirty="0"/>
          </a:p>
        </p:txBody>
      </p:sp>
      <p:sp>
        <p:nvSpPr>
          <p:cNvPr id="23" name="Text 21"/>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32B"/>
        </a:solidFill>
      </p:bgPr>
    </p:bg>
    <p:spTree>
      <p:nvGrpSpPr>
        <p:cNvPr id="1" name=""/>
        <p:cNvGrpSpPr/>
        <p:nvPr/>
      </p:nvGrpSpPr>
      <p:grpSpPr>
        <a:xfrm>
          <a:off x="0" y="0"/>
          <a:ext cx="0" cy="0"/>
          <a:chOff x="0" y="0"/>
          <a:chExt cx="0" cy="0"/>
        </a:xfrm>
      </p:grpSpPr>
      <p:sp>
        <p:nvSpPr>
          <p:cNvPr id="2" name="Text 0"/>
          <p:cNvSpPr txBox="1"/>
          <p:nvPr/>
        </p:nvSpPr>
        <p:spPr>
          <a:xfrm>
            <a:off x="566928" y="566928"/>
            <a:ext cx="11057839" cy="274320"/>
          </a:xfrm>
          <a:prstGeom prst="rect">
            <a:avLst/>
          </a:prstGeom>
          <a:noFill/>
          <a:ln/>
        </p:spPr>
        <p:txBody>
          <a:bodyPr wrap="square" lIns="0" tIns="0" rIns="0" bIns="0" rtlCol="0" anchor="ctr"/>
          <a:lstStyle/>
          <a:p>
            <a:pPr indent="0" marL="0">
              <a:buNone/>
            </a:pPr>
            <a:r>
              <a:rPr lang="en-US" sz="1200" b="1" spc="200" kern="0" dirty="0">
                <a:solidFill>
                  <a:srgbClr val="C4B5FD"/>
                </a:solidFill>
                <a:latin typeface="Arial" pitchFamily="34" charset="0"/>
                <a:ea typeface="Arial" pitchFamily="34" charset="-122"/>
                <a:cs typeface="Arial" pitchFamily="34" charset="-120"/>
              </a:rPr>
              <a:t>THE HOLE IN EVERY TOKENIZED STOCK</a:t>
            </a:r>
            <a:endParaRPr lang="en-US" sz="1200" dirty="0"/>
          </a:p>
        </p:txBody>
      </p:sp>
      <p:sp>
        <p:nvSpPr>
          <p:cNvPr id="3" name="Text 1"/>
          <p:cNvSpPr txBox="1"/>
          <p:nvPr/>
        </p:nvSpPr>
        <p:spPr>
          <a:xfrm>
            <a:off x="566928" y="1060704"/>
            <a:ext cx="10789920" cy="2286000"/>
          </a:xfrm>
          <a:prstGeom prst="rect">
            <a:avLst/>
          </a:prstGeom>
          <a:noFill/>
          <a:ln/>
        </p:spPr>
        <p:txBody>
          <a:bodyPr wrap="square" lIns="0" tIns="0" rIns="0" bIns="0" rtlCol="0" anchor="ctr"/>
          <a:lstStyle/>
          <a:p>
            <a:pPr indent="0" marL="0">
              <a:lnSpc>
                <a:spcPts val="4800"/>
              </a:lnSpc>
              <a:buNone/>
            </a:pPr>
            <a:r>
              <a:rPr lang="en-US" sz="3800" b="1" dirty="0">
                <a:solidFill>
                  <a:srgbClr val="FFFFFF"/>
                </a:solidFill>
                <a:latin typeface="Arial" pitchFamily="34" charset="0"/>
                <a:ea typeface="Arial" pitchFamily="34" charset="-122"/>
                <a:cs typeface="Arial" pitchFamily="34" charset="-120"/>
              </a:rPr>
              <a:t>For two thirds of every week,
</a:t>
            </a:r>
            <a:pPr indent="0" marL="0">
              <a:lnSpc>
                <a:spcPts val="4800"/>
              </a:lnSpc>
              <a:buNone/>
            </a:pPr>
            <a:r>
              <a:rPr lang="en-US" sz="3800" b="1" dirty="0">
                <a:solidFill>
                  <a:srgbClr val="C4B5FD"/>
                </a:solidFill>
                <a:latin typeface="Arial" pitchFamily="34" charset="0"/>
                <a:ea typeface="Arial" pitchFamily="34" charset="-122"/>
                <a:cs typeface="Arial" pitchFamily="34" charset="-120"/>
              </a:rPr>
              <a:t>the token has a price and</a:t>
            </a:r>
            <a:endParaRPr lang="en-US" sz="3800" dirty="0"/>
          </a:p>
          <a:p>
            <a:pPr indent="0" marL="0">
              <a:lnSpc>
                <a:spcPts val="4800"/>
              </a:lnSpc>
              <a:buNone/>
            </a:pPr>
            <a:r>
              <a:rPr lang="en-US" sz="3800" b="1" dirty="0">
                <a:solidFill>
                  <a:srgbClr val="C4B5FD"/>
                </a:solidFill>
                <a:latin typeface="Arial" pitchFamily="34" charset="0"/>
                <a:ea typeface="Arial" pitchFamily="34" charset="-122"/>
                <a:cs typeface="Arial" pitchFamily="34" charset="-120"/>
              </a:rPr>
              <a:t>the company does not.</a:t>
            </a:r>
            <a:endParaRPr lang="en-US" sz="3800" dirty="0"/>
          </a:p>
        </p:txBody>
      </p:sp>
      <p:sp>
        <p:nvSpPr>
          <p:cNvPr id="4" name="Text 2"/>
          <p:cNvSpPr txBox="1"/>
          <p:nvPr/>
        </p:nvSpPr>
        <p:spPr>
          <a:xfrm>
            <a:off x="566928" y="3529584"/>
            <a:ext cx="10424160" cy="731520"/>
          </a:xfrm>
          <a:prstGeom prst="rect">
            <a:avLst/>
          </a:prstGeom>
          <a:noFill/>
          <a:ln/>
        </p:spPr>
        <p:txBody>
          <a:bodyPr wrap="square" lIns="0" tIns="0" rIns="0" bIns="0" rtlCol="0" anchor="ctr"/>
          <a:lstStyle/>
          <a:p>
            <a:pPr indent="0" marL="0">
              <a:lnSpc>
                <a:spcPts val="2200"/>
              </a:lnSpc>
              <a:buNone/>
            </a:pPr>
            <a:r>
              <a:rPr lang="en-US" sz="1500" dirty="0">
                <a:solidFill>
                  <a:srgbClr val="B4ADD4"/>
                </a:solidFill>
                <a:latin typeface="Arial" pitchFamily="34" charset="0"/>
                <a:ea typeface="Arial" pitchFamily="34" charset="-122"/>
                <a:cs typeface="Arial" pitchFamily="34" charset="-120"/>
              </a:rPr>
              <a:t>Thin overnight books. A rumour. One large seller. The token moves — and no market on earth will arbitrage it back, because the thing it tracks is closed.</a:t>
            </a:r>
            <a:endParaRPr lang="en-US" sz="1500" dirty="0"/>
          </a:p>
        </p:txBody>
      </p:sp>
      <p:sp>
        <p:nvSpPr>
          <p:cNvPr id="5" name="Shape 3"/>
          <p:cNvSpPr/>
          <p:nvPr/>
        </p:nvSpPr>
        <p:spPr>
          <a:xfrm>
            <a:off x="566928" y="4590288"/>
            <a:ext cx="3593592" cy="1481328"/>
          </a:xfrm>
          <a:prstGeom prst="roundRect">
            <a:avLst>
              <a:gd name="adj" fmla="val 4321"/>
            </a:avLst>
          </a:prstGeom>
          <a:solidFill>
            <a:srgbClr val="241E45"/>
          </a:solidFill>
          <a:ln w="12700">
            <a:solidFill>
              <a:srgbClr val="3B3266"/>
            </a:solidFill>
            <a:prstDash val="solid"/>
          </a:ln>
        </p:spPr>
      </p:sp>
      <p:sp>
        <p:nvSpPr>
          <p:cNvPr id="6" name="Text 4"/>
          <p:cNvSpPr txBox="1"/>
          <p:nvPr/>
        </p:nvSpPr>
        <p:spPr>
          <a:xfrm>
            <a:off x="786384" y="4754880"/>
            <a:ext cx="3154680"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Nothing on-chain says so.</a:t>
            </a:r>
            <a:endParaRPr lang="en-US" sz="1350" dirty="0"/>
          </a:p>
        </p:txBody>
      </p:sp>
      <p:sp>
        <p:nvSpPr>
          <p:cNvPr id="7" name="Text 5"/>
          <p:cNvSpPr txBox="1"/>
          <p:nvPr/>
        </p:nvSpPr>
        <p:spPr>
          <a:xfrm>
            <a:off x="786384" y="5230368"/>
            <a:ext cx="3154680" cy="731520"/>
          </a:xfrm>
          <a:prstGeom prst="rect">
            <a:avLst/>
          </a:prstGeom>
          <a:noFill/>
          <a:ln/>
        </p:spPr>
        <p:txBody>
          <a:bodyPr wrap="square" lIns="0" tIns="0" rIns="0" bIns="0" rtlCol="0" anchor="ctr"/>
          <a:lstStyle/>
          <a:p>
            <a:pPr indent="0" marL="0">
              <a:lnSpc>
                <a:spcPts val="1500"/>
              </a:lnSpc>
              <a:buNone/>
            </a:pPr>
            <a:r>
              <a:rPr lang="en-US" sz="1150" dirty="0">
                <a:solidFill>
                  <a:srgbClr val="B4ADD4"/>
                </a:solidFill>
                <a:latin typeface="Arial" pitchFamily="34" charset="0"/>
                <a:ea typeface="Arial" pitchFamily="34" charset="-122"/>
                <a:cs typeface="Arial" pitchFamily="34" charset="-120"/>
              </a:rPr>
              <a:t>The account holds a number. It carries no signal that the number is a guess made in an empty room.</a:t>
            </a:r>
            <a:endParaRPr lang="en-US" sz="1150" dirty="0"/>
          </a:p>
        </p:txBody>
      </p:sp>
      <p:sp>
        <p:nvSpPr>
          <p:cNvPr id="8" name="Shape 6"/>
          <p:cNvSpPr/>
          <p:nvPr/>
        </p:nvSpPr>
        <p:spPr>
          <a:xfrm>
            <a:off x="4425696" y="4590288"/>
            <a:ext cx="3593592" cy="1481328"/>
          </a:xfrm>
          <a:prstGeom prst="roundRect">
            <a:avLst>
              <a:gd name="adj" fmla="val 4321"/>
            </a:avLst>
          </a:prstGeom>
          <a:solidFill>
            <a:srgbClr val="241E45"/>
          </a:solidFill>
          <a:ln w="12700">
            <a:solidFill>
              <a:srgbClr val="3B3266"/>
            </a:solidFill>
            <a:prstDash val="solid"/>
          </a:ln>
        </p:spPr>
      </p:sp>
      <p:sp>
        <p:nvSpPr>
          <p:cNvPr id="9" name="Text 7"/>
          <p:cNvSpPr txBox="1"/>
          <p:nvPr/>
        </p:nvSpPr>
        <p:spPr>
          <a:xfrm>
            <a:off x="4645152" y="4754880"/>
            <a:ext cx="3154680"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So a lender liquidates against it.</a:t>
            </a:r>
            <a:endParaRPr lang="en-US" sz="1350" dirty="0"/>
          </a:p>
        </p:txBody>
      </p:sp>
      <p:sp>
        <p:nvSpPr>
          <p:cNvPr id="10" name="Text 8"/>
          <p:cNvSpPr txBox="1"/>
          <p:nvPr/>
        </p:nvSpPr>
        <p:spPr>
          <a:xfrm>
            <a:off x="4645152" y="5230368"/>
            <a:ext cx="3154680" cy="731520"/>
          </a:xfrm>
          <a:prstGeom prst="rect">
            <a:avLst/>
          </a:prstGeom>
          <a:noFill/>
          <a:ln/>
        </p:spPr>
        <p:txBody>
          <a:bodyPr wrap="square" lIns="0" tIns="0" rIns="0" bIns="0" rtlCol="0" anchor="ctr"/>
          <a:lstStyle/>
          <a:p>
            <a:pPr indent="0" marL="0">
              <a:lnSpc>
                <a:spcPts val="1500"/>
              </a:lnSpc>
              <a:buNone/>
            </a:pPr>
            <a:r>
              <a:rPr lang="en-US" sz="1150" dirty="0">
                <a:solidFill>
                  <a:srgbClr val="B4ADD4"/>
                </a:solidFill>
                <a:latin typeface="Arial" pitchFamily="34" charset="0"/>
                <a:ea typeface="Arial" pitchFamily="34" charset="-122"/>
                <a:cs typeface="Arial" pitchFamily="34" charset="-120"/>
              </a:rPr>
              <a:t>It cannot tell a price from a guess. By the opening bell the price is back; the liquidation is not.</a:t>
            </a:r>
            <a:endParaRPr lang="en-US" sz="1150" dirty="0"/>
          </a:p>
        </p:txBody>
      </p:sp>
      <p:sp>
        <p:nvSpPr>
          <p:cNvPr id="11" name="Shape 9"/>
          <p:cNvSpPr/>
          <p:nvPr/>
        </p:nvSpPr>
        <p:spPr>
          <a:xfrm>
            <a:off x="8284464" y="4590288"/>
            <a:ext cx="3593592" cy="1481328"/>
          </a:xfrm>
          <a:prstGeom prst="roundRect">
            <a:avLst>
              <a:gd name="adj" fmla="val 4321"/>
            </a:avLst>
          </a:prstGeom>
          <a:solidFill>
            <a:srgbClr val="241E45"/>
          </a:solidFill>
          <a:ln w="12700">
            <a:solidFill>
              <a:srgbClr val="3B3266"/>
            </a:solidFill>
            <a:prstDash val="solid"/>
          </a:ln>
        </p:spPr>
      </p:sp>
      <p:sp>
        <p:nvSpPr>
          <p:cNvPr id="12" name="Text 10"/>
          <p:cNvSpPr txBox="1"/>
          <p:nvPr/>
        </p:nvSpPr>
        <p:spPr>
          <a:xfrm>
            <a:off x="8503920" y="4754880"/>
            <a:ext cx="3154680"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And this is the fastest-growing asset class on Solana.</a:t>
            </a:r>
            <a:endParaRPr lang="en-US" sz="1350" dirty="0"/>
          </a:p>
        </p:txBody>
      </p:sp>
      <p:sp>
        <p:nvSpPr>
          <p:cNvPr id="13" name="Text 11"/>
          <p:cNvSpPr txBox="1"/>
          <p:nvPr/>
        </p:nvSpPr>
        <p:spPr>
          <a:xfrm>
            <a:off x="8503920" y="5230368"/>
            <a:ext cx="3154680" cy="731520"/>
          </a:xfrm>
          <a:prstGeom prst="rect">
            <a:avLst/>
          </a:prstGeom>
          <a:noFill/>
          <a:ln/>
        </p:spPr>
        <p:txBody>
          <a:bodyPr wrap="square" lIns="0" tIns="0" rIns="0" bIns="0" rtlCol="0" anchor="ctr"/>
          <a:lstStyle/>
          <a:p>
            <a:pPr indent="0" marL="0">
              <a:lnSpc>
                <a:spcPts val="1500"/>
              </a:lnSpc>
              <a:buNone/>
            </a:pPr>
            <a:r>
              <a:rPr lang="en-US" sz="1150" dirty="0">
                <a:solidFill>
                  <a:srgbClr val="B4ADD4"/>
                </a:solidFill>
                <a:latin typeface="Arial" pitchFamily="34" charset="0"/>
                <a:ea typeface="Arial" pitchFamily="34" charset="-122"/>
                <a:cs typeface="Arial" pitchFamily="34" charset="-120"/>
              </a:rPr>
              <a:t>Every tokenized equity has the same hole, and every venue that prices one inherits it.</a:t>
            </a:r>
            <a:endParaRPr lang="en-US" sz="1150" dirty="0"/>
          </a:p>
        </p:txBody>
      </p:sp>
      <p:sp>
        <p:nvSpPr>
          <p:cNvPr id="14" name="Text 12"/>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THE FIX</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Two numbers per stock, written in one transaction</a:t>
            </a:r>
            <a:endParaRPr lang="en-US" sz="3200" dirty="0"/>
          </a:p>
        </p:txBody>
      </p:sp>
      <p:sp>
        <p:nvSpPr>
          <p:cNvPr id="4" name="Text 2"/>
          <p:cNvSpPr txBox="1"/>
          <p:nvPr/>
        </p:nvSpPr>
        <p:spPr>
          <a:xfrm>
            <a:off x="566928" y="1280160"/>
            <a:ext cx="10424160" cy="365760"/>
          </a:xfrm>
          <a:prstGeom prst="rect">
            <a:avLst/>
          </a:prstGeom>
          <a:noFill/>
          <a:ln/>
        </p:spPr>
        <p:txBody>
          <a:bodyPr wrap="square" lIns="0" tIns="0" rIns="0" bIns="0" rtlCol="0" anchor="ctr"/>
          <a:lstStyle/>
          <a:p>
            <a:pPr indent="0" marL="0">
              <a:buNone/>
            </a:pPr>
            <a:r>
              <a:rPr lang="en-US" sz="1400" dirty="0">
                <a:solidFill>
                  <a:srgbClr val="5B6478"/>
                </a:solidFill>
                <a:latin typeface="Arial" pitchFamily="34" charset="0"/>
                <a:ea typeface="Arial" pitchFamily="34" charset="-122"/>
                <a:cs typeface="Arial" pitchFamily="34" charset="-120"/>
              </a:rPr>
              <a:t>Both quotes come out of the same instruction, so the pair can never be half-updated — there is no moment at which a fresh market price sits against a stale fair value.</a:t>
            </a:r>
            <a:endParaRPr lang="en-US" sz="1400" dirty="0"/>
          </a:p>
        </p:txBody>
      </p:sp>
      <p:sp>
        <p:nvSpPr>
          <p:cNvPr id="5" name="Shape 3"/>
          <p:cNvSpPr/>
          <p:nvPr/>
        </p:nvSpPr>
        <p:spPr>
          <a:xfrm>
            <a:off x="566928" y="1828800"/>
            <a:ext cx="5394960" cy="1572768"/>
          </a:xfrm>
          <a:prstGeom prst="roundRect">
            <a:avLst>
              <a:gd name="adj" fmla="val 407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6" name="Text 4"/>
          <p:cNvSpPr txBox="1"/>
          <p:nvPr/>
        </p:nvSpPr>
        <p:spPr>
          <a:xfrm>
            <a:off x="822960" y="2011680"/>
            <a:ext cx="4846320" cy="256032"/>
          </a:xfrm>
          <a:prstGeom prst="rect">
            <a:avLst/>
          </a:prstGeom>
          <a:noFill/>
          <a:ln/>
        </p:spPr>
        <p:txBody>
          <a:bodyPr wrap="square" lIns="0" tIns="0" rIns="0" bIns="0" rtlCol="0" anchor="ctr"/>
          <a:lstStyle/>
          <a:p>
            <a:pPr indent="0" marL="0">
              <a:buNone/>
            </a:pPr>
            <a:r>
              <a:rPr lang="en-US" sz="1150" b="1" spc="180" kern="0" dirty="0">
                <a:solidFill>
                  <a:srgbClr val="7C3AED"/>
                </a:solidFill>
                <a:latin typeface="Arial" pitchFamily="34" charset="0"/>
                <a:ea typeface="Arial" pitchFamily="34" charset="-122"/>
                <a:cs typeface="Arial" pitchFamily="34" charset="-120"/>
              </a:rPr>
              <a:t>FAIR VALUE</a:t>
            </a:r>
            <a:endParaRPr lang="en-US" sz="1150" dirty="0"/>
          </a:p>
        </p:txBody>
      </p:sp>
      <p:sp>
        <p:nvSpPr>
          <p:cNvPr id="7" name="Text 5"/>
          <p:cNvSpPr txBox="1"/>
          <p:nvPr/>
        </p:nvSpPr>
        <p:spPr>
          <a:xfrm>
            <a:off x="822960" y="2286000"/>
            <a:ext cx="4846320" cy="329184"/>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What the real share is worth</a:t>
            </a:r>
            <a:endParaRPr lang="en-US" sz="1800" dirty="0"/>
          </a:p>
        </p:txBody>
      </p:sp>
      <p:sp>
        <p:nvSpPr>
          <p:cNvPr id="8" name="Text 6"/>
          <p:cNvSpPr txBox="1"/>
          <p:nvPr/>
        </p:nvSpPr>
        <p:spPr>
          <a:xfrm>
            <a:off x="822960" y="2670048"/>
            <a:ext cx="4846320" cy="237744"/>
          </a:xfrm>
          <a:prstGeom prst="rect">
            <a:avLst/>
          </a:prstGeom>
          <a:noFill/>
          <a:ln/>
        </p:spPr>
        <p:txBody>
          <a:bodyPr wrap="square" lIns="0" tIns="0" rIns="0" bIns="0" rtlCol="0" anchor="ctr"/>
          <a:lstStyle/>
          <a:p>
            <a:pPr indent="0" marL="0">
              <a:buNone/>
            </a:pPr>
            <a:r>
              <a:rPr lang="en-US" sz="1100" dirty="0">
                <a:solidFill>
                  <a:srgbClr val="5B6478"/>
                </a:solidFill>
                <a:latin typeface="Courier New" pitchFamily="34" charset="0"/>
                <a:ea typeface="Courier New" pitchFamily="34" charset="-122"/>
                <a:cs typeface="Courier New" pitchFamily="34" charset="-120"/>
              </a:rPr>
              <a:t>stock-aapl-fair-value-v1</a:t>
            </a:r>
            <a:endParaRPr lang="en-US" sz="1100" dirty="0"/>
          </a:p>
        </p:txBody>
      </p:sp>
      <p:sp>
        <p:nvSpPr>
          <p:cNvPr id="9" name="Text 7"/>
          <p:cNvSpPr txBox="1"/>
          <p:nvPr/>
        </p:nvSpPr>
        <p:spPr>
          <a:xfrm>
            <a:off x="822960" y="2962656"/>
            <a:ext cx="4846320" cy="237744"/>
          </a:xfrm>
          <a:prstGeom prst="rect">
            <a:avLst/>
          </a:prstGeom>
          <a:noFill/>
          <a:ln/>
        </p:spPr>
        <p:txBody>
          <a:bodyPr wrap="square" lIns="0" tIns="0" rIns="0" bIns="0" rtlCol="0" anchor="ctr"/>
          <a:lstStyle/>
          <a:p>
            <a:pPr indent="0" marL="0">
              <a:buNone/>
            </a:pPr>
            <a:r>
              <a:rPr lang="en-US" sz="1100" dirty="0">
                <a:solidFill>
                  <a:srgbClr val="5B6478"/>
                </a:solidFill>
                <a:latin typeface="Courier New" pitchFamily="34" charset="0"/>
                <a:ea typeface="Courier New" pitchFamily="34" charset="-122"/>
                <a:cs typeface="Courier New" pitchFamily="34" charset="-120"/>
              </a:rPr>
              <a:t>Pyth  Equity.US.AAPL/USD</a:t>
            </a:r>
            <a:endParaRPr lang="en-US" sz="1100" dirty="0"/>
          </a:p>
        </p:txBody>
      </p:sp>
      <p:sp>
        <p:nvSpPr>
          <p:cNvPr id="10" name="Shape 8"/>
          <p:cNvSpPr/>
          <p:nvPr/>
        </p:nvSpPr>
        <p:spPr>
          <a:xfrm>
            <a:off x="6227064" y="1828800"/>
            <a:ext cx="5394960" cy="1572768"/>
          </a:xfrm>
          <a:prstGeom prst="roundRect">
            <a:avLst>
              <a:gd name="adj" fmla="val 407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1" name="Text 9"/>
          <p:cNvSpPr txBox="1"/>
          <p:nvPr/>
        </p:nvSpPr>
        <p:spPr>
          <a:xfrm>
            <a:off x="6483096" y="2011680"/>
            <a:ext cx="4846320" cy="256032"/>
          </a:xfrm>
          <a:prstGeom prst="rect">
            <a:avLst/>
          </a:prstGeom>
          <a:noFill/>
          <a:ln/>
        </p:spPr>
        <p:txBody>
          <a:bodyPr wrap="square" lIns="0" tIns="0" rIns="0" bIns="0" rtlCol="0" anchor="ctr"/>
          <a:lstStyle/>
          <a:p>
            <a:pPr indent="0" marL="0">
              <a:buNone/>
            </a:pPr>
            <a:r>
              <a:rPr lang="en-US" sz="1150" b="1" spc="180" kern="0" dirty="0">
                <a:solidFill>
                  <a:srgbClr val="D97706"/>
                </a:solidFill>
                <a:latin typeface="Arial" pitchFamily="34" charset="0"/>
                <a:ea typeface="Arial" pitchFamily="34" charset="-122"/>
                <a:cs typeface="Arial" pitchFamily="34" charset="-120"/>
              </a:rPr>
              <a:t>MARKET PRICE</a:t>
            </a:r>
            <a:endParaRPr lang="en-US" sz="1150" dirty="0"/>
          </a:p>
        </p:txBody>
      </p:sp>
      <p:sp>
        <p:nvSpPr>
          <p:cNvPr id="12" name="Text 10"/>
          <p:cNvSpPr txBox="1"/>
          <p:nvPr/>
        </p:nvSpPr>
        <p:spPr>
          <a:xfrm>
            <a:off x="6483096" y="2286000"/>
            <a:ext cx="4846320" cy="329184"/>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What the token trades at on Solana</a:t>
            </a:r>
            <a:endParaRPr lang="en-US" sz="1800" dirty="0"/>
          </a:p>
        </p:txBody>
      </p:sp>
      <p:sp>
        <p:nvSpPr>
          <p:cNvPr id="13" name="Text 11"/>
          <p:cNvSpPr txBox="1"/>
          <p:nvPr/>
        </p:nvSpPr>
        <p:spPr>
          <a:xfrm>
            <a:off x="6483096" y="2670048"/>
            <a:ext cx="4846320" cy="237744"/>
          </a:xfrm>
          <a:prstGeom prst="rect">
            <a:avLst/>
          </a:prstGeom>
          <a:noFill/>
          <a:ln/>
        </p:spPr>
        <p:txBody>
          <a:bodyPr wrap="square" lIns="0" tIns="0" rIns="0" bIns="0" rtlCol="0" anchor="ctr"/>
          <a:lstStyle/>
          <a:p>
            <a:pPr indent="0" marL="0">
              <a:buNone/>
            </a:pPr>
            <a:r>
              <a:rPr lang="en-US" sz="1100" dirty="0">
                <a:solidFill>
                  <a:srgbClr val="5B6478"/>
                </a:solidFill>
                <a:latin typeface="Courier New" pitchFamily="34" charset="0"/>
                <a:ea typeface="Courier New" pitchFamily="34" charset="-122"/>
                <a:cs typeface="Courier New" pitchFamily="34" charset="-120"/>
              </a:rPr>
              <a:t>stock-aapl-market-v1</a:t>
            </a:r>
            <a:endParaRPr lang="en-US" sz="1100" dirty="0"/>
          </a:p>
        </p:txBody>
      </p:sp>
      <p:sp>
        <p:nvSpPr>
          <p:cNvPr id="14" name="Text 12"/>
          <p:cNvSpPr txBox="1"/>
          <p:nvPr/>
        </p:nvSpPr>
        <p:spPr>
          <a:xfrm>
            <a:off x="6483096" y="2962656"/>
            <a:ext cx="4846320" cy="237744"/>
          </a:xfrm>
          <a:prstGeom prst="rect">
            <a:avLst/>
          </a:prstGeom>
          <a:noFill/>
          <a:ln/>
        </p:spPr>
        <p:txBody>
          <a:bodyPr wrap="square" lIns="0" tIns="0" rIns="0" bIns="0" rtlCol="0" anchor="ctr"/>
          <a:lstStyle/>
          <a:p>
            <a:pPr indent="0" marL="0">
              <a:buNone/>
            </a:pPr>
            <a:r>
              <a:rPr lang="en-US" sz="1100" dirty="0">
                <a:solidFill>
                  <a:srgbClr val="5B6478"/>
                </a:solidFill>
                <a:latin typeface="Courier New" pitchFamily="34" charset="0"/>
                <a:ea typeface="Courier New" pitchFamily="34" charset="-122"/>
                <a:cs typeface="Courier New" pitchFamily="34" charset="-120"/>
              </a:rPr>
              <a:t>Pyth  Crypto.AAPLX/USD</a:t>
            </a:r>
            <a:endParaRPr lang="en-US" sz="1100" dirty="0"/>
          </a:p>
        </p:txBody>
      </p:sp>
      <p:sp>
        <p:nvSpPr>
          <p:cNvPr id="15" name="Text 13"/>
          <p:cNvSpPr txBox="1"/>
          <p:nvPr/>
        </p:nvSpPr>
        <p:spPr>
          <a:xfrm>
            <a:off x="566928" y="3621024"/>
            <a:ext cx="5486400" cy="329184"/>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The flags are the product</a:t>
            </a:r>
            <a:endParaRPr lang="en-US" sz="1700" dirty="0"/>
          </a:p>
        </p:txBody>
      </p:sp>
      <p:sp>
        <p:nvSpPr>
          <p:cNvPr id="16" name="Text 14"/>
          <p:cNvSpPr txBox="1"/>
          <p:nvPr/>
        </p:nvSpPr>
        <p:spPr>
          <a:xfrm>
            <a:off x="566928" y="3950208"/>
            <a:ext cx="10424160" cy="310896"/>
          </a:xfrm>
          <a:prstGeom prst="rect">
            <a:avLst/>
          </a:prstGeom>
          <a:noFill/>
          <a:ln/>
        </p:spPr>
        <p:txBody>
          <a:bodyPr wrap="square" lIns="0" tIns="0" rIns="0" bIns="0" rtlCol="0" anchor="ctr"/>
          <a:lstStyle/>
          <a:p>
            <a:pPr indent="0" marL="0">
              <a:buNone/>
            </a:pPr>
            <a:r>
              <a:rPr lang="en-US" sz="1300" dirty="0">
                <a:solidFill>
                  <a:srgbClr val="5B6478"/>
                </a:solidFill>
                <a:latin typeface="Arial" pitchFamily="34" charset="0"/>
                <a:ea typeface="Arial" pitchFamily="34" charset="-122"/>
                <a:cs typeface="Arial" pitchFamily="34" charset="-120"/>
              </a:rPr>
              <a:t>The value is the easy part. What is worth deploying is an account that says what kind of moment it was taken in.</a:t>
            </a:r>
            <a:endParaRPr lang="en-US" sz="1300" dirty="0"/>
          </a:p>
        </p:txBody>
      </p:sp>
      <p:sp>
        <p:nvSpPr>
          <p:cNvPr id="17" name="Shape 15"/>
          <p:cNvSpPr/>
          <p:nvPr/>
        </p:nvSpPr>
        <p:spPr>
          <a:xfrm>
            <a:off x="566928" y="4370832"/>
            <a:ext cx="2586152" cy="1371600"/>
          </a:xfrm>
          <a:prstGeom prst="roundRect">
            <a:avLst>
              <a:gd name="adj" fmla="val 4667"/>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8" name="Text 16"/>
          <p:cNvSpPr txBox="1"/>
          <p:nvPr/>
        </p:nvSpPr>
        <p:spPr>
          <a:xfrm>
            <a:off x="768096" y="4553712"/>
            <a:ext cx="2183816" cy="274320"/>
          </a:xfrm>
          <a:prstGeom prst="rect">
            <a:avLst/>
          </a:prstGeom>
          <a:noFill/>
          <a:ln/>
        </p:spPr>
        <p:txBody>
          <a:bodyPr wrap="square" lIns="0" tIns="0" rIns="0" bIns="0" rtlCol="0" anchor="ctr"/>
          <a:lstStyle/>
          <a:p>
            <a:pPr indent="0" marL="0">
              <a:buNone/>
            </a:pPr>
            <a:r>
              <a:rPr lang="en-US" sz="1150" b="1" dirty="0">
                <a:solidFill>
                  <a:srgbClr val="D97706"/>
                </a:solidFill>
                <a:latin typeface="Courier New" pitchFamily="34" charset="0"/>
                <a:ea typeface="Courier New" pitchFamily="34" charset="-122"/>
                <a:cs typeface="Courier New" pitchFamily="34" charset="-120"/>
              </a:rPr>
              <a:t>MARKET_CLOSED</a:t>
            </a:r>
            <a:endParaRPr lang="en-US" sz="1150" dirty="0"/>
          </a:p>
        </p:txBody>
      </p:sp>
      <p:sp>
        <p:nvSpPr>
          <p:cNvPr id="19" name="Text 17"/>
          <p:cNvSpPr txBox="1"/>
          <p:nvPr/>
        </p:nvSpPr>
        <p:spPr>
          <a:xfrm>
            <a:off x="768096" y="4864608"/>
            <a:ext cx="2183816" cy="786384"/>
          </a:xfrm>
          <a:prstGeom prst="rect">
            <a:avLst/>
          </a:prstGeom>
          <a:noFill/>
          <a:ln/>
        </p:spPr>
        <p:txBody>
          <a:bodyPr wrap="square" lIns="0" tIns="0" rIns="0" bIns="0" rtlCol="0" anchor="ctr"/>
          <a:lstStyle/>
          <a:p>
            <a:pPr indent="0" marL="0">
              <a:lnSpc>
                <a:spcPts val="1450"/>
              </a:lnSpc>
              <a:buNone/>
            </a:pPr>
            <a:r>
              <a:rPr lang="en-US" sz="1100" dirty="0">
                <a:solidFill>
                  <a:srgbClr val="0F172A"/>
                </a:solidFill>
                <a:latin typeface="Arial" pitchFamily="34" charset="0"/>
                <a:ea typeface="Arial" pitchFamily="34" charset="-122"/>
                <a:cs typeface="Arial" pitchFamily="34" charset="-120"/>
              </a:rPr>
              <a:t>equity price &gt; 15 min old — impossible mid-session, so the exchange is shut</a:t>
            </a:r>
            <a:endParaRPr lang="en-US" sz="1100" dirty="0"/>
          </a:p>
        </p:txBody>
      </p:sp>
      <p:sp>
        <p:nvSpPr>
          <p:cNvPr id="20" name="Shape 18"/>
          <p:cNvSpPr/>
          <p:nvPr/>
        </p:nvSpPr>
        <p:spPr>
          <a:xfrm>
            <a:off x="3390824" y="4370832"/>
            <a:ext cx="2586152" cy="1371600"/>
          </a:xfrm>
          <a:prstGeom prst="roundRect">
            <a:avLst>
              <a:gd name="adj" fmla="val 4667"/>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1" name="Text 19"/>
          <p:cNvSpPr txBox="1"/>
          <p:nvPr/>
        </p:nvSpPr>
        <p:spPr>
          <a:xfrm>
            <a:off x="3591992" y="4553712"/>
            <a:ext cx="2183816" cy="274320"/>
          </a:xfrm>
          <a:prstGeom prst="rect">
            <a:avLst/>
          </a:prstGeom>
          <a:noFill/>
          <a:ln/>
        </p:spPr>
        <p:txBody>
          <a:bodyPr wrap="square" lIns="0" tIns="0" rIns="0" bIns="0" rtlCol="0" anchor="ctr"/>
          <a:lstStyle/>
          <a:p>
            <a:pPr indent="0" marL="0">
              <a:buNone/>
            </a:pPr>
            <a:r>
              <a:rPr lang="en-US" sz="1150" b="1" dirty="0">
                <a:solidFill>
                  <a:srgbClr val="D97706"/>
                </a:solidFill>
                <a:latin typeface="Courier New" pitchFamily="34" charset="0"/>
                <a:ea typeface="Courier New" pitchFamily="34" charset="-122"/>
                <a:cs typeface="Courier New" pitchFamily="34" charset="-120"/>
              </a:rPr>
              <a:t>DEVIATION_HIGH</a:t>
            </a:r>
            <a:endParaRPr lang="en-US" sz="1150" dirty="0"/>
          </a:p>
        </p:txBody>
      </p:sp>
      <p:sp>
        <p:nvSpPr>
          <p:cNvPr id="22" name="Text 20"/>
          <p:cNvSpPr txBox="1"/>
          <p:nvPr/>
        </p:nvSpPr>
        <p:spPr>
          <a:xfrm>
            <a:off x="3591992" y="4864608"/>
            <a:ext cx="2183816" cy="786384"/>
          </a:xfrm>
          <a:prstGeom prst="rect">
            <a:avLst/>
          </a:prstGeom>
          <a:noFill/>
          <a:ln/>
        </p:spPr>
        <p:txBody>
          <a:bodyPr wrap="square" lIns="0" tIns="0" rIns="0" bIns="0" rtlCol="0" anchor="ctr"/>
          <a:lstStyle/>
          <a:p>
            <a:pPr indent="0" marL="0">
              <a:lnSpc>
                <a:spcPts val="1450"/>
              </a:lnSpc>
              <a:buNone/>
            </a:pPr>
            <a:r>
              <a:rPr lang="en-US" sz="1100" dirty="0">
                <a:solidFill>
                  <a:srgbClr val="0F172A"/>
                </a:solidFill>
                <a:latin typeface="Arial" pitchFamily="34" charset="0"/>
                <a:ea typeface="Arial" pitchFamily="34" charset="-122"/>
                <a:cs typeface="Arial" pitchFamily="34" charset="-120"/>
              </a:rPr>
              <a:t>the token is more than 2% from the real share</a:t>
            </a:r>
            <a:endParaRPr lang="en-US" sz="1100" dirty="0"/>
          </a:p>
        </p:txBody>
      </p:sp>
      <p:sp>
        <p:nvSpPr>
          <p:cNvPr id="23" name="Shape 21"/>
          <p:cNvSpPr/>
          <p:nvPr/>
        </p:nvSpPr>
        <p:spPr>
          <a:xfrm>
            <a:off x="6214720" y="4370832"/>
            <a:ext cx="2586152" cy="1371600"/>
          </a:xfrm>
          <a:prstGeom prst="roundRect">
            <a:avLst>
              <a:gd name="adj" fmla="val 4667"/>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4" name="Text 22"/>
          <p:cNvSpPr txBox="1"/>
          <p:nvPr/>
        </p:nvSpPr>
        <p:spPr>
          <a:xfrm>
            <a:off x="6415888" y="4553712"/>
            <a:ext cx="2183816" cy="274320"/>
          </a:xfrm>
          <a:prstGeom prst="rect">
            <a:avLst/>
          </a:prstGeom>
          <a:noFill/>
          <a:ln/>
        </p:spPr>
        <p:txBody>
          <a:bodyPr wrap="square" lIns="0" tIns="0" rIns="0" bIns="0" rtlCol="0" anchor="ctr"/>
          <a:lstStyle/>
          <a:p>
            <a:pPr indent="0" marL="0">
              <a:buNone/>
            </a:pPr>
            <a:r>
              <a:rPr lang="en-US" sz="1150" b="1" dirty="0">
                <a:solidFill>
                  <a:srgbClr val="5B6478"/>
                </a:solidFill>
                <a:latin typeface="Courier New" pitchFamily="34" charset="0"/>
                <a:ea typeface="Courier New" pitchFamily="34" charset="-122"/>
                <a:cs typeface="Courier New" pitchFamily="34" charset="-120"/>
              </a:rPr>
              <a:t>REFERENCE_STALE</a:t>
            </a:r>
            <a:endParaRPr lang="en-US" sz="1150" dirty="0"/>
          </a:p>
        </p:txBody>
      </p:sp>
      <p:sp>
        <p:nvSpPr>
          <p:cNvPr id="25" name="Text 23"/>
          <p:cNvSpPr txBox="1"/>
          <p:nvPr/>
        </p:nvSpPr>
        <p:spPr>
          <a:xfrm>
            <a:off x="6415888" y="4864608"/>
            <a:ext cx="2183816" cy="786384"/>
          </a:xfrm>
          <a:prstGeom prst="rect">
            <a:avLst/>
          </a:prstGeom>
          <a:noFill/>
          <a:ln/>
        </p:spPr>
        <p:txBody>
          <a:bodyPr wrap="square" lIns="0" tIns="0" rIns="0" bIns="0" rtlCol="0" anchor="ctr"/>
          <a:lstStyle/>
          <a:p>
            <a:pPr indent="0" marL="0">
              <a:lnSpc>
                <a:spcPts val="1450"/>
              </a:lnSpc>
              <a:buNone/>
            </a:pPr>
            <a:r>
              <a:rPr lang="en-US" sz="1100" dirty="0">
                <a:solidFill>
                  <a:srgbClr val="0F172A"/>
                </a:solidFill>
                <a:latin typeface="Arial" pitchFamily="34" charset="0"/>
                <a:ea typeface="Arial" pitchFamily="34" charset="-122"/>
                <a:cs typeface="Arial" pitchFamily="34" charset="-120"/>
              </a:rPr>
              <a:t>&gt; 4 days, which no weekend or holiday explains</a:t>
            </a:r>
            <a:endParaRPr lang="en-US" sz="1100" dirty="0"/>
          </a:p>
        </p:txBody>
      </p:sp>
      <p:sp>
        <p:nvSpPr>
          <p:cNvPr id="26" name="Shape 24"/>
          <p:cNvSpPr/>
          <p:nvPr/>
        </p:nvSpPr>
        <p:spPr>
          <a:xfrm>
            <a:off x="9038615" y="4370832"/>
            <a:ext cx="2586152" cy="1371600"/>
          </a:xfrm>
          <a:prstGeom prst="roundRect">
            <a:avLst>
              <a:gd name="adj" fmla="val 4667"/>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7" name="Text 25"/>
          <p:cNvSpPr txBox="1"/>
          <p:nvPr/>
        </p:nvSpPr>
        <p:spPr>
          <a:xfrm>
            <a:off x="9239783" y="4553712"/>
            <a:ext cx="2183816" cy="274320"/>
          </a:xfrm>
          <a:prstGeom prst="rect">
            <a:avLst/>
          </a:prstGeom>
          <a:noFill/>
          <a:ln/>
        </p:spPr>
        <p:txBody>
          <a:bodyPr wrap="square" lIns="0" tIns="0" rIns="0" bIns="0" rtlCol="0" anchor="ctr"/>
          <a:lstStyle/>
          <a:p>
            <a:pPr indent="0" marL="0">
              <a:buNone/>
            </a:pPr>
            <a:r>
              <a:rPr lang="en-US" sz="1150" b="1" dirty="0">
                <a:solidFill>
                  <a:srgbClr val="DC2626"/>
                </a:solidFill>
                <a:latin typeface="Courier New" pitchFamily="34" charset="0"/>
                <a:ea typeface="Courier New" pitchFamily="34" charset="-122"/>
                <a:cs typeface="Courier New" pitchFamily="34" charset="-120"/>
              </a:rPr>
              <a:t>8 days → REFUSE</a:t>
            </a:r>
            <a:endParaRPr lang="en-US" sz="1150" dirty="0"/>
          </a:p>
        </p:txBody>
      </p:sp>
      <p:sp>
        <p:nvSpPr>
          <p:cNvPr id="28" name="Text 26"/>
          <p:cNvSpPr txBox="1"/>
          <p:nvPr/>
        </p:nvSpPr>
        <p:spPr>
          <a:xfrm>
            <a:off x="9239783" y="4864608"/>
            <a:ext cx="2183816" cy="786384"/>
          </a:xfrm>
          <a:prstGeom prst="rect">
            <a:avLst/>
          </a:prstGeom>
          <a:noFill/>
          <a:ln/>
        </p:spPr>
        <p:txBody>
          <a:bodyPr wrap="square" lIns="0" tIns="0" rIns="0" bIns="0" rtlCol="0" anchor="ctr"/>
          <a:lstStyle/>
          <a:p>
            <a:pPr indent="0" marL="0">
              <a:lnSpc>
                <a:spcPts val="1450"/>
              </a:lnSpc>
              <a:buNone/>
            </a:pPr>
            <a:r>
              <a:rPr lang="en-US" sz="1100" dirty="0">
                <a:solidFill>
                  <a:srgbClr val="0F172A"/>
                </a:solidFill>
                <a:latin typeface="Arial" pitchFamily="34" charset="0"/>
                <a:ea typeface="Arial" pitchFamily="34" charset="-122"/>
                <a:cs typeface="Arial" pitchFamily="34" charset="-120"/>
              </a:rPr>
              <a:t>not a flag. Nothing is published and the last quote expires</a:t>
            </a:r>
            <a:endParaRPr lang="en-US" sz="1100" dirty="0"/>
          </a:p>
        </p:txBody>
      </p:sp>
      <p:sp>
        <p:nvSpPr>
          <p:cNvPr id="29" name="Text 27"/>
          <p:cNvSpPr txBox="1"/>
          <p:nvPr/>
        </p:nvSpPr>
        <p:spPr>
          <a:xfrm>
            <a:off x="566928" y="5870448"/>
            <a:ext cx="10424160" cy="274320"/>
          </a:xfrm>
          <a:prstGeom prst="rect">
            <a:avLst/>
          </a:prstGeom>
          <a:noFill/>
          <a:ln/>
        </p:spPr>
        <p:txBody>
          <a:bodyPr wrap="square" lIns="0" tIns="0" rIns="0" bIns="0" rtlCol="0" anchor="ctr"/>
          <a:lstStyle/>
          <a:p>
            <a:pPr indent="0" marL="0">
              <a:buNone/>
            </a:pPr>
            <a:r>
              <a:rPr lang="en-US" sz="1250" i="1" dirty="0">
                <a:solidFill>
                  <a:srgbClr val="5B6478"/>
                </a:solidFill>
                <a:latin typeface="Arial" pitchFamily="34" charset="0"/>
                <a:ea typeface="Arial" pitchFamily="34" charset="-122"/>
                <a:cs typeface="Arial" pitchFamily="34" charset="-120"/>
              </a:rPr>
              <a:t>Fail stale, never fail wrong. An expired quote stops a consumer; a plausible wrong one does not.</a:t>
            </a:r>
            <a:endParaRPr lang="en-US" sz="1250" dirty="0"/>
          </a:p>
        </p:txBody>
      </p:sp>
      <p:sp>
        <p:nvSpPr>
          <p:cNvPr id="30" name="Text 28"/>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user/solana-valuation-interface/docs/diagrams/svi-trust-chain.png">    </p:cNvPr>
          <p:cNvPicPr>
            <a:picLocks noChangeAspect="1"/>
          </p:cNvPicPr>
          <p:nvPr/>
        </p:nvPicPr>
        <p:blipFill>
          <a:blip r:embed="rId1"/>
          <a:stretch>
            <a:fillRect/>
          </a:stretch>
        </p:blipFill>
        <p:spPr>
          <a:xfrm>
            <a:off x="384048" y="0"/>
            <a:ext cx="11430000" cy="6858000"/>
          </a:xfrm>
          <a:prstGeom prst="rect">
            <a:avLst/>
          </a:prstGeom>
        </p:spPr>
      </p:pic>
      <p:sp>
        <p:nvSpPr>
          <p:cNvPr id="3" name="Text 0"/>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EVIDENCE</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This failure class already has a body count</a:t>
            </a:r>
            <a:endParaRPr lang="en-US" sz="3200" dirty="0"/>
          </a:p>
        </p:txBody>
      </p:sp>
      <p:sp>
        <p:nvSpPr>
          <p:cNvPr id="4" name="Text 2"/>
          <p:cNvSpPr txBox="1"/>
          <p:nvPr/>
        </p:nvSpPr>
        <p:spPr>
          <a:xfrm>
            <a:off x="566928" y="1280160"/>
            <a:ext cx="10241280" cy="365760"/>
          </a:xfrm>
          <a:prstGeom prst="rect">
            <a:avLst/>
          </a:prstGeom>
          <a:noFill/>
          <a:ln/>
        </p:spPr>
        <p:txBody>
          <a:bodyPr wrap="square" lIns="0" tIns="0" rIns="0" bIns="0" rtlCol="0" anchor="ctr"/>
          <a:lstStyle/>
          <a:p>
            <a:pPr indent="0" marL="0">
              <a:buNone/>
            </a:pPr>
            <a:r>
              <a:rPr lang="en-US" sz="1400" dirty="0">
                <a:solidFill>
                  <a:srgbClr val="5B6478"/>
                </a:solidFill>
                <a:latin typeface="Arial" pitchFamily="34" charset="0"/>
                <a:ea typeface="Arial" pitchFamily="34" charset="-122"/>
                <a:cs typeface="Arial" pitchFamily="34" charset="-120"/>
              </a:rPr>
              <a:t>In every case below, no on-chain account was ever wrong. The loss came entirely from the valuation layer between true state and the consumer.</a:t>
            </a:r>
            <a:endParaRPr lang="en-US" sz="1400" dirty="0"/>
          </a:p>
        </p:txBody>
      </p:sp>
      <p:sp>
        <p:nvSpPr>
          <p:cNvPr id="5" name="Shape 3"/>
          <p:cNvSpPr/>
          <p:nvPr/>
        </p:nvSpPr>
        <p:spPr>
          <a:xfrm>
            <a:off x="566928" y="1847088"/>
            <a:ext cx="2560320" cy="2798064"/>
          </a:xfrm>
          <a:prstGeom prst="roundRect">
            <a:avLst>
              <a:gd name="adj" fmla="val 250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6" name="Text 4"/>
          <p:cNvSpPr txBox="1"/>
          <p:nvPr/>
        </p:nvSpPr>
        <p:spPr>
          <a:xfrm>
            <a:off x="768096" y="2048256"/>
            <a:ext cx="2157984" cy="512064"/>
          </a:xfrm>
          <a:prstGeom prst="rect">
            <a:avLst/>
          </a:prstGeom>
          <a:noFill/>
          <a:ln/>
        </p:spPr>
        <p:txBody>
          <a:bodyPr wrap="square" lIns="0" tIns="0" rIns="0" bIns="0" rtlCol="0" anchor="ctr"/>
          <a:lstStyle/>
          <a:p>
            <a:pPr indent="0" marL="0">
              <a:buNone/>
            </a:pPr>
            <a:r>
              <a:rPr lang="en-US" sz="3000" b="1" dirty="0">
                <a:solidFill>
                  <a:srgbClr val="DC2626"/>
                </a:solidFill>
                <a:latin typeface="Arial" pitchFamily="34" charset="0"/>
                <a:ea typeface="Arial" pitchFamily="34" charset="-122"/>
                <a:cs typeface="Arial" pitchFamily="34" charset="-120"/>
              </a:rPr>
              <a:t>$5.8M</a:t>
            </a:r>
            <a:endParaRPr lang="en-US" sz="3000" dirty="0"/>
          </a:p>
        </p:txBody>
      </p:sp>
      <p:sp>
        <p:nvSpPr>
          <p:cNvPr id="7" name="Text 5"/>
          <p:cNvSpPr txBox="1"/>
          <p:nvPr/>
        </p:nvSpPr>
        <p:spPr>
          <a:xfrm>
            <a:off x="768096" y="2615184"/>
            <a:ext cx="2157984"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Loopscale</a:t>
            </a:r>
            <a:endParaRPr lang="en-US" sz="1500" dirty="0"/>
          </a:p>
        </p:txBody>
      </p:sp>
      <p:sp>
        <p:nvSpPr>
          <p:cNvPr id="8" name="Text 6"/>
          <p:cNvSpPr txBox="1"/>
          <p:nvPr/>
        </p:nvSpPr>
        <p:spPr>
          <a:xfrm>
            <a:off x="768096" y="2889504"/>
            <a:ext cx="2157984" cy="237744"/>
          </a:xfrm>
          <a:prstGeom prst="rect">
            <a:avLst/>
          </a:prstGeom>
          <a:noFill/>
          <a:ln/>
        </p:spPr>
        <p:txBody>
          <a:bodyPr wrap="square" lIns="0" tIns="0" rIns="0" bIns="0" rtlCol="0" anchor="ctr"/>
          <a:lstStyle/>
          <a:p>
            <a:pPr indent="0" marL="0">
              <a:buNone/>
            </a:pPr>
            <a:r>
              <a:rPr lang="en-US" sz="1050" dirty="0">
                <a:solidFill>
                  <a:srgbClr val="5B6478"/>
                </a:solidFill>
                <a:latin typeface="Arial" pitchFamily="34" charset="0"/>
                <a:ea typeface="Arial" pitchFamily="34" charset="-122"/>
                <a:cs typeface="Arial" pitchFamily="34" charset="-120"/>
              </a:rPr>
              <a:t>Apr 2025 · Solana</a:t>
            </a:r>
            <a:endParaRPr lang="en-US" sz="1050" dirty="0"/>
          </a:p>
        </p:txBody>
      </p:sp>
      <p:sp>
        <p:nvSpPr>
          <p:cNvPr id="9" name="Text 7"/>
          <p:cNvSpPr txBox="1"/>
          <p:nvPr/>
        </p:nvSpPr>
        <p:spPr>
          <a:xfrm>
            <a:off x="768096" y="3200400"/>
            <a:ext cx="2157984" cy="1316736"/>
          </a:xfrm>
          <a:prstGeom prst="rect">
            <a:avLst/>
          </a:prstGeom>
          <a:noFill/>
          <a:ln/>
        </p:spPr>
        <p:txBody>
          <a:bodyPr wrap="square" lIns="0" tIns="0" rIns="0" bIns="0" rtlCol="0" anchor="ctr"/>
          <a:lstStyle/>
          <a:p>
            <a:pPr indent="0" marL="0">
              <a:lnSpc>
                <a:spcPts val="1500"/>
              </a:lnSpc>
              <a:buNone/>
            </a:pPr>
            <a:r>
              <a:rPr lang="en-US" sz="1100" dirty="0">
                <a:solidFill>
                  <a:srgbClr val="0F172A"/>
                </a:solidFill>
                <a:latin typeface="Arial" pitchFamily="34" charset="0"/>
                <a:ea typeface="Arial" pitchFamily="34" charset="-122"/>
                <a:cs typeface="Arial" pitchFamily="34" charset="-120"/>
              </a:rPr>
              <a:t>The lender's own pricing of RateX PT tokens was wrong. Undercollateralised loans drained 12% of TVL — two weeks after launch.</a:t>
            </a:r>
            <a:endParaRPr lang="en-US" sz="1100" dirty="0"/>
          </a:p>
        </p:txBody>
      </p:sp>
      <p:sp>
        <p:nvSpPr>
          <p:cNvPr id="10" name="Shape 8"/>
          <p:cNvSpPr/>
          <p:nvPr/>
        </p:nvSpPr>
        <p:spPr>
          <a:xfrm>
            <a:off x="3410712" y="1847088"/>
            <a:ext cx="2560320" cy="2798064"/>
          </a:xfrm>
          <a:prstGeom prst="roundRect">
            <a:avLst>
              <a:gd name="adj" fmla="val 250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1" name="Text 9"/>
          <p:cNvSpPr txBox="1"/>
          <p:nvPr/>
        </p:nvSpPr>
        <p:spPr>
          <a:xfrm>
            <a:off x="3611880" y="2048256"/>
            <a:ext cx="2157984" cy="512064"/>
          </a:xfrm>
          <a:prstGeom prst="rect">
            <a:avLst/>
          </a:prstGeom>
          <a:noFill/>
          <a:ln/>
        </p:spPr>
        <p:txBody>
          <a:bodyPr wrap="square" lIns="0" tIns="0" rIns="0" bIns="0" rtlCol="0" anchor="ctr"/>
          <a:lstStyle/>
          <a:p>
            <a:pPr indent="0" marL="0">
              <a:buNone/>
            </a:pPr>
            <a:r>
              <a:rPr lang="en-US" sz="3000" b="1" dirty="0">
                <a:solidFill>
                  <a:srgbClr val="DC2626"/>
                </a:solidFill>
                <a:latin typeface="Arial" pitchFamily="34" charset="0"/>
                <a:ea typeface="Arial" pitchFamily="34" charset="-122"/>
                <a:cs typeface="Arial" pitchFamily="34" charset="-120"/>
              </a:rPr>
              <a:t>$1.8M</a:t>
            </a:r>
            <a:endParaRPr lang="en-US" sz="3000" dirty="0"/>
          </a:p>
        </p:txBody>
      </p:sp>
      <p:sp>
        <p:nvSpPr>
          <p:cNvPr id="12" name="Text 10"/>
          <p:cNvSpPr txBox="1"/>
          <p:nvPr/>
        </p:nvSpPr>
        <p:spPr>
          <a:xfrm>
            <a:off x="3611880" y="2615184"/>
            <a:ext cx="2157984"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Moonwell</a:t>
            </a:r>
            <a:endParaRPr lang="en-US" sz="1500" dirty="0"/>
          </a:p>
        </p:txBody>
      </p:sp>
      <p:sp>
        <p:nvSpPr>
          <p:cNvPr id="13" name="Text 11"/>
          <p:cNvSpPr txBox="1"/>
          <p:nvPr/>
        </p:nvSpPr>
        <p:spPr>
          <a:xfrm>
            <a:off x="3611880" y="2889504"/>
            <a:ext cx="2157984" cy="237744"/>
          </a:xfrm>
          <a:prstGeom prst="rect">
            <a:avLst/>
          </a:prstGeom>
          <a:noFill/>
          <a:ln/>
        </p:spPr>
        <p:txBody>
          <a:bodyPr wrap="square" lIns="0" tIns="0" rIns="0" bIns="0" rtlCol="0" anchor="ctr"/>
          <a:lstStyle/>
          <a:p>
            <a:pPr indent="0" marL="0">
              <a:buNone/>
            </a:pPr>
            <a:r>
              <a:rPr lang="en-US" sz="1050" dirty="0">
                <a:solidFill>
                  <a:srgbClr val="5B6478"/>
                </a:solidFill>
                <a:latin typeface="Arial" pitchFamily="34" charset="0"/>
                <a:ea typeface="Arial" pitchFamily="34" charset="-122"/>
                <a:cs typeface="Arial" pitchFamily="34" charset="-120"/>
              </a:rPr>
              <a:t>2025 · bad debt</a:t>
            </a:r>
            <a:endParaRPr lang="en-US" sz="1050" dirty="0"/>
          </a:p>
        </p:txBody>
      </p:sp>
      <p:sp>
        <p:nvSpPr>
          <p:cNvPr id="14" name="Text 12"/>
          <p:cNvSpPr txBox="1"/>
          <p:nvPr/>
        </p:nvSpPr>
        <p:spPr>
          <a:xfrm>
            <a:off x="3611880" y="3200400"/>
            <a:ext cx="2157984" cy="1316736"/>
          </a:xfrm>
          <a:prstGeom prst="rect">
            <a:avLst/>
          </a:prstGeom>
          <a:noFill/>
          <a:ln/>
        </p:spPr>
        <p:txBody>
          <a:bodyPr wrap="square" lIns="0" tIns="0" rIns="0" bIns="0" rtlCol="0" anchor="ctr"/>
          <a:lstStyle/>
          <a:p>
            <a:pPr indent="0" marL="0">
              <a:lnSpc>
                <a:spcPts val="1500"/>
              </a:lnSpc>
              <a:buNone/>
            </a:pPr>
            <a:r>
              <a:rPr lang="en-US" sz="1100" dirty="0">
                <a:solidFill>
                  <a:srgbClr val="0F172A"/>
                </a:solidFill>
                <a:latin typeface="Arial" pitchFamily="34" charset="0"/>
                <a:ea typeface="Arial" pitchFamily="34" charset="-122"/>
                <a:cs typeface="Arial" pitchFamily="34" charset="-120"/>
              </a:rPr>
              <a:t>A config change priced cbETH via cbETH/ETH only, dropping the ETH/USD leg. It read $1.12 instead of ~$2,200. Bots did the rest.</a:t>
            </a:r>
            <a:endParaRPr lang="en-US" sz="1100" dirty="0"/>
          </a:p>
        </p:txBody>
      </p:sp>
      <p:sp>
        <p:nvSpPr>
          <p:cNvPr id="15" name="Shape 13"/>
          <p:cNvSpPr/>
          <p:nvPr/>
        </p:nvSpPr>
        <p:spPr>
          <a:xfrm>
            <a:off x="6254496" y="1847088"/>
            <a:ext cx="2560320" cy="2798064"/>
          </a:xfrm>
          <a:prstGeom prst="roundRect">
            <a:avLst>
              <a:gd name="adj" fmla="val 250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6" name="Text 14"/>
          <p:cNvSpPr txBox="1"/>
          <p:nvPr/>
        </p:nvSpPr>
        <p:spPr>
          <a:xfrm>
            <a:off x="6455664" y="2048256"/>
            <a:ext cx="2157984" cy="512064"/>
          </a:xfrm>
          <a:prstGeom prst="rect">
            <a:avLst/>
          </a:prstGeom>
          <a:noFill/>
          <a:ln/>
        </p:spPr>
        <p:txBody>
          <a:bodyPr wrap="square" lIns="0" tIns="0" rIns="0" bIns="0" rtlCol="0" anchor="ctr"/>
          <a:lstStyle/>
          <a:p>
            <a:pPr indent="0" marL="0">
              <a:buNone/>
            </a:pPr>
            <a:r>
              <a:rPr lang="en-US" sz="2400" b="1" dirty="0">
                <a:solidFill>
                  <a:srgbClr val="D97706"/>
                </a:solidFill>
                <a:latin typeface="Arial" pitchFamily="34" charset="0"/>
                <a:ea typeface="Arial" pitchFamily="34" charset="-122"/>
                <a:cs typeface="Arial" pitchFamily="34" charset="-120"/>
              </a:rPr>
              <a:t>1.06→1.7</a:t>
            </a:r>
            <a:endParaRPr lang="en-US" sz="2400" dirty="0"/>
          </a:p>
        </p:txBody>
      </p:sp>
      <p:sp>
        <p:nvSpPr>
          <p:cNvPr id="17" name="Text 15"/>
          <p:cNvSpPr txBox="1"/>
          <p:nvPr/>
        </p:nvSpPr>
        <p:spPr>
          <a:xfrm>
            <a:off x="6455664" y="2615184"/>
            <a:ext cx="2157984"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wUSDM / Venus</a:t>
            </a:r>
            <a:endParaRPr lang="en-US" sz="1500" dirty="0"/>
          </a:p>
        </p:txBody>
      </p:sp>
      <p:sp>
        <p:nvSpPr>
          <p:cNvPr id="18" name="Text 16"/>
          <p:cNvSpPr txBox="1"/>
          <p:nvPr/>
        </p:nvSpPr>
        <p:spPr>
          <a:xfrm>
            <a:off x="6455664" y="2889504"/>
            <a:ext cx="2157984" cy="237744"/>
          </a:xfrm>
          <a:prstGeom prst="rect">
            <a:avLst/>
          </a:prstGeom>
          <a:noFill/>
          <a:ln/>
        </p:spPr>
        <p:txBody>
          <a:bodyPr wrap="square" lIns="0" tIns="0" rIns="0" bIns="0" rtlCol="0" anchor="ctr"/>
          <a:lstStyle/>
          <a:p>
            <a:pPr indent="0" marL="0">
              <a:buNone/>
            </a:pPr>
            <a:r>
              <a:rPr lang="en-US" sz="1050" dirty="0">
                <a:solidFill>
                  <a:srgbClr val="5B6478"/>
                </a:solidFill>
                <a:latin typeface="Arial" pitchFamily="34" charset="0"/>
                <a:ea typeface="Arial" pitchFamily="34" charset="-122"/>
                <a:cs typeface="Arial" pitchFamily="34" charset="-120"/>
              </a:rPr>
              <a:t>Feb 2026</a:t>
            </a:r>
            <a:endParaRPr lang="en-US" sz="1050" dirty="0"/>
          </a:p>
        </p:txBody>
      </p:sp>
      <p:sp>
        <p:nvSpPr>
          <p:cNvPr id="19" name="Text 17"/>
          <p:cNvSpPr txBox="1"/>
          <p:nvPr/>
        </p:nvSpPr>
        <p:spPr>
          <a:xfrm>
            <a:off x="6455664" y="3200400"/>
            <a:ext cx="2157984" cy="1316736"/>
          </a:xfrm>
          <a:prstGeom prst="rect">
            <a:avLst/>
          </a:prstGeom>
          <a:noFill/>
          <a:ln/>
        </p:spPr>
        <p:txBody>
          <a:bodyPr wrap="square" lIns="0" tIns="0" rIns="0" bIns="0" rtlCol="0" anchor="ctr"/>
          <a:lstStyle/>
          <a:p>
            <a:pPr indent="0" marL="0">
              <a:lnSpc>
                <a:spcPts val="1500"/>
              </a:lnSpc>
              <a:buNone/>
            </a:pPr>
            <a:r>
              <a:rPr lang="en-US" sz="1100" dirty="0">
                <a:solidFill>
                  <a:srgbClr val="0F172A"/>
                </a:solidFill>
                <a:latin typeface="Arial" pitchFamily="34" charset="0"/>
                <a:ea typeface="Arial" pitchFamily="34" charset="-122"/>
                <a:cs typeface="Arial" pitchFamily="34" charset="-120"/>
              </a:rPr>
              <a:t>A donation attack moved the ERC-4626 share exchange rate itself, then self-liquidated against it. The rate was the attack surface.</a:t>
            </a:r>
            <a:endParaRPr lang="en-US" sz="1100" dirty="0"/>
          </a:p>
        </p:txBody>
      </p:sp>
      <p:sp>
        <p:nvSpPr>
          <p:cNvPr id="20" name="Shape 18"/>
          <p:cNvSpPr/>
          <p:nvPr/>
        </p:nvSpPr>
        <p:spPr>
          <a:xfrm>
            <a:off x="9098280" y="1847088"/>
            <a:ext cx="2560320" cy="2798064"/>
          </a:xfrm>
          <a:prstGeom prst="roundRect">
            <a:avLst>
              <a:gd name="adj" fmla="val 2500"/>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1" name="Text 19"/>
          <p:cNvSpPr txBox="1"/>
          <p:nvPr/>
        </p:nvSpPr>
        <p:spPr>
          <a:xfrm>
            <a:off x="9299448" y="2048256"/>
            <a:ext cx="2157984" cy="512064"/>
          </a:xfrm>
          <a:prstGeom prst="rect">
            <a:avLst/>
          </a:prstGeom>
          <a:noFill/>
          <a:ln/>
        </p:spPr>
        <p:txBody>
          <a:bodyPr wrap="square" lIns="0" tIns="0" rIns="0" bIns="0" rtlCol="0" anchor="ctr"/>
          <a:lstStyle/>
          <a:p>
            <a:pPr indent="0" marL="0">
              <a:buNone/>
            </a:pPr>
            <a:r>
              <a:rPr lang="en-US" sz="3000" b="1" dirty="0">
                <a:solidFill>
                  <a:srgbClr val="DC2626"/>
                </a:solidFill>
                <a:latin typeface="Arial" pitchFamily="34" charset="0"/>
                <a:ea typeface="Arial" pitchFamily="34" charset="-122"/>
                <a:cs typeface="Arial" pitchFamily="34" charset="-120"/>
              </a:rPr>
              <a:t>$10.2M</a:t>
            </a:r>
            <a:endParaRPr lang="en-US" sz="3000" dirty="0"/>
          </a:p>
        </p:txBody>
      </p:sp>
      <p:sp>
        <p:nvSpPr>
          <p:cNvPr id="22" name="Text 20"/>
          <p:cNvSpPr txBox="1"/>
          <p:nvPr/>
        </p:nvSpPr>
        <p:spPr>
          <a:xfrm>
            <a:off x="9299448" y="2615184"/>
            <a:ext cx="2157984"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YieldBlox</a:t>
            </a:r>
            <a:endParaRPr lang="en-US" sz="1500" dirty="0"/>
          </a:p>
        </p:txBody>
      </p:sp>
      <p:sp>
        <p:nvSpPr>
          <p:cNvPr id="23" name="Text 21"/>
          <p:cNvSpPr txBox="1"/>
          <p:nvPr/>
        </p:nvSpPr>
        <p:spPr>
          <a:xfrm>
            <a:off x="9299448" y="2889504"/>
            <a:ext cx="2157984" cy="237744"/>
          </a:xfrm>
          <a:prstGeom prst="rect">
            <a:avLst/>
          </a:prstGeom>
          <a:noFill/>
          <a:ln/>
        </p:spPr>
        <p:txBody>
          <a:bodyPr wrap="square" lIns="0" tIns="0" rIns="0" bIns="0" rtlCol="0" anchor="ctr"/>
          <a:lstStyle/>
          <a:p>
            <a:pPr indent="0" marL="0">
              <a:buNone/>
            </a:pPr>
            <a:r>
              <a:rPr lang="en-US" sz="1050" dirty="0">
                <a:solidFill>
                  <a:srgbClr val="5B6478"/>
                </a:solidFill>
                <a:latin typeface="Arial" pitchFamily="34" charset="0"/>
                <a:ea typeface="Arial" pitchFamily="34" charset="-122"/>
                <a:cs typeface="Arial" pitchFamily="34" charset="-120"/>
              </a:rPr>
              <a:t>Feb 2026</a:t>
            </a:r>
            <a:endParaRPr lang="en-US" sz="1050" dirty="0"/>
          </a:p>
        </p:txBody>
      </p:sp>
      <p:sp>
        <p:nvSpPr>
          <p:cNvPr id="24" name="Text 22"/>
          <p:cNvSpPr txBox="1"/>
          <p:nvPr/>
        </p:nvSpPr>
        <p:spPr>
          <a:xfrm>
            <a:off x="9299448" y="3200400"/>
            <a:ext cx="2157984" cy="1316736"/>
          </a:xfrm>
          <a:prstGeom prst="rect">
            <a:avLst/>
          </a:prstGeom>
          <a:noFill/>
          <a:ln/>
        </p:spPr>
        <p:txBody>
          <a:bodyPr wrap="square" lIns="0" tIns="0" rIns="0" bIns="0" rtlCol="0" anchor="ctr"/>
          <a:lstStyle/>
          <a:p>
            <a:pPr indent="0" marL="0">
              <a:lnSpc>
                <a:spcPts val="1500"/>
              </a:lnSpc>
              <a:buNone/>
            </a:pPr>
            <a:r>
              <a:rPr lang="en-US" sz="1100" dirty="0">
                <a:solidFill>
                  <a:srgbClr val="0F172A"/>
                </a:solidFill>
                <a:latin typeface="Arial" pitchFamily="34" charset="0"/>
                <a:ea typeface="Arial" pitchFamily="34" charset="-122"/>
                <a:cs typeface="Arial" pitchFamily="34" charset="-120"/>
              </a:rPr>
              <a:t>Thin-liquidity VWAP oracle on a tokenised-treasury pair inflated collateral value enough to over-borrow.</a:t>
            </a:r>
            <a:endParaRPr lang="en-US" sz="1100" dirty="0"/>
          </a:p>
        </p:txBody>
      </p:sp>
      <p:sp>
        <p:nvSpPr>
          <p:cNvPr id="25" name="Shape 23"/>
          <p:cNvSpPr/>
          <p:nvPr/>
        </p:nvSpPr>
        <p:spPr>
          <a:xfrm>
            <a:off x="566928" y="4901184"/>
            <a:ext cx="11057839" cy="1170432"/>
          </a:xfrm>
          <a:prstGeom prst="roundRect">
            <a:avLst>
              <a:gd name="adj" fmla="val 5469"/>
            </a:avLst>
          </a:prstGeom>
          <a:solidFill>
            <a:srgbClr val="FDECEC"/>
          </a:solidFill>
          <a:ln w="12700">
            <a:solidFill>
              <a:srgbClr val="F5C2C2"/>
            </a:solidFill>
            <a:prstDash val="solid"/>
          </a:ln>
        </p:spPr>
      </p:sp>
      <p:sp>
        <p:nvSpPr>
          <p:cNvPr id="26" name="Text 24"/>
          <p:cNvSpPr txBox="1"/>
          <p:nvPr/>
        </p:nvSpPr>
        <p:spPr>
          <a:xfrm>
            <a:off x="877824" y="5120640"/>
            <a:ext cx="1737360" cy="457200"/>
          </a:xfrm>
          <a:prstGeom prst="rect">
            <a:avLst/>
          </a:prstGeom>
          <a:noFill/>
          <a:ln/>
        </p:spPr>
        <p:txBody>
          <a:bodyPr wrap="square" lIns="0" tIns="0" rIns="0" bIns="0" rtlCol="0" anchor="ctr"/>
          <a:lstStyle/>
          <a:p>
            <a:pPr indent="0" marL="0">
              <a:buNone/>
            </a:pPr>
            <a:r>
              <a:rPr lang="en-US" sz="2700" b="1" dirty="0">
                <a:solidFill>
                  <a:srgbClr val="DC2626"/>
                </a:solidFill>
                <a:latin typeface="Arial" pitchFamily="34" charset="0"/>
                <a:ea typeface="Arial" pitchFamily="34" charset="-122"/>
                <a:cs typeface="Arial" pitchFamily="34" charset="-120"/>
              </a:rPr>
              <a:t>$137M+</a:t>
            </a:r>
            <a:endParaRPr lang="en-US" sz="2700" dirty="0"/>
          </a:p>
        </p:txBody>
      </p:sp>
      <p:sp>
        <p:nvSpPr>
          <p:cNvPr id="27" name="Text 25"/>
          <p:cNvSpPr txBox="1"/>
          <p:nvPr/>
        </p:nvSpPr>
        <p:spPr>
          <a:xfrm>
            <a:off x="2670048" y="5175504"/>
            <a:ext cx="5120640" cy="548640"/>
          </a:xfrm>
          <a:prstGeom prst="rect">
            <a:avLst/>
          </a:prstGeom>
          <a:noFill/>
          <a:ln/>
        </p:spPr>
        <p:txBody>
          <a:bodyPr wrap="square" lIns="0" tIns="0" rIns="0" bIns="0" rtlCol="0" anchor="ctr"/>
          <a:lstStyle/>
          <a:p>
            <a:pPr indent="0" marL="0">
              <a:lnSpc>
                <a:spcPts val="1800"/>
              </a:lnSpc>
              <a:buNone/>
            </a:pPr>
            <a:r>
              <a:rPr lang="en-US" sz="1350" dirty="0">
                <a:solidFill>
                  <a:srgbClr val="0F172A"/>
                </a:solidFill>
                <a:latin typeface="Arial" pitchFamily="34" charset="0"/>
                <a:ea typeface="Arial" pitchFamily="34" charset="-122"/>
                <a:cs typeface="Arial" pitchFamily="34" charset="-120"/>
              </a:rPr>
              <a:t>lost across DeFi exploits in Q1 2026 alone; over $1B cumulatively in 2026.</a:t>
            </a:r>
            <a:endParaRPr lang="en-US" sz="1350" dirty="0"/>
          </a:p>
        </p:txBody>
      </p:sp>
      <p:sp>
        <p:nvSpPr>
          <p:cNvPr id="28" name="Text 26"/>
          <p:cNvSpPr txBox="1"/>
          <p:nvPr/>
        </p:nvSpPr>
        <p:spPr>
          <a:xfrm>
            <a:off x="7973568" y="5120640"/>
            <a:ext cx="3291840" cy="786384"/>
          </a:xfrm>
          <a:prstGeom prst="rect">
            <a:avLst/>
          </a:prstGeom>
          <a:noFill/>
          <a:ln/>
        </p:spPr>
        <p:txBody>
          <a:bodyPr wrap="square" lIns="0" tIns="0" rIns="0" bIns="0" rtlCol="0" anchor="ctr"/>
          <a:lstStyle/>
          <a:p>
            <a:pPr indent="0" marL="0">
              <a:lnSpc>
                <a:spcPts val="1500"/>
              </a:lnSpc>
              <a:buNone/>
            </a:pPr>
            <a:r>
              <a:rPr lang="en-US" sz="1150" i="1" dirty="0">
                <a:solidFill>
                  <a:srgbClr val="5B6478"/>
                </a:solidFill>
                <a:latin typeface="Arial" pitchFamily="34" charset="0"/>
                <a:ea typeface="Arial" pitchFamily="34" charset="-122"/>
                <a:cs typeface="Arial" pitchFamily="34" charset="-120"/>
              </a:rPr>
              <a:t>Loopscale lists hyUSD today. A lender that hand-rolls valuation for every protocol asset it accepts will eventually hand-roll one wrong.</a:t>
            </a:r>
            <a:endParaRPr lang="en-US" sz="1150" dirty="0"/>
          </a:p>
        </p:txBody>
      </p:sp>
      <p:sp>
        <p:nvSpPr>
          <p:cNvPr id="29" name="Text 27"/>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32B"/>
        </a:solidFill>
      </p:bgPr>
    </p:bg>
    <p:spTree>
      <p:nvGrpSpPr>
        <p:cNvPr id="1" name=""/>
        <p:cNvGrpSpPr/>
        <p:nvPr/>
      </p:nvGrpSpPr>
      <p:grpSpPr>
        <a:xfrm>
          <a:off x="0" y="0"/>
          <a:ext cx="0" cy="0"/>
          <a:chOff x="0" y="0"/>
          <a:chExt cx="0" cy="0"/>
        </a:xfrm>
      </p:grpSpPr>
      <p:sp>
        <p:nvSpPr>
          <p:cNvPr id="2" name="Text 0"/>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250" b="1" spc="220" kern="0" dirty="0">
                <a:solidFill>
                  <a:srgbClr val="C4B5FD"/>
                </a:solidFill>
                <a:latin typeface="Arial" pitchFamily="34" charset="0"/>
                <a:ea typeface="Arial" pitchFamily="34" charset="-122"/>
                <a:cs typeface="Arial" pitchFamily="34" charset="-120"/>
              </a:rPr>
              <a:t>THE IDEA</a:t>
            </a:r>
            <a:endParaRPr lang="en-US" sz="1250" dirty="0"/>
          </a:p>
        </p:txBody>
      </p:sp>
      <p:sp>
        <p:nvSpPr>
          <p:cNvPr id="3" name="Text 1"/>
          <p:cNvSpPr txBox="1"/>
          <p:nvPr/>
        </p:nvSpPr>
        <p:spPr>
          <a:xfrm>
            <a:off x="566928" y="1828800"/>
            <a:ext cx="10789920" cy="2377440"/>
          </a:xfrm>
          <a:prstGeom prst="rect">
            <a:avLst/>
          </a:prstGeom>
          <a:noFill/>
          <a:ln/>
        </p:spPr>
        <p:txBody>
          <a:bodyPr wrap="square" lIns="0" tIns="0" rIns="0" bIns="0" rtlCol="0" anchor="ctr"/>
          <a:lstStyle/>
          <a:p>
            <a:pPr indent="0" marL="0">
              <a:lnSpc>
                <a:spcPts val="5000"/>
              </a:lnSpc>
              <a:buNone/>
            </a:pPr>
            <a:r>
              <a:rPr lang="en-US" sz="4000" b="1" dirty="0">
                <a:solidFill>
                  <a:srgbClr val="FFFFFF"/>
                </a:solidFill>
                <a:latin typeface="Arial" pitchFamily="34" charset="0"/>
                <a:ea typeface="Arial" pitchFamily="34" charset="-122"/>
                <a:cs typeface="Arial" pitchFamily="34" charset="-120"/>
              </a:rPr>
              <a:t>Move the arithmetic on-chain.
</a:t>
            </a:r>
            <a:pPr indent="0" marL="0">
              <a:lnSpc>
                <a:spcPts val="5000"/>
              </a:lnSpc>
              <a:buNone/>
            </a:pPr>
            <a:r>
              <a:rPr lang="en-US" sz="3000" b="1" dirty="0">
                <a:solidFill>
                  <a:srgbClr val="A79FD0"/>
                </a:solidFill>
                <a:latin typeface="Arial" pitchFamily="34" charset="0"/>
                <a:ea typeface="Arial" pitchFamily="34" charset="-122"/>
                <a:cs typeface="Arial" pitchFamily="34" charset="-120"/>
              </a:rPr>
              <a:t>Then RPCs, APIs and keys become couriers —</a:t>
            </a:r>
            <a:endParaRPr lang="en-US" sz="4000" dirty="0"/>
          </a:p>
          <a:p>
            <a:pPr indent="0" marL="0">
              <a:lnSpc>
                <a:spcPts val="5000"/>
              </a:lnSpc>
              <a:buNone/>
            </a:pPr>
            <a:r>
              <a:rPr lang="en-US" sz="3000" b="1" dirty="0">
                <a:solidFill>
                  <a:srgbClr val="A79FD0"/>
                </a:solidFill>
                <a:latin typeface="Arial" pitchFamily="34" charset="0"/>
                <a:ea typeface="Arial" pitchFamily="34" charset="-122"/>
                <a:cs typeface="Arial" pitchFamily="34" charset="-120"/>
              </a:rPr>
              <a:t>not authors — of the number.</a:t>
            </a:r>
            <a:endParaRPr lang="en-US" sz="4000" dirty="0"/>
          </a:p>
        </p:txBody>
      </p:sp>
      <p:sp>
        <p:nvSpPr>
          <p:cNvPr id="4" name="Shape 2"/>
          <p:cNvSpPr/>
          <p:nvPr/>
        </p:nvSpPr>
        <p:spPr>
          <a:xfrm>
            <a:off x="566928" y="4617720"/>
            <a:ext cx="3593592" cy="0"/>
          </a:xfrm>
          <a:prstGeom prst="line">
            <a:avLst/>
          </a:prstGeom>
          <a:noFill/>
          <a:ln w="31750">
            <a:solidFill>
              <a:srgbClr val="7C3AED"/>
            </a:solidFill>
            <a:prstDash val="solid"/>
          </a:ln>
        </p:spPr>
      </p:sp>
      <p:sp>
        <p:nvSpPr>
          <p:cNvPr id="5" name="Text 3"/>
          <p:cNvSpPr txBox="1"/>
          <p:nvPr/>
        </p:nvSpPr>
        <p:spPr>
          <a:xfrm>
            <a:off x="566928" y="4754880"/>
            <a:ext cx="3593592"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Computed</a:t>
            </a:r>
            <a:endParaRPr lang="en-US" sz="1700" dirty="0"/>
          </a:p>
        </p:txBody>
      </p:sp>
      <p:sp>
        <p:nvSpPr>
          <p:cNvPr id="6" name="Text 4"/>
          <p:cNvSpPr txBox="1"/>
          <p:nvPr/>
        </p:nvSpPr>
        <p:spPr>
          <a:xfrm>
            <a:off x="566928" y="5102352"/>
            <a:ext cx="3383280" cy="640080"/>
          </a:xfrm>
          <a:prstGeom prst="rect">
            <a:avLst/>
          </a:prstGeom>
          <a:noFill/>
          <a:ln/>
        </p:spPr>
        <p:txBody>
          <a:bodyPr wrap="square" lIns="0" tIns="0" rIns="0" bIns="0" rtlCol="0" anchor="ctr"/>
          <a:lstStyle/>
          <a:p>
            <a:pPr indent="0" marL="0">
              <a:lnSpc>
                <a:spcPts val="1700"/>
              </a:lnSpc>
              <a:buNone/>
            </a:pPr>
            <a:r>
              <a:rPr lang="en-US" sz="1250" dirty="0">
                <a:solidFill>
                  <a:srgbClr val="9F98C4"/>
                </a:solidFill>
                <a:latin typeface="Arial" pitchFamily="34" charset="0"/>
                <a:ea typeface="Arial" pitchFamily="34" charset="-122"/>
                <a:cs typeface="Arial" pitchFamily="34" charset="-120"/>
              </a:rPr>
              <a:t>by a Solana program, from accounts it verifies itself, with the protocol's own math library</a:t>
            </a:r>
            <a:endParaRPr lang="en-US" sz="1250" dirty="0"/>
          </a:p>
        </p:txBody>
      </p:sp>
      <p:sp>
        <p:nvSpPr>
          <p:cNvPr id="7" name="Shape 5"/>
          <p:cNvSpPr/>
          <p:nvPr/>
        </p:nvSpPr>
        <p:spPr>
          <a:xfrm>
            <a:off x="4425696" y="4617720"/>
            <a:ext cx="3593592" cy="0"/>
          </a:xfrm>
          <a:prstGeom prst="line">
            <a:avLst/>
          </a:prstGeom>
          <a:noFill/>
          <a:ln w="31750">
            <a:solidFill>
              <a:srgbClr val="7C3AED"/>
            </a:solidFill>
            <a:prstDash val="solid"/>
          </a:ln>
        </p:spPr>
      </p:sp>
      <p:sp>
        <p:nvSpPr>
          <p:cNvPr id="8" name="Text 6"/>
          <p:cNvSpPr txBox="1"/>
          <p:nvPr/>
        </p:nvSpPr>
        <p:spPr>
          <a:xfrm>
            <a:off x="4425696" y="4754880"/>
            <a:ext cx="3593592"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Published</a:t>
            </a:r>
            <a:endParaRPr lang="en-US" sz="1700" dirty="0"/>
          </a:p>
        </p:txBody>
      </p:sp>
      <p:sp>
        <p:nvSpPr>
          <p:cNvPr id="9" name="Text 7"/>
          <p:cNvSpPr txBox="1"/>
          <p:nvPr/>
        </p:nvSpPr>
        <p:spPr>
          <a:xfrm>
            <a:off x="4425696" y="5102352"/>
            <a:ext cx="3383280" cy="640080"/>
          </a:xfrm>
          <a:prstGeom prst="rect">
            <a:avLst/>
          </a:prstGeom>
          <a:noFill/>
          <a:ln/>
        </p:spPr>
        <p:txBody>
          <a:bodyPr wrap="square" lIns="0" tIns="0" rIns="0" bIns="0" rtlCol="0" anchor="ctr"/>
          <a:lstStyle/>
          <a:p>
            <a:pPr indent="0" marL="0">
              <a:lnSpc>
                <a:spcPts val="1700"/>
              </a:lnSpc>
              <a:buNone/>
            </a:pPr>
            <a:r>
              <a:rPr lang="en-US" sz="1250" dirty="0">
                <a:solidFill>
                  <a:srgbClr val="9F98C4"/>
                </a:solidFill>
                <a:latin typeface="Arial" pitchFamily="34" charset="0"/>
                <a:ea typeface="Arial" pitchFamily="34" charset="-122"/>
                <a:cs typeface="Arial" pitchFamily="34" charset="-120"/>
              </a:rPr>
              <a:t>to a 320-byte account with a fixed layout that anyone can read for ~200 CU</a:t>
            </a:r>
            <a:endParaRPr lang="en-US" sz="1250" dirty="0"/>
          </a:p>
        </p:txBody>
      </p:sp>
      <p:sp>
        <p:nvSpPr>
          <p:cNvPr id="10" name="Shape 8"/>
          <p:cNvSpPr/>
          <p:nvPr/>
        </p:nvSpPr>
        <p:spPr>
          <a:xfrm>
            <a:off x="8284464" y="4617720"/>
            <a:ext cx="3593592" cy="0"/>
          </a:xfrm>
          <a:prstGeom prst="line">
            <a:avLst/>
          </a:prstGeom>
          <a:noFill/>
          <a:ln w="31750">
            <a:solidFill>
              <a:srgbClr val="7C3AED"/>
            </a:solidFill>
            <a:prstDash val="solid"/>
          </a:ln>
        </p:spPr>
      </p:sp>
      <p:sp>
        <p:nvSpPr>
          <p:cNvPr id="11" name="Text 9"/>
          <p:cNvSpPr txBox="1"/>
          <p:nvPr/>
        </p:nvSpPr>
        <p:spPr>
          <a:xfrm>
            <a:off x="8284464" y="4754880"/>
            <a:ext cx="3593592"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Reproducible</a:t>
            </a:r>
            <a:endParaRPr lang="en-US" sz="1700" dirty="0"/>
          </a:p>
        </p:txBody>
      </p:sp>
      <p:sp>
        <p:nvSpPr>
          <p:cNvPr id="12" name="Text 10"/>
          <p:cNvSpPr txBox="1"/>
          <p:nvPr/>
        </p:nvSpPr>
        <p:spPr>
          <a:xfrm>
            <a:off x="8284464" y="5102352"/>
            <a:ext cx="3383280" cy="640080"/>
          </a:xfrm>
          <a:prstGeom prst="rect">
            <a:avLst/>
          </a:prstGeom>
          <a:noFill/>
          <a:ln/>
        </p:spPr>
        <p:txBody>
          <a:bodyPr wrap="square" lIns="0" tIns="0" rIns="0" bIns="0" rtlCol="0" anchor="ctr"/>
          <a:lstStyle/>
          <a:p>
            <a:pPr indent="0" marL="0">
              <a:lnSpc>
                <a:spcPts val="1700"/>
              </a:lnSpc>
              <a:buNone/>
            </a:pPr>
            <a:r>
              <a:rPr lang="en-US" sz="1250" dirty="0">
                <a:solidFill>
                  <a:srgbClr val="9F98C4"/>
                </a:solidFill>
                <a:latin typeface="Arial" pitchFamily="34" charset="0"/>
                <a:ea typeface="Arial" pitchFamily="34" charset="-122"/>
                <a:cs typeface="Arial" pitchFamily="34" charset="-120"/>
              </a:rPr>
              <a:t>byte-for-byte by any third party over the same accounts at the same slot</a:t>
            </a:r>
            <a:endParaRPr lang="en-US" sz="1250" dirty="0"/>
          </a:p>
        </p:txBody>
      </p:sp>
      <p:sp>
        <p:nvSpPr>
          <p:cNvPr id="13" name="Text 11"/>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user/solana-valuation-interface/docs/diagrams/svi-architecture.png">    </p:cNvPr>
          <p:cNvPicPr>
            <a:picLocks noChangeAspect="1"/>
          </p:cNvPicPr>
          <p:nvPr/>
        </p:nvPicPr>
        <p:blipFill>
          <a:blip r:embed="rId1"/>
          <a:stretch>
            <a:fillRect/>
          </a:stretch>
        </p:blipFill>
        <p:spPr>
          <a:xfrm>
            <a:off x="667512" y="0"/>
            <a:ext cx="10863072" cy="6858000"/>
          </a:xfrm>
          <a:prstGeom prst="rect">
            <a:avLst/>
          </a:prstGeom>
        </p:spPr>
      </p:pic>
      <p:sp>
        <p:nvSpPr>
          <p:cNvPr id="3" name="Text 0"/>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THE QUESTION EVERYONE ASKS</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Do we depend on Pyth, or does Pyth depend on us?</a:t>
            </a:r>
            <a:endParaRPr lang="en-US" sz="3200" dirty="0"/>
          </a:p>
        </p:txBody>
      </p:sp>
      <p:sp>
        <p:nvSpPr>
          <p:cNvPr id="4" name="Shape 2"/>
          <p:cNvSpPr/>
          <p:nvPr/>
        </p:nvSpPr>
        <p:spPr>
          <a:xfrm>
            <a:off x="566928" y="1371600"/>
            <a:ext cx="5431536" cy="2651760"/>
          </a:xfrm>
          <a:prstGeom prst="roundRect">
            <a:avLst>
              <a:gd name="adj" fmla="val 2414"/>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Text 3"/>
          <p:cNvSpPr txBox="1"/>
          <p:nvPr/>
        </p:nvSpPr>
        <p:spPr>
          <a:xfrm>
            <a:off x="859536" y="1572768"/>
            <a:ext cx="4846320" cy="310896"/>
          </a:xfrm>
          <a:prstGeom prst="rect">
            <a:avLst/>
          </a:prstGeom>
          <a:noFill/>
          <a:ln/>
        </p:spPr>
        <p:txBody>
          <a:bodyPr wrap="square" lIns="0" tIns="0" rIns="0" bIns="0" rtlCol="0" anchor="ctr"/>
          <a:lstStyle/>
          <a:p>
            <a:pPr indent="0" marL="0">
              <a:buNone/>
            </a:pPr>
            <a:r>
              <a:rPr lang="en-US" sz="1650" b="1" dirty="0">
                <a:solidFill>
                  <a:srgbClr val="0F172A"/>
                </a:solidFill>
                <a:latin typeface="Arial" pitchFamily="34" charset="0"/>
                <a:ea typeface="Arial" pitchFamily="34" charset="-122"/>
                <a:cs typeface="Arial" pitchFamily="34" charset="-120"/>
              </a:rPr>
              <a:t>Today: we depend on Pyth</a:t>
            </a:r>
            <a:endParaRPr lang="en-US" sz="1650" dirty="0"/>
          </a:p>
        </p:txBody>
      </p:sp>
      <p:sp>
        <p:nvSpPr>
          <p:cNvPr id="6" name="Text 4"/>
          <p:cNvSpPr txBox="1"/>
          <p:nvPr/>
        </p:nvSpPr>
        <p:spPr>
          <a:xfrm>
            <a:off x="859536" y="1938528"/>
            <a:ext cx="4846320" cy="2011680"/>
          </a:xfrm>
          <a:prstGeom prst="rect">
            <a:avLst/>
          </a:prstGeom>
          <a:noFill/>
          <a:ln/>
        </p:spPr>
        <p:txBody>
          <a:bodyPr wrap="square" lIns="0" tIns="0" rIns="0" bIns="0" rtlCol="0" anchor="ctr"/>
          <a:lstStyle/>
          <a:p>
            <a:pPr indent="0" marL="0">
              <a:lnSpc>
                <a:spcPts val="1650"/>
              </a:lnSpc>
              <a:buNone/>
            </a:pPr>
            <a:r>
              <a:rPr lang="en-US" sz="1200" dirty="0">
                <a:solidFill>
                  <a:srgbClr val="5B6478"/>
                </a:solidFill>
                <a:latin typeface="Arial" pitchFamily="34" charset="0"/>
                <a:ea typeface="Arial" pitchFamily="34" charset="-122"/>
                <a:cs typeface="Arial" pitchFamily="34" charset="-120"/>
              </a:rPr>
              <a:t>Pyth answers one question — what is 1 SOL worth right now — from exchanges. xSOL's value is calculated from that answer plus Hylo's books: collateral × SOL price, minus hyUSD debt, divided by supply. Pyth is our input. Nobody else can be.</a:t>
            </a:r>
            <a:endParaRPr lang="en-US" sz="1200" dirty="0"/>
          </a:p>
          <a:p>
            <a:pPr indent="0" marL="0">
              <a:lnSpc>
                <a:spcPts val="1650"/>
              </a:lnSpc>
              <a:buNone/>
            </a:pPr>
            <a:endParaRPr lang="en-US" sz="1200" dirty="0"/>
          </a:p>
          <a:p>
            <a:pPr indent="0" marL="0">
              <a:lnSpc>
                <a:spcPts val="1650"/>
              </a:lnSpc>
              <a:buNone/>
            </a:pPr>
            <a:r>
              <a:rPr lang="en-US" sz="1200" dirty="0">
                <a:solidFill>
                  <a:srgbClr val="5B6478"/>
                </a:solidFill>
                <a:latin typeface="Arial" pitchFamily="34" charset="0"/>
                <a:ea typeface="Arial" pitchFamily="34" charset="-122"/>
                <a:cs typeface="Arial" pitchFamily="34" charset="-120"/>
              </a:rPr>
              <a:t>So our quote can never be fresher than the SOL price it came from. Hylo's own rule is that a price older than 10 seconds is unusable; the adapter inherits that rule unchanged and refuses rather than publish from a stale input.</a:t>
            </a:r>
            <a:endParaRPr lang="en-US" sz="1200" dirty="0"/>
          </a:p>
        </p:txBody>
      </p:sp>
      <p:sp>
        <p:nvSpPr>
          <p:cNvPr id="7" name="Shape 5"/>
          <p:cNvSpPr/>
          <p:nvPr/>
        </p:nvSpPr>
        <p:spPr>
          <a:xfrm>
            <a:off x="6199632" y="1371600"/>
            <a:ext cx="5431536" cy="2651760"/>
          </a:xfrm>
          <a:prstGeom prst="roundRect">
            <a:avLst>
              <a:gd name="adj" fmla="val 2414"/>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8" name="Text 6"/>
          <p:cNvSpPr txBox="1"/>
          <p:nvPr/>
        </p:nvSpPr>
        <p:spPr>
          <a:xfrm>
            <a:off x="6492240" y="1572768"/>
            <a:ext cx="4846320" cy="310896"/>
          </a:xfrm>
          <a:prstGeom prst="rect">
            <a:avLst/>
          </a:prstGeom>
          <a:noFill/>
          <a:ln/>
        </p:spPr>
        <p:txBody>
          <a:bodyPr wrap="square" lIns="0" tIns="0" rIns="0" bIns="0" rtlCol="0" anchor="ctr"/>
          <a:lstStyle/>
          <a:p>
            <a:pPr indent="0" marL="0">
              <a:buNone/>
            </a:pPr>
            <a:r>
              <a:rPr lang="en-US" sz="1650" b="1" dirty="0">
                <a:solidFill>
                  <a:srgbClr val="0F172A"/>
                </a:solidFill>
                <a:latin typeface="Arial" pitchFamily="34" charset="0"/>
                <a:ea typeface="Arial" pitchFamily="34" charset="-122"/>
                <a:cs typeface="Arial" pitchFamily="34" charset="-120"/>
              </a:rPr>
              <a:t>Later: Pyth could depend on us</a:t>
            </a:r>
            <a:endParaRPr lang="en-US" sz="1650" dirty="0"/>
          </a:p>
        </p:txBody>
      </p:sp>
      <p:sp>
        <p:nvSpPr>
          <p:cNvPr id="9" name="Text 7"/>
          <p:cNvSpPr txBox="1"/>
          <p:nvPr/>
        </p:nvSpPr>
        <p:spPr>
          <a:xfrm>
            <a:off x="6492240" y="1938528"/>
            <a:ext cx="4846320" cy="2011680"/>
          </a:xfrm>
          <a:prstGeom prst="rect">
            <a:avLst/>
          </a:prstGeom>
          <a:noFill/>
          <a:ln/>
        </p:spPr>
        <p:txBody>
          <a:bodyPr wrap="square" lIns="0" tIns="0" rIns="0" bIns="0" rtlCol="0" anchor="ctr"/>
          <a:lstStyle/>
          <a:p>
            <a:pPr indent="0" marL="0">
              <a:lnSpc>
                <a:spcPts val="1650"/>
              </a:lnSpc>
              <a:buNone/>
            </a:pPr>
            <a:r>
              <a:rPr lang="en-US" sz="1200" dirty="0">
                <a:solidFill>
                  <a:srgbClr val="5B6478"/>
                </a:solidFill>
                <a:latin typeface="Arial" pitchFamily="34" charset="0"/>
                <a:ea typeface="Arial" pitchFamily="34" charset="-122"/>
                <a:cs typeface="Arial" pitchFamily="34" charset="-120"/>
              </a:rPr>
              <a:t>Nobody publishes the output — xSOL's NAV — on-chain. Once SVI does, an oracle network can consume that account to offer an xSOL/USD feed, the way it wraps other on-chain sources, instead of asking each protocol to run a server and an API.</a:t>
            </a:r>
            <a:endParaRPr lang="en-US" sz="1200" dirty="0"/>
          </a:p>
          <a:p>
            <a:pPr indent="0" marL="0">
              <a:lnSpc>
                <a:spcPts val="1650"/>
              </a:lnSpc>
              <a:buNone/>
            </a:pPr>
            <a:endParaRPr lang="en-US" sz="1200" dirty="0"/>
          </a:p>
          <a:p>
            <a:pPr indent="0" marL="0">
              <a:lnSpc>
                <a:spcPts val="1650"/>
              </a:lnSpc>
              <a:buNone/>
            </a:pPr>
            <a:r>
              <a:rPr lang="en-US" sz="1200" dirty="0">
                <a:solidFill>
                  <a:srgbClr val="5B6478"/>
                </a:solidFill>
                <a:latin typeface="Arial" pitchFamily="34" charset="0"/>
                <a:ea typeface="Arial" pitchFamily="34" charset="-122"/>
                <a:cs typeface="Arial" pitchFamily="34" charset="-120"/>
              </a:rPr>
              <a:t>That is the request in Plish's post, answered without the security hole: the oracle reads a public account whose contents anyone can recompute.</a:t>
            </a:r>
            <a:endParaRPr lang="en-US" sz="1200" dirty="0"/>
          </a:p>
        </p:txBody>
      </p:sp>
      <p:sp>
        <p:nvSpPr>
          <p:cNvPr id="10" name="Shape 8"/>
          <p:cNvSpPr/>
          <p:nvPr/>
        </p:nvSpPr>
        <p:spPr>
          <a:xfrm>
            <a:off x="566928" y="4261104"/>
            <a:ext cx="11057839" cy="1828800"/>
          </a:xfrm>
          <a:prstGeom prst="roundRect">
            <a:avLst>
              <a:gd name="adj" fmla="val 3500"/>
            </a:avLst>
          </a:prstGeom>
          <a:solidFill>
            <a:srgbClr val="241E45"/>
          </a:solidFill>
          <a:ln w="12700">
            <a:solidFill>
              <a:srgbClr val="241E45"/>
            </a:solidFill>
            <a:prstDash val="solid"/>
          </a:ln>
        </p:spPr>
      </p:sp>
      <p:sp>
        <p:nvSpPr>
          <p:cNvPr id="11" name="Text 9"/>
          <p:cNvSpPr txBox="1"/>
          <p:nvPr/>
        </p:nvSpPr>
        <p:spPr>
          <a:xfrm>
            <a:off x="859536" y="4443984"/>
            <a:ext cx="54864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claim the demo supports</a:t>
            </a:r>
            <a:endParaRPr lang="en-US" sz="1500" dirty="0"/>
          </a:p>
        </p:txBody>
      </p:sp>
      <p:sp>
        <p:nvSpPr>
          <p:cNvPr id="12" name="Text 10"/>
          <p:cNvSpPr txBox="1"/>
          <p:nvPr/>
        </p:nvSpPr>
        <p:spPr>
          <a:xfrm>
            <a:off x="859536" y="4809744"/>
            <a:ext cx="10472623" cy="1097280"/>
          </a:xfrm>
          <a:prstGeom prst="rect">
            <a:avLst/>
          </a:prstGeom>
          <a:noFill/>
          <a:ln/>
        </p:spPr>
        <p:txBody>
          <a:bodyPr wrap="square" lIns="0" tIns="0" rIns="0" bIns="0" rtlCol="0" anchor="ctr"/>
          <a:lstStyle/>
          <a:p>
            <a:pPr indent="0" marL="0">
              <a:lnSpc>
                <a:spcPts val="2300"/>
              </a:lnSpc>
              <a:buNone/>
            </a:pPr>
            <a:r>
              <a:rPr lang="en-US" sz="1600" dirty="0">
                <a:solidFill>
                  <a:srgbClr val="B4ADD4"/>
                </a:solidFill>
                <a:latin typeface="Arial" pitchFamily="34" charset="0"/>
                <a:ea typeface="Arial" pitchFamily="34" charset="-122"/>
                <a:cs typeface="Arial" pitchFamily="34" charset="-120"/>
              </a:rPr>
              <a:t>Not </a:t>
            </a:r>
            <a:pPr indent="0" marL="0">
              <a:lnSpc>
                <a:spcPts val="2300"/>
              </a:lnSpc>
              <a:buNone/>
            </a:pPr>
            <a:r>
              <a:rPr lang="en-US" sz="1600" b="1" dirty="0">
                <a:solidFill>
                  <a:srgbClr val="DC2626"/>
                </a:solidFill>
                <a:latin typeface="Arial" pitchFamily="34" charset="0"/>
                <a:ea typeface="Arial" pitchFamily="34" charset="-122"/>
                <a:cs typeface="Arial" pitchFamily="34" charset="-120"/>
              </a:rPr>
              <a:t>“fresher than Pyth”</a:t>
            </a:r>
            <a:pPr indent="0" marL="0">
              <a:lnSpc>
                <a:spcPts val="2300"/>
              </a:lnSpc>
              <a:buNone/>
            </a:pPr>
            <a:r>
              <a:rPr lang="en-US" sz="1600" dirty="0">
                <a:solidFill>
                  <a:srgbClr val="B4ADD4"/>
                </a:solidFill>
                <a:latin typeface="Arial" pitchFamily="34" charset="0"/>
                <a:ea typeface="Arial" pitchFamily="34" charset="-122"/>
                <a:cs typeface="Arial" pitchFamily="34" charset="-120"/>
              </a:rPr>
              <a:t>. It is: </a:t>
            </a:r>
            <a:pPr indent="0" marL="0">
              <a:lnSpc>
                <a:spcPts val="2300"/>
              </a:lnSpc>
              <a:buNone/>
            </a:pPr>
            <a:r>
              <a:rPr lang="en-US" sz="1600" b="1" dirty="0">
                <a:solidFill>
                  <a:srgbClr val="FFFFFF"/>
                </a:solidFill>
                <a:latin typeface="Arial" pitchFamily="34" charset="0"/>
                <a:ea typeface="Arial" pitchFamily="34" charset="-122"/>
                <a:cs typeface="Arial" pitchFamily="34" charset="-120"/>
              </a:rPr>
              <a:t>the number nobody publishes, now on-chain, moving 2.5× SOL, with bounds and a staleness horizon, written only by code.</a:t>
            </a:r>
            <a:endParaRPr lang="en-US" sz="1600" dirty="0"/>
          </a:p>
        </p:txBody>
      </p:sp>
      <p:sp>
        <p:nvSpPr>
          <p:cNvPr id="13" name="Text 11"/>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ARCHITECTURE</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Five pieces, and what each one is for</a:t>
            </a:r>
            <a:endParaRPr lang="en-US" sz="3200" dirty="0"/>
          </a:p>
        </p:txBody>
      </p:sp>
      <p:sp>
        <p:nvSpPr>
          <p:cNvPr id="4" name="Shape 2"/>
          <p:cNvSpPr/>
          <p:nvPr/>
        </p:nvSpPr>
        <p:spPr>
          <a:xfrm>
            <a:off x="566928" y="1444752"/>
            <a:ext cx="475488" cy="475488"/>
          </a:xfrm>
          <a:prstGeom prst="ellipse">
            <a:avLst/>
          </a:prstGeom>
          <a:solidFill>
            <a:srgbClr val="7C3AED"/>
          </a:solidFill>
          <a:ln/>
        </p:spPr>
      </p:sp>
      <p:sp>
        <p:nvSpPr>
          <p:cNvPr id="5" name="Text 3"/>
          <p:cNvSpPr txBox="1"/>
          <p:nvPr/>
        </p:nvSpPr>
        <p:spPr>
          <a:xfrm>
            <a:off x="566928" y="1517904"/>
            <a:ext cx="475488"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6" name="Text 4"/>
          <p:cNvSpPr txBox="1"/>
          <p:nvPr/>
        </p:nvSpPr>
        <p:spPr>
          <a:xfrm>
            <a:off x="1243584" y="1426464"/>
            <a:ext cx="3108960" cy="329184"/>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Adapter</a:t>
            </a:r>
            <a:pPr indent="0" marL="0">
              <a:buNone/>
            </a:pPr>
            <a:r>
              <a:rPr lang="en-US" sz="1250" i="1" dirty="0">
                <a:solidFill>
                  <a:srgbClr val="7C3AED"/>
                </a:solidFill>
                <a:latin typeface="Arial" pitchFamily="34" charset="0"/>
                <a:ea typeface="Arial" pitchFamily="34" charset="-122"/>
                <a:cs typeface="Arial" pitchFamily="34" charset="-120"/>
              </a:rPr>
              <a:t>   the calculator</a:t>
            </a:r>
            <a:endParaRPr lang="en-US" sz="1600" dirty="0"/>
          </a:p>
        </p:txBody>
      </p:sp>
      <p:sp>
        <p:nvSpPr>
          <p:cNvPr id="7" name="Text 5"/>
          <p:cNvSpPr txBox="1"/>
          <p:nvPr/>
        </p:nvSpPr>
        <p:spPr>
          <a:xfrm>
            <a:off x="4224528" y="1380744"/>
            <a:ext cx="7406640" cy="65836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One per protocol. Reads the protocol's public account bytes, verifies owner / PDA / mint / oracle, and calls the protocol's own math library. Reimplements nothing.</a:t>
            </a:r>
            <a:endParaRPr lang="en-US" sz="1200" dirty="0"/>
          </a:p>
        </p:txBody>
      </p:sp>
      <p:sp>
        <p:nvSpPr>
          <p:cNvPr id="8" name="Shape 6"/>
          <p:cNvSpPr/>
          <p:nvPr/>
        </p:nvSpPr>
        <p:spPr>
          <a:xfrm>
            <a:off x="566928" y="2112264"/>
            <a:ext cx="11057839" cy="0"/>
          </a:xfrm>
          <a:prstGeom prst="line">
            <a:avLst/>
          </a:prstGeom>
          <a:noFill/>
          <a:ln w="12700">
            <a:solidFill>
              <a:srgbClr val="E2E0EC"/>
            </a:solidFill>
            <a:prstDash val="solid"/>
          </a:ln>
        </p:spPr>
      </p:sp>
      <p:sp>
        <p:nvSpPr>
          <p:cNvPr id="9" name="Shape 7"/>
          <p:cNvSpPr/>
          <p:nvPr/>
        </p:nvSpPr>
        <p:spPr>
          <a:xfrm>
            <a:off x="566928" y="2267712"/>
            <a:ext cx="475488" cy="475488"/>
          </a:xfrm>
          <a:prstGeom prst="ellipse">
            <a:avLst/>
          </a:prstGeom>
          <a:solidFill>
            <a:srgbClr val="7C3AED"/>
          </a:solidFill>
          <a:ln/>
        </p:spPr>
      </p:sp>
      <p:sp>
        <p:nvSpPr>
          <p:cNvPr id="10" name="Text 8"/>
          <p:cNvSpPr txBox="1"/>
          <p:nvPr/>
        </p:nvSpPr>
        <p:spPr>
          <a:xfrm>
            <a:off x="566928" y="2340864"/>
            <a:ext cx="475488"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1" name="Text 9"/>
          <p:cNvSpPr txBox="1"/>
          <p:nvPr/>
        </p:nvSpPr>
        <p:spPr>
          <a:xfrm>
            <a:off x="1243584" y="2249424"/>
            <a:ext cx="3108960" cy="329184"/>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Core</a:t>
            </a:r>
            <a:pPr indent="0" marL="0">
              <a:buNone/>
            </a:pPr>
            <a:r>
              <a:rPr lang="en-US" sz="1250" i="1" dirty="0">
                <a:solidFill>
                  <a:srgbClr val="7C3AED"/>
                </a:solidFill>
                <a:latin typeface="Arial" pitchFamily="34" charset="0"/>
                <a:ea typeface="Arial" pitchFamily="34" charset="-122"/>
                <a:cs typeface="Arial" pitchFamily="34" charset="-120"/>
              </a:rPr>
              <a:t>   the notice board</a:t>
            </a:r>
            <a:endParaRPr lang="en-US" sz="1600" dirty="0"/>
          </a:p>
        </p:txBody>
      </p:sp>
      <p:sp>
        <p:nvSpPr>
          <p:cNvPr id="12" name="Text 10"/>
          <p:cNvSpPr txBox="1"/>
          <p:nvPr/>
        </p:nvSpPr>
        <p:spPr>
          <a:xfrm>
            <a:off x="4224528" y="2203704"/>
            <a:ext cx="7406640" cy="65836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Tiny, protocol-agnostic, no arithmetic. Only the adapter PDA named in the feed descriptor may write. Sequence monotonic, validity stamped, bounds checked.</a:t>
            </a:r>
            <a:endParaRPr lang="en-US" sz="1200" dirty="0"/>
          </a:p>
        </p:txBody>
      </p:sp>
      <p:sp>
        <p:nvSpPr>
          <p:cNvPr id="13" name="Shape 11"/>
          <p:cNvSpPr/>
          <p:nvPr/>
        </p:nvSpPr>
        <p:spPr>
          <a:xfrm>
            <a:off x="566928" y="2935224"/>
            <a:ext cx="11057839" cy="0"/>
          </a:xfrm>
          <a:prstGeom prst="line">
            <a:avLst/>
          </a:prstGeom>
          <a:noFill/>
          <a:ln w="12700">
            <a:solidFill>
              <a:srgbClr val="E2E0EC"/>
            </a:solidFill>
            <a:prstDash val="solid"/>
          </a:ln>
        </p:spPr>
      </p:sp>
      <p:sp>
        <p:nvSpPr>
          <p:cNvPr id="14" name="Shape 12"/>
          <p:cNvSpPr/>
          <p:nvPr/>
        </p:nvSpPr>
        <p:spPr>
          <a:xfrm>
            <a:off x="566928" y="3090672"/>
            <a:ext cx="475488" cy="475488"/>
          </a:xfrm>
          <a:prstGeom prst="ellipse">
            <a:avLst/>
          </a:prstGeom>
          <a:solidFill>
            <a:srgbClr val="D97706"/>
          </a:solidFill>
          <a:ln/>
        </p:spPr>
      </p:sp>
      <p:sp>
        <p:nvSpPr>
          <p:cNvPr id="15" name="Text 13"/>
          <p:cNvSpPr txBox="1"/>
          <p:nvPr/>
        </p:nvSpPr>
        <p:spPr>
          <a:xfrm>
            <a:off x="566928" y="3163824"/>
            <a:ext cx="475488"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6" name="Text 14"/>
          <p:cNvSpPr txBox="1"/>
          <p:nvPr/>
        </p:nvSpPr>
        <p:spPr>
          <a:xfrm>
            <a:off x="1243584" y="3072384"/>
            <a:ext cx="3108960" cy="329184"/>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Quote account</a:t>
            </a:r>
            <a:pPr indent="0" marL="0">
              <a:buNone/>
            </a:pPr>
            <a:r>
              <a:rPr lang="en-US" sz="1250" i="1" dirty="0">
                <a:solidFill>
                  <a:srgbClr val="D97706"/>
                </a:solidFill>
                <a:latin typeface="Arial" pitchFamily="34" charset="0"/>
                <a:ea typeface="Arial" pitchFamily="34" charset="-122"/>
                <a:cs typeface="Arial" pitchFamily="34" charset="-120"/>
              </a:rPr>
              <a:t>   the product</a:t>
            </a:r>
            <a:endParaRPr lang="en-US" sz="1600" dirty="0"/>
          </a:p>
        </p:txBody>
      </p:sp>
      <p:sp>
        <p:nvSpPr>
          <p:cNvPr id="17" name="Text 15"/>
          <p:cNvSpPr txBox="1"/>
          <p:nvPr/>
        </p:nvSpPr>
        <p:spPr>
          <a:xfrm>
            <a:off x="4224528" y="3026664"/>
            <a:ext cx="7406640" cy="65836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320 fixed bytes: value, lower/upper bounds, observed slot, valid_until, sequence, status flags, methodology hash. Read for ~200 CU.</a:t>
            </a:r>
            <a:endParaRPr lang="en-US" sz="1200" dirty="0"/>
          </a:p>
        </p:txBody>
      </p:sp>
      <p:sp>
        <p:nvSpPr>
          <p:cNvPr id="18" name="Shape 16"/>
          <p:cNvSpPr/>
          <p:nvPr/>
        </p:nvSpPr>
        <p:spPr>
          <a:xfrm>
            <a:off x="566928" y="3758184"/>
            <a:ext cx="11057839" cy="0"/>
          </a:xfrm>
          <a:prstGeom prst="line">
            <a:avLst/>
          </a:prstGeom>
          <a:noFill/>
          <a:ln w="12700">
            <a:solidFill>
              <a:srgbClr val="E2E0EC"/>
            </a:solidFill>
            <a:prstDash val="solid"/>
          </a:ln>
        </p:spPr>
      </p:sp>
      <p:sp>
        <p:nvSpPr>
          <p:cNvPr id="19" name="Shape 17"/>
          <p:cNvSpPr/>
          <p:nvPr/>
        </p:nvSpPr>
        <p:spPr>
          <a:xfrm>
            <a:off x="566928" y="3913632"/>
            <a:ext cx="475488" cy="475488"/>
          </a:xfrm>
          <a:prstGeom prst="ellipse">
            <a:avLst/>
          </a:prstGeom>
          <a:solidFill>
            <a:srgbClr val="16A34A"/>
          </a:solidFill>
          <a:ln/>
        </p:spPr>
      </p:sp>
      <p:sp>
        <p:nvSpPr>
          <p:cNvPr id="20" name="Text 18"/>
          <p:cNvSpPr txBox="1"/>
          <p:nvPr/>
        </p:nvSpPr>
        <p:spPr>
          <a:xfrm>
            <a:off x="566928" y="3986784"/>
            <a:ext cx="475488"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1" name="Text 19"/>
          <p:cNvSpPr txBox="1"/>
          <p:nvPr/>
        </p:nvSpPr>
        <p:spPr>
          <a:xfrm>
            <a:off x="1243584" y="3895344"/>
            <a:ext cx="3108960" cy="329184"/>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Keeper</a:t>
            </a:r>
            <a:pPr indent="0" marL="0">
              <a:buNone/>
            </a:pPr>
            <a:r>
              <a:rPr lang="en-US" sz="1250" i="1" dirty="0">
                <a:solidFill>
                  <a:srgbClr val="16A34A"/>
                </a:solidFill>
                <a:latin typeface="Arial" pitchFamily="34" charset="0"/>
                <a:ea typeface="Arial" pitchFamily="34" charset="-122"/>
                <a:cs typeface="Arial" pitchFamily="34" charset="-120"/>
              </a:rPr>
              <a:t>   rings the bell</a:t>
            </a:r>
            <a:endParaRPr lang="en-US" sz="1600" dirty="0"/>
          </a:p>
        </p:txBody>
      </p:sp>
      <p:sp>
        <p:nvSpPr>
          <p:cNvPr id="22" name="Text 20"/>
          <p:cNvSpPr txBox="1"/>
          <p:nvPr/>
        </p:nvSpPr>
        <p:spPr>
          <a:xfrm>
            <a:off x="4224528" y="3849624"/>
            <a:ext cx="7406640" cy="65836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Permissionless — anyone can crank. Pays gas; cannot influence the value. If nobody cranks, the quote expires visibly. Built; ships with a watcher.</a:t>
            </a:r>
            <a:endParaRPr lang="en-US" sz="1200" dirty="0"/>
          </a:p>
        </p:txBody>
      </p:sp>
      <p:sp>
        <p:nvSpPr>
          <p:cNvPr id="23" name="Shape 21"/>
          <p:cNvSpPr/>
          <p:nvPr/>
        </p:nvSpPr>
        <p:spPr>
          <a:xfrm>
            <a:off x="566928" y="4581144"/>
            <a:ext cx="11057839" cy="0"/>
          </a:xfrm>
          <a:prstGeom prst="line">
            <a:avLst/>
          </a:prstGeom>
          <a:noFill/>
          <a:ln w="12700">
            <a:solidFill>
              <a:srgbClr val="E2E0EC"/>
            </a:solidFill>
            <a:prstDash val="solid"/>
          </a:ln>
        </p:spPr>
      </p:sp>
      <p:sp>
        <p:nvSpPr>
          <p:cNvPr id="24" name="Shape 22"/>
          <p:cNvSpPr/>
          <p:nvPr/>
        </p:nvSpPr>
        <p:spPr>
          <a:xfrm>
            <a:off x="566928" y="4736592"/>
            <a:ext cx="475488" cy="475488"/>
          </a:xfrm>
          <a:prstGeom prst="ellipse">
            <a:avLst/>
          </a:prstGeom>
          <a:solidFill>
            <a:srgbClr val="16A34A"/>
          </a:solidFill>
          <a:ln/>
        </p:spPr>
      </p:sp>
      <p:sp>
        <p:nvSpPr>
          <p:cNvPr id="25" name="Text 23"/>
          <p:cNvSpPr txBox="1"/>
          <p:nvPr/>
        </p:nvSpPr>
        <p:spPr>
          <a:xfrm>
            <a:off x="566928" y="4809744"/>
            <a:ext cx="475488" cy="347472"/>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6" name="Text 24"/>
          <p:cNvSpPr txBox="1"/>
          <p:nvPr/>
        </p:nvSpPr>
        <p:spPr>
          <a:xfrm>
            <a:off x="1243584" y="4718304"/>
            <a:ext cx="3108960" cy="329184"/>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Observer</a:t>
            </a:r>
            <a:pPr indent="0" marL="0">
              <a:buNone/>
            </a:pPr>
            <a:r>
              <a:rPr lang="en-US" sz="1250" i="1" dirty="0">
                <a:solidFill>
                  <a:srgbClr val="16A34A"/>
                </a:solidFill>
                <a:latin typeface="Arial" pitchFamily="34" charset="0"/>
                <a:ea typeface="Arial" pitchFamily="34" charset="-122"/>
                <a:cs typeface="Arial" pitchFamily="34" charset="-120"/>
              </a:rPr>
              <a:t>   the second accountant</a:t>
            </a:r>
            <a:endParaRPr lang="en-US" sz="1600" dirty="0"/>
          </a:p>
        </p:txBody>
      </p:sp>
      <p:sp>
        <p:nvSpPr>
          <p:cNvPr id="27" name="Text 25"/>
          <p:cNvSpPr txBox="1"/>
          <p:nvPr/>
        </p:nvSpPr>
        <p:spPr>
          <a:xfrm>
            <a:off x="4224528" y="4672584"/>
            <a:ext cx="7406640" cy="658368"/>
          </a:xfrm>
          <a:prstGeom prst="rect">
            <a:avLst/>
          </a:prstGeom>
          <a:noFill/>
          <a:ln/>
        </p:spPr>
        <p:txBody>
          <a:bodyPr wrap="square" lIns="0" tIns="0" rIns="0" bIns="0" rtlCol="0" anchor="ctr"/>
          <a:lstStyle/>
          <a:p>
            <a:pPr indent="0" marL="0">
              <a:lnSpc>
                <a:spcPts val="1600"/>
              </a:lnSpc>
              <a:buNone/>
            </a:pPr>
            <a:r>
              <a:rPr lang="en-US" sz="1200" dirty="0">
                <a:solidFill>
                  <a:srgbClr val="5B6478"/>
                </a:solidFill>
                <a:latin typeface="Arial" pitchFamily="34" charset="0"/>
                <a:ea typeface="Arial" pitchFamily="34" charset="-122"/>
                <a:cs typeface="Arial" pitchFamily="34" charset="-120"/>
              </a:rPr>
              <a:t>Recomputes from raw accounts through independent RPCs. A divergence of one unit alerts and halts the mirror. Next.</a:t>
            </a:r>
            <a:endParaRPr lang="en-US" sz="1200" dirty="0"/>
          </a:p>
        </p:txBody>
      </p:sp>
      <p:sp>
        <p:nvSpPr>
          <p:cNvPr id="28" name="Shape 26"/>
          <p:cNvSpPr/>
          <p:nvPr/>
        </p:nvSpPr>
        <p:spPr>
          <a:xfrm>
            <a:off x="566928" y="5614416"/>
            <a:ext cx="11057839" cy="658368"/>
          </a:xfrm>
          <a:prstGeom prst="roundRect">
            <a:avLst>
              <a:gd name="adj" fmla="val 9722"/>
            </a:avLst>
          </a:prstGeom>
          <a:solidFill>
            <a:srgbClr val="F6F5FB"/>
          </a:solidFill>
          <a:ln w="12700">
            <a:solidFill>
              <a:srgbClr val="E2E0EC"/>
            </a:solidFill>
            <a:prstDash val="solid"/>
          </a:ln>
        </p:spPr>
      </p:sp>
      <p:sp>
        <p:nvSpPr>
          <p:cNvPr id="29" name="Text 27"/>
          <p:cNvSpPr txBox="1"/>
          <p:nvPr/>
        </p:nvSpPr>
        <p:spPr>
          <a:xfrm>
            <a:off x="841248" y="5779008"/>
            <a:ext cx="10509199" cy="365760"/>
          </a:xfrm>
          <a:prstGeom prst="rect">
            <a:avLst/>
          </a:prstGeom>
          <a:noFill/>
          <a:ln/>
        </p:spPr>
        <p:txBody>
          <a:bodyPr wrap="square" lIns="0" tIns="0" rIns="0" bIns="0" rtlCol="0" anchor="ctr"/>
          <a:lstStyle/>
          <a:p>
            <a:pPr indent="0" marL="0">
              <a:buNone/>
            </a:pPr>
            <a:r>
              <a:rPr lang="en-US" sz="1350" b="1" dirty="0">
                <a:solidFill>
                  <a:srgbClr val="0F172A"/>
                </a:solidFill>
                <a:latin typeface="Arial" pitchFamily="34" charset="0"/>
                <a:ea typeface="Arial" pitchFamily="34" charset="-122"/>
                <a:cs typeface="Arial" pitchFamily="34" charset="-120"/>
              </a:rPr>
              <a:t>The principle it all reduces to:  </a:t>
            </a:r>
            <a:pPr indent="0" marL="0">
              <a:buNone/>
            </a:pPr>
            <a:r>
              <a:rPr lang="en-US" sz="1350" dirty="0">
                <a:solidFill>
                  <a:srgbClr val="5B6478"/>
                </a:solidFill>
                <a:latin typeface="Arial" pitchFamily="34" charset="0"/>
                <a:ea typeface="Arial" pitchFamily="34" charset="-122"/>
                <a:cs typeface="Arial" pitchFamily="34" charset="-120"/>
              </a:rPr>
              <a:t>there is no point in the pipeline where a human or a hackable server chooses the number.</a:t>
            </a:r>
            <a:endParaRPr lang="en-US" sz="1350" dirty="0"/>
          </a:p>
        </p:txBody>
      </p:sp>
      <p:sp>
        <p:nvSpPr>
          <p:cNvPr id="30" name="Text 28"/>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MECHANICS</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One transaction, every read from the same slot</a:t>
            </a:r>
            <a:endParaRPr lang="en-US" sz="3200" dirty="0"/>
          </a:p>
        </p:txBody>
      </p:sp>
      <p:sp>
        <p:nvSpPr>
          <p:cNvPr id="4" name="Shape 2"/>
          <p:cNvSpPr/>
          <p:nvPr/>
        </p:nvSpPr>
        <p:spPr>
          <a:xfrm>
            <a:off x="566928" y="1463040"/>
            <a:ext cx="2050633" cy="2286000"/>
          </a:xfrm>
          <a:prstGeom prst="roundRect">
            <a:avLst>
              <a:gd name="adj" fmla="val 312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Text 3"/>
          <p:cNvSpPr txBox="1"/>
          <p:nvPr/>
        </p:nvSpPr>
        <p:spPr>
          <a:xfrm>
            <a:off x="749808" y="1609344"/>
            <a:ext cx="731520" cy="457200"/>
          </a:xfrm>
          <a:prstGeom prst="rect">
            <a:avLst/>
          </a:prstGeom>
          <a:noFill/>
          <a:ln/>
        </p:spPr>
        <p:txBody>
          <a:bodyPr wrap="square" lIns="0" tIns="0" rIns="0" bIns="0" rtlCol="0" anchor="ctr"/>
          <a:lstStyle/>
          <a:p>
            <a:pPr indent="0" marL="0">
              <a:buNone/>
            </a:pPr>
            <a:r>
              <a:rPr lang="en-US" sz="3000" b="1" dirty="0">
                <a:solidFill>
                  <a:srgbClr val="C4B5FD"/>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749808" y="2103120"/>
            <a:ext cx="1684873"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Crank</a:t>
            </a:r>
            <a:endParaRPr lang="en-US" sz="1550" dirty="0"/>
          </a:p>
        </p:txBody>
      </p:sp>
      <p:sp>
        <p:nvSpPr>
          <p:cNvPr id="7" name="Text 5"/>
          <p:cNvSpPr txBox="1"/>
          <p:nvPr/>
        </p:nvSpPr>
        <p:spPr>
          <a:xfrm>
            <a:off x="749808" y="2432304"/>
            <a:ext cx="1684873" cy="1188720"/>
          </a:xfrm>
          <a:prstGeom prst="rect">
            <a:avLst/>
          </a:prstGeom>
          <a:noFill/>
          <a:ln/>
        </p:spPr>
        <p:txBody>
          <a:bodyPr wrap="square" lIns="0" tIns="0" rIns="0" bIns="0" rtlCol="0" anchor="ctr"/>
          <a:lstStyle/>
          <a:p>
            <a:pPr indent="0" marL="0">
              <a:lnSpc>
                <a:spcPts val="1500"/>
              </a:lnSpc>
              <a:buNone/>
            </a:pPr>
            <a:r>
              <a:rPr lang="en-US" sz="1100" dirty="0">
                <a:solidFill>
                  <a:srgbClr val="5B6478"/>
                </a:solidFill>
                <a:latin typeface="Arial" pitchFamily="34" charset="0"/>
                <a:ea typeface="Arial" pitchFamily="34" charset="-122"/>
                <a:cs typeface="Arial" pitchFamily="34" charset="-120"/>
              </a:rPr>
              <a:t>Anyone sends refresh_xsol_nav, passing Hylo's state, the xSOL mint, Pyth SOL/USD and the quote account.</a:t>
            </a:r>
            <a:endParaRPr lang="en-US" sz="1100" dirty="0"/>
          </a:p>
        </p:txBody>
      </p:sp>
      <p:sp>
        <p:nvSpPr>
          <p:cNvPr id="8" name="Text 6"/>
          <p:cNvSpPr txBox="1"/>
          <p:nvPr/>
        </p:nvSpPr>
        <p:spPr>
          <a:xfrm>
            <a:off x="2622133" y="2395728"/>
            <a:ext cx="192024" cy="274320"/>
          </a:xfrm>
          <a:prstGeom prst="rect">
            <a:avLst/>
          </a:prstGeom>
          <a:noFill/>
          <a:ln/>
        </p:spPr>
        <p:txBody>
          <a:bodyPr wrap="square" lIns="0" tIns="0" rIns="0" bIns="0" rtlCol="0" anchor="ctr"/>
          <a:lstStyle/>
          <a:p>
            <a:pPr algn="ctr" indent="0" marL="0">
              <a:buNone/>
            </a:pPr>
            <a:r>
              <a:rPr lang="en-US" sz="1500" b="1" dirty="0">
                <a:solidFill>
                  <a:srgbClr val="C4B5FD"/>
                </a:solidFill>
                <a:latin typeface="Arial" pitchFamily="34" charset="0"/>
                <a:ea typeface="Arial" pitchFamily="34" charset="-122"/>
                <a:cs typeface="Arial" pitchFamily="34" charset="-120"/>
              </a:rPr>
              <a:t>→</a:t>
            </a:r>
            <a:endParaRPr lang="en-US" sz="1500" dirty="0"/>
          </a:p>
        </p:txBody>
      </p:sp>
      <p:sp>
        <p:nvSpPr>
          <p:cNvPr id="9" name="Shape 7"/>
          <p:cNvSpPr/>
          <p:nvPr/>
        </p:nvSpPr>
        <p:spPr>
          <a:xfrm>
            <a:off x="2818729" y="1463040"/>
            <a:ext cx="2050633" cy="2286000"/>
          </a:xfrm>
          <a:prstGeom prst="roundRect">
            <a:avLst>
              <a:gd name="adj" fmla="val 312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0" name="Text 8"/>
          <p:cNvSpPr txBox="1"/>
          <p:nvPr/>
        </p:nvSpPr>
        <p:spPr>
          <a:xfrm>
            <a:off x="3001609" y="1609344"/>
            <a:ext cx="731520" cy="457200"/>
          </a:xfrm>
          <a:prstGeom prst="rect">
            <a:avLst/>
          </a:prstGeom>
          <a:noFill/>
          <a:ln/>
        </p:spPr>
        <p:txBody>
          <a:bodyPr wrap="square" lIns="0" tIns="0" rIns="0" bIns="0" rtlCol="0" anchor="ctr"/>
          <a:lstStyle/>
          <a:p>
            <a:pPr indent="0" marL="0">
              <a:buNone/>
            </a:pPr>
            <a:r>
              <a:rPr lang="en-US" sz="3000" b="1" dirty="0">
                <a:solidFill>
                  <a:srgbClr val="C4B5FD"/>
                </a:solidFill>
                <a:latin typeface="Arial" pitchFamily="34" charset="0"/>
                <a:ea typeface="Arial" pitchFamily="34" charset="-122"/>
                <a:cs typeface="Arial" pitchFamily="34" charset="-120"/>
              </a:rPr>
              <a:t>2</a:t>
            </a:r>
            <a:endParaRPr lang="en-US" sz="3000" dirty="0"/>
          </a:p>
        </p:txBody>
      </p:sp>
      <p:sp>
        <p:nvSpPr>
          <p:cNvPr id="11" name="Text 9"/>
          <p:cNvSpPr txBox="1"/>
          <p:nvPr/>
        </p:nvSpPr>
        <p:spPr>
          <a:xfrm>
            <a:off x="3001609" y="2103120"/>
            <a:ext cx="1684873"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Verify</a:t>
            </a:r>
            <a:endParaRPr lang="en-US" sz="1550" dirty="0"/>
          </a:p>
        </p:txBody>
      </p:sp>
      <p:sp>
        <p:nvSpPr>
          <p:cNvPr id="12" name="Text 10"/>
          <p:cNvSpPr txBox="1"/>
          <p:nvPr/>
        </p:nvSpPr>
        <p:spPr>
          <a:xfrm>
            <a:off x="3001609" y="2432304"/>
            <a:ext cx="1684873" cy="1188720"/>
          </a:xfrm>
          <a:prstGeom prst="rect">
            <a:avLst/>
          </a:prstGeom>
          <a:noFill/>
          <a:ln/>
        </p:spPr>
        <p:txBody>
          <a:bodyPr wrap="square" lIns="0" tIns="0" rIns="0" bIns="0" rtlCol="0" anchor="ctr"/>
          <a:lstStyle/>
          <a:p>
            <a:pPr indent="0" marL="0">
              <a:lnSpc>
                <a:spcPts val="1500"/>
              </a:lnSpc>
              <a:buNone/>
            </a:pPr>
            <a:r>
              <a:rPr lang="en-US" sz="1100" dirty="0">
                <a:solidFill>
                  <a:srgbClr val="5B6478"/>
                </a:solidFill>
                <a:latin typeface="Arial" pitchFamily="34" charset="0"/>
                <a:ea typeface="Arial" pitchFamily="34" charset="-122"/>
                <a:cs typeface="Arial" pitchFamily="34" charset="-120"/>
              </a:rPr>
              <a:t>Owner, canonical address, mint, and that the Pyth account is the one Hylo's own state names. Any mismatch aborts.</a:t>
            </a:r>
            <a:endParaRPr lang="en-US" sz="1100" dirty="0"/>
          </a:p>
        </p:txBody>
      </p:sp>
      <p:sp>
        <p:nvSpPr>
          <p:cNvPr id="13" name="Text 11"/>
          <p:cNvSpPr txBox="1"/>
          <p:nvPr/>
        </p:nvSpPr>
        <p:spPr>
          <a:xfrm>
            <a:off x="4873935" y="2395728"/>
            <a:ext cx="192024" cy="274320"/>
          </a:xfrm>
          <a:prstGeom prst="rect">
            <a:avLst/>
          </a:prstGeom>
          <a:noFill/>
          <a:ln/>
        </p:spPr>
        <p:txBody>
          <a:bodyPr wrap="square" lIns="0" tIns="0" rIns="0" bIns="0" rtlCol="0" anchor="ctr"/>
          <a:lstStyle/>
          <a:p>
            <a:pPr algn="ctr" indent="0" marL="0">
              <a:buNone/>
            </a:pPr>
            <a:r>
              <a:rPr lang="en-US" sz="1500" b="1" dirty="0">
                <a:solidFill>
                  <a:srgbClr val="C4B5FD"/>
                </a:solidFill>
                <a:latin typeface="Arial" pitchFamily="34" charset="0"/>
                <a:ea typeface="Arial" pitchFamily="34" charset="-122"/>
                <a:cs typeface="Arial" pitchFamily="34" charset="-120"/>
              </a:rPr>
              <a:t>→</a:t>
            </a:r>
            <a:endParaRPr lang="en-US" sz="1500" dirty="0"/>
          </a:p>
        </p:txBody>
      </p:sp>
      <p:sp>
        <p:nvSpPr>
          <p:cNvPr id="14" name="Shape 12"/>
          <p:cNvSpPr/>
          <p:nvPr/>
        </p:nvSpPr>
        <p:spPr>
          <a:xfrm>
            <a:off x="5070531" y="1463040"/>
            <a:ext cx="2050633" cy="2286000"/>
          </a:xfrm>
          <a:prstGeom prst="roundRect">
            <a:avLst>
              <a:gd name="adj" fmla="val 312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5" name="Text 13"/>
          <p:cNvSpPr txBox="1"/>
          <p:nvPr/>
        </p:nvSpPr>
        <p:spPr>
          <a:xfrm>
            <a:off x="5253411" y="1609344"/>
            <a:ext cx="731520" cy="457200"/>
          </a:xfrm>
          <a:prstGeom prst="rect">
            <a:avLst/>
          </a:prstGeom>
          <a:noFill/>
          <a:ln/>
        </p:spPr>
        <p:txBody>
          <a:bodyPr wrap="square" lIns="0" tIns="0" rIns="0" bIns="0" rtlCol="0" anchor="ctr"/>
          <a:lstStyle/>
          <a:p>
            <a:pPr indent="0" marL="0">
              <a:buNone/>
            </a:pPr>
            <a:r>
              <a:rPr lang="en-US" sz="3000" b="1" dirty="0">
                <a:solidFill>
                  <a:srgbClr val="C4B5FD"/>
                </a:solidFill>
                <a:latin typeface="Arial" pitchFamily="34" charset="0"/>
                <a:ea typeface="Arial" pitchFamily="34" charset="-122"/>
                <a:cs typeface="Arial" pitchFamily="34" charset="-120"/>
              </a:rPr>
              <a:t>3</a:t>
            </a:r>
            <a:endParaRPr lang="en-US" sz="3000" dirty="0"/>
          </a:p>
        </p:txBody>
      </p:sp>
      <p:sp>
        <p:nvSpPr>
          <p:cNvPr id="16" name="Text 14"/>
          <p:cNvSpPr txBox="1"/>
          <p:nvPr/>
        </p:nvSpPr>
        <p:spPr>
          <a:xfrm>
            <a:off x="5253411" y="2103120"/>
            <a:ext cx="1684873"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Check</a:t>
            </a:r>
            <a:endParaRPr lang="en-US" sz="1550" dirty="0"/>
          </a:p>
        </p:txBody>
      </p:sp>
      <p:sp>
        <p:nvSpPr>
          <p:cNvPr id="17" name="Text 15"/>
          <p:cNvSpPr txBox="1"/>
          <p:nvPr/>
        </p:nvSpPr>
        <p:spPr>
          <a:xfrm>
            <a:off x="5253411" y="2432304"/>
            <a:ext cx="1684873" cy="1188720"/>
          </a:xfrm>
          <a:prstGeom prst="rect">
            <a:avLst/>
          </a:prstGeom>
          <a:noFill/>
          <a:ln/>
        </p:spPr>
        <p:txBody>
          <a:bodyPr wrap="square" lIns="0" tIns="0" rIns="0" bIns="0" rtlCol="0" anchor="ctr"/>
          <a:lstStyle/>
          <a:p>
            <a:pPr indent="0" marL="0">
              <a:lnSpc>
                <a:spcPts val="1500"/>
              </a:lnSpc>
              <a:buNone/>
            </a:pPr>
            <a:r>
              <a:rPr lang="en-US" sz="1100" dirty="0">
                <a:solidFill>
                  <a:srgbClr val="5B6478"/>
                </a:solidFill>
                <a:latin typeface="Arial" pitchFamily="34" charset="0"/>
                <a:ea typeface="Arial" pitchFamily="34" charset="-122"/>
                <a:cs typeface="Arial" pitchFamily="34" charset="-120"/>
              </a:rPr>
              <a:t>hylo-core's five gates: cache epoch, Pyth verification, publish time, slot, confidence. Each failure has its own code.</a:t>
            </a:r>
            <a:endParaRPr lang="en-US" sz="1100" dirty="0"/>
          </a:p>
        </p:txBody>
      </p:sp>
      <p:sp>
        <p:nvSpPr>
          <p:cNvPr id="18" name="Text 16"/>
          <p:cNvSpPr txBox="1"/>
          <p:nvPr/>
        </p:nvSpPr>
        <p:spPr>
          <a:xfrm>
            <a:off x="7125736" y="2395728"/>
            <a:ext cx="192024" cy="274320"/>
          </a:xfrm>
          <a:prstGeom prst="rect">
            <a:avLst/>
          </a:prstGeom>
          <a:noFill/>
          <a:ln/>
        </p:spPr>
        <p:txBody>
          <a:bodyPr wrap="square" lIns="0" tIns="0" rIns="0" bIns="0" rtlCol="0" anchor="ctr"/>
          <a:lstStyle/>
          <a:p>
            <a:pPr algn="ctr" indent="0" marL="0">
              <a:buNone/>
            </a:pPr>
            <a:r>
              <a:rPr lang="en-US" sz="1500" b="1" dirty="0">
                <a:solidFill>
                  <a:srgbClr val="C4B5FD"/>
                </a:solidFill>
                <a:latin typeface="Arial" pitchFamily="34" charset="0"/>
                <a:ea typeface="Arial" pitchFamily="34" charset="-122"/>
                <a:cs typeface="Arial" pitchFamily="34" charset="-120"/>
              </a:rPr>
              <a:t>→</a:t>
            </a:r>
            <a:endParaRPr lang="en-US" sz="1500" dirty="0"/>
          </a:p>
        </p:txBody>
      </p:sp>
      <p:sp>
        <p:nvSpPr>
          <p:cNvPr id="19" name="Shape 17"/>
          <p:cNvSpPr/>
          <p:nvPr/>
        </p:nvSpPr>
        <p:spPr>
          <a:xfrm>
            <a:off x="7322332" y="1463040"/>
            <a:ext cx="2050633" cy="2286000"/>
          </a:xfrm>
          <a:prstGeom prst="roundRect">
            <a:avLst>
              <a:gd name="adj" fmla="val 312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0" name="Text 18"/>
          <p:cNvSpPr txBox="1"/>
          <p:nvPr/>
        </p:nvSpPr>
        <p:spPr>
          <a:xfrm>
            <a:off x="7505212" y="1609344"/>
            <a:ext cx="731520" cy="457200"/>
          </a:xfrm>
          <a:prstGeom prst="rect">
            <a:avLst/>
          </a:prstGeom>
          <a:noFill/>
          <a:ln/>
        </p:spPr>
        <p:txBody>
          <a:bodyPr wrap="square" lIns="0" tIns="0" rIns="0" bIns="0" rtlCol="0" anchor="ctr"/>
          <a:lstStyle/>
          <a:p>
            <a:pPr indent="0" marL="0">
              <a:buNone/>
            </a:pPr>
            <a:r>
              <a:rPr lang="en-US" sz="3000" b="1" dirty="0">
                <a:solidFill>
                  <a:srgbClr val="C4B5FD"/>
                </a:solidFill>
                <a:latin typeface="Arial" pitchFamily="34" charset="0"/>
                <a:ea typeface="Arial" pitchFamily="34" charset="-122"/>
                <a:cs typeface="Arial" pitchFamily="34" charset="-120"/>
              </a:rPr>
              <a:t>4</a:t>
            </a:r>
            <a:endParaRPr lang="en-US" sz="3000" dirty="0"/>
          </a:p>
        </p:txBody>
      </p:sp>
      <p:sp>
        <p:nvSpPr>
          <p:cNvPr id="21" name="Text 19"/>
          <p:cNvSpPr txBox="1"/>
          <p:nvPr/>
        </p:nvSpPr>
        <p:spPr>
          <a:xfrm>
            <a:off x="7505212" y="2103120"/>
            <a:ext cx="1684873"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Compute</a:t>
            </a:r>
            <a:endParaRPr lang="en-US" sz="1550" dirty="0"/>
          </a:p>
        </p:txBody>
      </p:sp>
      <p:sp>
        <p:nvSpPr>
          <p:cNvPr id="22" name="Text 20"/>
          <p:cNvSpPr txBox="1"/>
          <p:nvPr/>
        </p:nvSpPr>
        <p:spPr>
          <a:xfrm>
            <a:off x="7505212" y="2432304"/>
            <a:ext cx="1684873" cy="1188720"/>
          </a:xfrm>
          <a:prstGeom prst="rect">
            <a:avLst/>
          </a:prstGeom>
          <a:noFill/>
          <a:ln/>
        </p:spPr>
        <p:txBody>
          <a:bodyPr wrap="square" lIns="0" tIns="0" rIns="0" bIns="0" rtlCol="0" anchor="ctr"/>
          <a:lstStyle/>
          <a:p>
            <a:pPr indent="0" marL="0">
              <a:lnSpc>
                <a:spcPts val="1500"/>
              </a:lnSpc>
              <a:buNone/>
            </a:pPr>
            <a:r>
              <a:rPr lang="en-US" sz="1100" dirty="0">
                <a:solidFill>
                  <a:srgbClr val="5B6478"/>
                </a:solidFill>
                <a:latin typeface="Arial" pitchFamily="34" charset="0"/>
                <a:ea typeface="Arial" pitchFamily="34" charset="-122"/>
                <a:cs typeface="Arial" pitchFamily="34" charset="-120"/>
              </a:rPr>
              <a:t>Redeem NAV (floor, lower price) is the value and lower bound; mint NAV (ceil, upper price) is the upper bound.</a:t>
            </a:r>
            <a:endParaRPr lang="en-US" sz="1100" dirty="0"/>
          </a:p>
        </p:txBody>
      </p:sp>
      <p:sp>
        <p:nvSpPr>
          <p:cNvPr id="23" name="Text 21"/>
          <p:cNvSpPr txBox="1"/>
          <p:nvPr/>
        </p:nvSpPr>
        <p:spPr>
          <a:xfrm>
            <a:off x="9377538" y="2395728"/>
            <a:ext cx="192024" cy="274320"/>
          </a:xfrm>
          <a:prstGeom prst="rect">
            <a:avLst/>
          </a:prstGeom>
          <a:noFill/>
          <a:ln/>
        </p:spPr>
        <p:txBody>
          <a:bodyPr wrap="square" lIns="0" tIns="0" rIns="0" bIns="0" rtlCol="0" anchor="ctr"/>
          <a:lstStyle/>
          <a:p>
            <a:pPr algn="ctr" indent="0" marL="0">
              <a:buNone/>
            </a:pPr>
            <a:r>
              <a:rPr lang="en-US" sz="1500" b="1" dirty="0">
                <a:solidFill>
                  <a:srgbClr val="C4B5FD"/>
                </a:solidFill>
                <a:latin typeface="Arial" pitchFamily="34" charset="0"/>
                <a:ea typeface="Arial" pitchFamily="34" charset="-122"/>
                <a:cs typeface="Arial" pitchFamily="34" charset="-120"/>
              </a:rPr>
              <a:t>→</a:t>
            </a:r>
            <a:endParaRPr lang="en-US" sz="1500" dirty="0"/>
          </a:p>
        </p:txBody>
      </p:sp>
      <p:sp>
        <p:nvSpPr>
          <p:cNvPr id="24" name="Shape 22"/>
          <p:cNvSpPr/>
          <p:nvPr/>
        </p:nvSpPr>
        <p:spPr>
          <a:xfrm>
            <a:off x="9574134" y="1463040"/>
            <a:ext cx="2050633" cy="2286000"/>
          </a:xfrm>
          <a:prstGeom prst="roundRect">
            <a:avLst>
              <a:gd name="adj" fmla="val 3121"/>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5" name="Text 23"/>
          <p:cNvSpPr txBox="1"/>
          <p:nvPr/>
        </p:nvSpPr>
        <p:spPr>
          <a:xfrm>
            <a:off x="9757014" y="1609344"/>
            <a:ext cx="731520" cy="457200"/>
          </a:xfrm>
          <a:prstGeom prst="rect">
            <a:avLst/>
          </a:prstGeom>
          <a:noFill/>
          <a:ln/>
        </p:spPr>
        <p:txBody>
          <a:bodyPr wrap="square" lIns="0" tIns="0" rIns="0" bIns="0" rtlCol="0" anchor="ctr"/>
          <a:lstStyle/>
          <a:p>
            <a:pPr indent="0" marL="0">
              <a:buNone/>
            </a:pPr>
            <a:r>
              <a:rPr lang="en-US" sz="3000" b="1" dirty="0">
                <a:solidFill>
                  <a:srgbClr val="C4B5FD"/>
                </a:solidFill>
                <a:latin typeface="Arial" pitchFamily="34" charset="0"/>
                <a:ea typeface="Arial" pitchFamily="34" charset="-122"/>
                <a:cs typeface="Arial" pitchFamily="34" charset="-120"/>
              </a:rPr>
              <a:t>5</a:t>
            </a:r>
            <a:endParaRPr lang="en-US" sz="3000" dirty="0"/>
          </a:p>
        </p:txBody>
      </p:sp>
      <p:sp>
        <p:nvSpPr>
          <p:cNvPr id="26" name="Text 24"/>
          <p:cNvSpPr txBox="1"/>
          <p:nvPr/>
        </p:nvSpPr>
        <p:spPr>
          <a:xfrm>
            <a:off x="9757014" y="2103120"/>
            <a:ext cx="1684873"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Publish</a:t>
            </a:r>
            <a:endParaRPr lang="en-US" sz="1550" dirty="0"/>
          </a:p>
        </p:txBody>
      </p:sp>
      <p:sp>
        <p:nvSpPr>
          <p:cNvPr id="27" name="Text 25"/>
          <p:cNvSpPr txBox="1"/>
          <p:nvPr/>
        </p:nvSpPr>
        <p:spPr>
          <a:xfrm>
            <a:off x="9757014" y="2432304"/>
            <a:ext cx="1684873" cy="1188720"/>
          </a:xfrm>
          <a:prstGeom prst="rect">
            <a:avLst/>
          </a:prstGeom>
          <a:noFill/>
          <a:ln/>
        </p:spPr>
        <p:txBody>
          <a:bodyPr wrap="square" lIns="0" tIns="0" rIns="0" bIns="0" rtlCol="0" anchor="ctr"/>
          <a:lstStyle/>
          <a:p>
            <a:pPr indent="0" marL="0">
              <a:lnSpc>
                <a:spcPts val="1500"/>
              </a:lnSpc>
              <a:buNone/>
            </a:pPr>
            <a:r>
              <a:rPr lang="en-US" sz="1100" dirty="0">
                <a:solidFill>
                  <a:srgbClr val="5B6478"/>
                </a:solidFill>
                <a:latin typeface="Arial" pitchFamily="34" charset="0"/>
                <a:ea typeface="Arial" pitchFamily="34" charset="-122"/>
                <a:cs typeface="Arial" pitchFamily="34" charset="-120"/>
              </a:rPr>
              <a:t>Band ≤ 500 bps, bounds coherent, flags set honestly. CPI into svi-core signed by the adapter PDA. Sequence + 1.</a:t>
            </a:r>
            <a:endParaRPr lang="en-US" sz="1100" dirty="0"/>
          </a:p>
        </p:txBody>
      </p:sp>
      <p:sp>
        <p:nvSpPr>
          <p:cNvPr id="28" name="Shape 26"/>
          <p:cNvSpPr/>
          <p:nvPr/>
        </p:nvSpPr>
        <p:spPr>
          <a:xfrm>
            <a:off x="566928" y="3968496"/>
            <a:ext cx="5431536" cy="2084832"/>
          </a:xfrm>
          <a:prstGeom prst="roundRect">
            <a:avLst>
              <a:gd name="adj" fmla="val 3070"/>
            </a:avLst>
          </a:prstGeom>
          <a:solidFill>
            <a:srgbClr val="EAF7EF"/>
          </a:solidFill>
          <a:ln w="12700">
            <a:solidFill>
              <a:srgbClr val="BFE3CC"/>
            </a:solidFill>
            <a:prstDash val="solid"/>
          </a:ln>
        </p:spPr>
      </p:sp>
      <p:sp>
        <p:nvSpPr>
          <p:cNvPr id="29" name="Text 27"/>
          <p:cNvSpPr txBox="1"/>
          <p:nvPr/>
        </p:nvSpPr>
        <p:spPr>
          <a:xfrm>
            <a:off x="841248" y="4169664"/>
            <a:ext cx="4882896" cy="310896"/>
          </a:xfrm>
          <a:prstGeom prst="rect">
            <a:avLst/>
          </a:prstGeom>
          <a:noFill/>
          <a:ln/>
        </p:spPr>
        <p:txBody>
          <a:bodyPr wrap="square" lIns="0" tIns="0" rIns="0" bIns="0" rtlCol="0" anchor="ctr"/>
          <a:lstStyle/>
          <a:p>
            <a:pPr indent="0" marL="0">
              <a:buNone/>
            </a:pPr>
            <a:r>
              <a:rPr lang="en-US" sz="1600" b="1" dirty="0">
                <a:solidFill>
                  <a:srgbClr val="16A34A"/>
                </a:solidFill>
                <a:latin typeface="Arial" pitchFamily="34" charset="0"/>
                <a:ea typeface="Arial" pitchFamily="34" charset="-122"/>
                <a:cs typeface="Arial" pitchFamily="34" charset="-120"/>
              </a:rPr>
              <a:t>Permissionless, yet uninfluenceable</a:t>
            </a:r>
            <a:endParaRPr lang="en-US" sz="1600" dirty="0"/>
          </a:p>
        </p:txBody>
      </p:sp>
      <p:sp>
        <p:nvSpPr>
          <p:cNvPr id="30" name="Text 28"/>
          <p:cNvSpPr txBox="1"/>
          <p:nvPr/>
        </p:nvSpPr>
        <p:spPr>
          <a:xfrm>
            <a:off x="841248" y="4535424"/>
            <a:ext cx="4882896" cy="1371600"/>
          </a:xfrm>
          <a:prstGeom prst="rect">
            <a:avLst/>
          </a:prstGeom>
          <a:noFill/>
          <a:ln/>
        </p:spPr>
        <p:txBody>
          <a:bodyPr wrap="square" lIns="0" tIns="0" rIns="0" bIns="0" rtlCol="0" anchor="ctr"/>
          <a:lstStyle/>
          <a:p>
            <a:pPr indent="0" marL="0">
              <a:lnSpc>
                <a:spcPts val="1700"/>
              </a:lnSpc>
              <a:buNone/>
            </a:pPr>
            <a:r>
              <a:rPr lang="en-US" sz="1250" dirty="0">
                <a:solidFill>
                  <a:srgbClr val="0F172A"/>
                </a:solidFill>
                <a:latin typeface="Arial" pitchFamily="34" charset="0"/>
                <a:ea typeface="Arial" pitchFamily="34" charset="-122"/>
                <a:cs typeface="Arial" pitchFamily="34" charset="-120"/>
              </a:rPr>
              <a:t>Anyone can send this transaction. Nobody can change what it writes — the value is computed by adapter code from verified accounts, and only the adapter's PDA can authorise the write. The keeper is paying for gas. If our bot dies, anyone else's bot cranks it.</a:t>
            </a:r>
            <a:endParaRPr lang="en-US" sz="1250" dirty="0"/>
          </a:p>
        </p:txBody>
      </p:sp>
      <p:sp>
        <p:nvSpPr>
          <p:cNvPr id="31" name="Shape 29"/>
          <p:cNvSpPr/>
          <p:nvPr/>
        </p:nvSpPr>
        <p:spPr>
          <a:xfrm>
            <a:off x="6199632" y="3968496"/>
            <a:ext cx="5431536" cy="2084832"/>
          </a:xfrm>
          <a:prstGeom prst="roundRect">
            <a:avLst>
              <a:gd name="adj" fmla="val 3070"/>
            </a:avLst>
          </a:prstGeom>
          <a:solidFill>
            <a:srgbClr val="FEF3C7"/>
          </a:solidFill>
          <a:ln w="12700">
            <a:solidFill>
              <a:srgbClr val="F0D9A0"/>
            </a:solidFill>
            <a:prstDash val="solid"/>
          </a:ln>
        </p:spPr>
      </p:sp>
      <p:sp>
        <p:nvSpPr>
          <p:cNvPr id="32" name="Text 30"/>
          <p:cNvSpPr txBox="1"/>
          <p:nvPr/>
        </p:nvSpPr>
        <p:spPr>
          <a:xfrm>
            <a:off x="6473952" y="4169664"/>
            <a:ext cx="4882896" cy="310896"/>
          </a:xfrm>
          <a:prstGeom prst="rect">
            <a:avLst/>
          </a:prstGeom>
          <a:noFill/>
          <a:ln/>
        </p:spPr>
        <p:txBody>
          <a:bodyPr wrap="square" lIns="0" tIns="0" rIns="0" bIns="0" rtlCol="0" anchor="ctr"/>
          <a:lstStyle/>
          <a:p>
            <a:pPr indent="0" marL="0">
              <a:buNone/>
            </a:pPr>
            <a:r>
              <a:rPr lang="en-US" sz="1600" b="1" dirty="0">
                <a:solidFill>
                  <a:srgbClr val="D97706"/>
                </a:solidFill>
                <a:latin typeface="Arial" pitchFamily="34" charset="0"/>
                <a:ea typeface="Arial" pitchFamily="34" charset="-122"/>
                <a:cs typeface="Arial" pitchFamily="34" charset="-120"/>
              </a:rPr>
              <a:t>We reimplement none of Hylo's math</a:t>
            </a:r>
            <a:endParaRPr lang="en-US" sz="1600" dirty="0"/>
          </a:p>
        </p:txBody>
      </p:sp>
      <p:sp>
        <p:nvSpPr>
          <p:cNvPr id="33" name="Text 31"/>
          <p:cNvSpPr txBox="1"/>
          <p:nvPr/>
        </p:nvSpPr>
        <p:spPr>
          <a:xfrm>
            <a:off x="6473952" y="4535424"/>
            <a:ext cx="4882896" cy="1371600"/>
          </a:xfrm>
          <a:prstGeom prst="rect">
            <a:avLst/>
          </a:prstGeom>
          <a:noFill/>
          <a:ln/>
        </p:spPr>
        <p:txBody>
          <a:bodyPr wrap="square" lIns="0" tIns="0" rIns="0" bIns="0" rtlCol="0" anchor="ctr"/>
          <a:lstStyle/>
          <a:p>
            <a:pPr indent="0" marL="0">
              <a:lnSpc>
                <a:spcPts val="1700"/>
              </a:lnSpc>
              <a:buNone/>
            </a:pPr>
            <a:r>
              <a:rPr lang="en-US" sz="1250" dirty="0">
                <a:solidFill>
                  <a:srgbClr val="0F172A"/>
                </a:solidFill>
                <a:latin typeface="Arial" pitchFamily="34" charset="0"/>
                <a:ea typeface="Arial" pitchFamily="34" charset="-122"/>
                <a:cs typeface="Arial" pitchFamily="34" charset="-120"/>
              </a:rPr>
              <a:t>The adapter links hylo-core — the library Hylo's own program uses — pinned to one commit, recorded on-chain in the adapter config. levercoin_redeem_nav and levercoin_mint_nav are called, not copied. Hylo's redemption math and SVI's published value cannot diverge, because they are the same code.</a:t>
            </a:r>
            <a:endParaRPr lang="en-US" sz="1250" dirty="0"/>
          </a:p>
        </p:txBody>
      </p:sp>
      <p:sp>
        <p:nvSpPr>
          <p:cNvPr id="34" name="Text 32"/>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32B"/>
        </a:solidFill>
      </p:bgPr>
    </p:bg>
    <p:spTree>
      <p:nvGrpSpPr>
        <p:cNvPr id="1" name=""/>
        <p:cNvGrpSpPr/>
        <p:nvPr/>
      </p:nvGrpSpPr>
      <p:grpSpPr>
        <a:xfrm>
          <a:off x="0" y="0"/>
          <a:ext cx="0" cy="0"/>
          <a:chOff x="0" y="0"/>
          <a:chExt cx="0" cy="0"/>
        </a:xfrm>
      </p:grpSpPr>
      <p:sp>
        <p:nvSpPr>
          <p:cNvPr id="2" name="Text 0"/>
          <p:cNvSpPr txBox="1"/>
          <p:nvPr/>
        </p:nvSpPr>
        <p:spPr>
          <a:xfrm>
            <a:off x="566928" y="512064"/>
            <a:ext cx="11057839" cy="274320"/>
          </a:xfrm>
          <a:prstGeom prst="rect">
            <a:avLst/>
          </a:prstGeom>
          <a:noFill/>
          <a:ln/>
        </p:spPr>
        <p:txBody>
          <a:bodyPr wrap="square" lIns="0" tIns="0" rIns="0" bIns="0" rtlCol="0" anchor="ctr"/>
          <a:lstStyle/>
          <a:p>
            <a:pPr indent="0" marL="0">
              <a:buNone/>
            </a:pPr>
            <a:r>
              <a:rPr lang="en-US" sz="1200" b="1" spc="200" kern="0" dirty="0">
                <a:solidFill>
                  <a:srgbClr val="C4B5FD"/>
                </a:solidFill>
                <a:latin typeface="Arial" pitchFamily="34" charset="0"/>
                <a:ea typeface="Arial" pitchFamily="34" charset="-122"/>
                <a:cs typeface="Arial" pitchFamily="34" charset="-120"/>
              </a:rPr>
              <a:t>THE DESIGN RULE</a:t>
            </a:r>
            <a:endParaRPr lang="en-US" sz="1200" dirty="0"/>
          </a:p>
        </p:txBody>
      </p:sp>
      <p:sp>
        <p:nvSpPr>
          <p:cNvPr id="3" name="Text 1"/>
          <p:cNvSpPr txBox="1"/>
          <p:nvPr/>
        </p:nvSpPr>
        <p:spPr>
          <a:xfrm>
            <a:off x="566928" y="841248"/>
            <a:ext cx="11057839" cy="713232"/>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Fail stale, never fail wrong.</a:t>
            </a:r>
            <a:endParaRPr lang="en-US" sz="4000" dirty="0"/>
          </a:p>
        </p:txBody>
      </p:sp>
      <p:sp>
        <p:nvSpPr>
          <p:cNvPr id="4" name="Text 2"/>
          <p:cNvSpPr txBox="1"/>
          <p:nvPr/>
        </p:nvSpPr>
        <p:spPr>
          <a:xfrm>
            <a:off x="566928" y="1609344"/>
            <a:ext cx="9692640" cy="365760"/>
          </a:xfrm>
          <a:prstGeom prst="rect">
            <a:avLst/>
          </a:prstGeom>
          <a:noFill/>
          <a:ln/>
        </p:spPr>
        <p:txBody>
          <a:bodyPr wrap="square" lIns="0" tIns="0" rIns="0" bIns="0" rtlCol="0" anchor="ctr"/>
          <a:lstStyle/>
          <a:p>
            <a:pPr indent="0" marL="0">
              <a:buNone/>
            </a:pPr>
            <a:r>
              <a:rPr lang="en-US" sz="1450" dirty="0">
                <a:solidFill>
                  <a:srgbClr val="A79FD0"/>
                </a:solidFill>
                <a:latin typeface="Arial" pitchFamily="34" charset="0"/>
                <a:ea typeface="Arial" pitchFamily="34" charset="-122"/>
                <a:cs typeface="Arial" pitchFamily="34" charset="-120"/>
              </a:rPr>
              <a:t>No code path may publish a value computed from unvalidated inputs. A visibly expired quote is always preferable to a plausible wrong one.</a:t>
            </a:r>
            <a:endParaRPr lang="en-US" sz="14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2139696"/>
          <a:ext cx="11057839" cy="914400"/>
        </p:xfrm>
        <a:graphic>
          <a:graphicData uri="http://schemas.openxmlformats.org/drawingml/2006/table">
            <a:tbl>
              <a:tblPr/>
              <a:tblGrid>
                <a:gridCol w="3566160"/>
                <a:gridCol w="4023360"/>
                <a:gridCol w="3468319"/>
              </a:tblGrid>
              <a:tr h="384048">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Condition</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Behaviour</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the consumer sees</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241E45"/>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Everything healthy</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Publish, sequence + 1</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Fresh quote, flags clear</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Hylo's collateral cache is from a past epoch</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C2626"/>
                          </a:solidFill>
                          <a:latin typeface="Arial" pitchFamily="34" charset="0"/>
                          <a:ea typeface="Arial" pitchFamily="34" charset="-122"/>
                          <a:cs typeface="Arial" pitchFamily="34" charset="-120"/>
                        </a:rPr>
                        <a:t>Abort — no write  (HyloCacheStale)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Quote ages past valid_until_slot</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Pyth price older than Hylo's 10 s window</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C2626"/>
                          </a:solidFill>
                          <a:latin typeface="Arial" pitchFamily="34" charset="0"/>
                          <a:ea typeface="Arial" pitchFamily="34" charset="-122"/>
                          <a:cs typeface="Arial" pitchFamily="34" charset="-120"/>
                        </a:rPr>
                        <a:t>Abort — no write  (OracleStale)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Quote ages past valid_until_slot</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Pyth confidence wider than Hylo tolerates</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C2626"/>
                          </a:solidFill>
                          <a:latin typeface="Arial" pitchFamily="34" charset="0"/>
                          <a:ea typeface="Arial" pitchFamily="34" charset="-122"/>
                          <a:cs typeface="Arial" pitchFamily="34" charset="-120"/>
                        </a:rPr>
                        <a:t>Abort — no write  (OracleConfidenceTooWide)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Quote ages past valid_until_slot</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Mint/redeem band over 500 bps</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C2626"/>
                          </a:solidFill>
                          <a:latin typeface="Arial" pitchFamily="34" charset="0"/>
                          <a:ea typeface="Arial" pitchFamily="34" charset="-122"/>
                          <a:cs typeface="Arial" pitchFamily="34" charset="-120"/>
                        </a:rPr>
                        <a:t>Abort — no write  (BandTooWide)</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Quote ages past valid_until_slot</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Hylo underwater (collateral ratio &lt; 100%)</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97706"/>
                          </a:solidFill>
                          <a:latin typeface="Arial" pitchFamily="34" charset="0"/>
                          <a:ea typeface="Arial" pitchFamily="34" charset="-122"/>
                          <a:cs typeface="Arial" pitchFamily="34" charset="-120"/>
                        </a:rPr>
                        <a:t>Publish exactly 0 with halt flags</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DESTABILIZED — collateral value zero, not a dip to buy</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xSOL supply is 0</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Publish 1.000000000, flagged</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ZERO_SUPPLY_DEFAULT</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0F172A"/>
                          </a:solidFill>
                          <a:latin typeface="Arial" pitchFamily="34" charset="0"/>
                          <a:ea typeface="Arial" pitchFamily="34" charset="-122"/>
                          <a:cs typeface="Arial" pitchFamily="34" charset="-120"/>
                        </a:rPr>
                        <a:t>Wrong Pyth account passed by a keeper</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b="1" dirty="0">
                          <a:solidFill>
                            <a:srgbClr val="DC2626"/>
                          </a:solidFill>
                          <a:latin typeface="Arial" pitchFamily="34" charset="0"/>
                          <a:ea typeface="Arial" pitchFamily="34" charset="-122"/>
                          <a:cs typeface="Arial" pitchFamily="34" charset="-120"/>
                        </a:rPr>
                        <a:t>Abort — no write  (OracleMismatch)</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latin typeface="Arial" pitchFamily="34" charset="0"/>
                          <a:ea typeface="Arial" pitchFamily="34" charset="-122"/>
                          <a:cs typeface="Arial" pitchFamily="34" charset="-120"/>
                        </a:rPr>
                        <a:t>Nothing; the keeper was wrong or malicious</a:t>
                      </a:r>
                      <a:endParaRPr lang="en-US" sz="1150" dirty="0">
                        <a:latin typeface="Arial" charset="0"/>
                        <a:ea typeface="Arial" charset="0"/>
                        <a:cs typeface="Arial" charset="0"/>
                      </a:endParaRPr>
                    </a:p>
                  </a:txBody>
                  <a:tcPr marL="91440" marR="91440" marT="45720" marB="45720" anchor="ctr">
                    <a:lnL w="12700" cap="flat" cmpd="sng" algn="ctr">
                      <a:solidFill>
                        <a:srgbClr val="3B3266"/>
                      </a:solidFill>
                      <a:prstDash val="solid"/>
                      <a:round/>
                      <a:headEnd type="none" w="med" len="med"/>
                      <a:tailEnd type="none" w="med" len="med"/>
                    </a:lnL>
                    <a:lnR w="12700" cap="flat" cmpd="sng" algn="ctr">
                      <a:solidFill>
                        <a:srgbClr val="3B3266"/>
                      </a:solidFill>
                      <a:prstDash val="solid"/>
                      <a:round/>
                      <a:headEnd type="none" w="med" len="med"/>
                      <a:tailEnd type="none" w="med" len="med"/>
                    </a:lnR>
                    <a:lnT w="12700" cap="flat" cmpd="sng" algn="ctr">
                      <a:solidFill>
                        <a:srgbClr val="3B3266"/>
                      </a:solidFill>
                      <a:prstDash val="solid"/>
                      <a:round/>
                      <a:headEnd type="none" w="med" len="med"/>
                      <a:tailEnd type="none" w="med" len="med"/>
                    </a:lnT>
                    <a:lnB w="12700" cap="flat" cmpd="sng" algn="ctr">
                      <a:solidFill>
                        <a:srgbClr val="3B3266"/>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66928" y="6053328"/>
            <a:ext cx="11057839" cy="402336"/>
          </a:xfrm>
          <a:prstGeom prst="rect">
            <a:avLst/>
          </a:prstGeom>
          <a:noFill/>
          <a:ln/>
        </p:spPr>
        <p:txBody>
          <a:bodyPr wrap="square" lIns="0" tIns="0" rIns="0" bIns="0" rtlCol="0" anchor="ctr"/>
          <a:lstStyle/>
          <a:p>
            <a:pPr indent="0" marL="0">
              <a:buNone/>
            </a:pPr>
            <a:r>
              <a:rPr lang="en-US" sz="1200" i="1" dirty="0">
                <a:solidFill>
                  <a:srgbClr val="9F98C4"/>
                </a:solidFill>
                <a:latin typeface="Arial" pitchFamily="34" charset="0"/>
                <a:ea typeface="Arial" pitchFamily="34" charset="-122"/>
                <a:cs typeface="Arial" pitchFamily="34" charset="-120"/>
              </a:rPr>
              <a:t>Every row above is implemented and tested. SVI imposes no oracle tolerance of its own — it reads Hylo's on-chain OracleConfig on every refresh, so the feed reflects exactly what the protocol would accept for a real redemption.</a:t>
            </a:r>
            <a:endParaRPr lang="en-US" sz="1200" dirty="0"/>
          </a:p>
        </p:txBody>
      </p:sp>
      <p:sp>
        <p:nvSpPr>
          <p:cNvPr id="7" name="Text 4"/>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INTEGRATION</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Three ways to consume it, one of them dominant</a:t>
            </a:r>
            <a:endParaRPr lang="en-US" sz="3200" dirty="0"/>
          </a:p>
        </p:txBody>
      </p:sp>
      <p:sp>
        <p:nvSpPr>
          <p:cNvPr id="4" name="Shape 2"/>
          <p:cNvSpPr/>
          <p:nvPr/>
        </p:nvSpPr>
        <p:spPr>
          <a:xfrm>
            <a:off x="566928" y="1426464"/>
            <a:ext cx="3503066" cy="4517136"/>
          </a:xfrm>
          <a:prstGeom prst="roundRect">
            <a:avLst>
              <a:gd name="adj" fmla="val 1827"/>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Shape 3"/>
          <p:cNvSpPr/>
          <p:nvPr/>
        </p:nvSpPr>
        <p:spPr>
          <a:xfrm>
            <a:off x="566928" y="1426464"/>
            <a:ext cx="3503066" cy="859536"/>
          </a:xfrm>
          <a:prstGeom prst="roundRect">
            <a:avLst>
              <a:gd name="adj" fmla="val 7447"/>
            </a:avLst>
          </a:prstGeom>
          <a:solidFill>
            <a:srgbClr val="E5EEFC"/>
          </a:solidFill>
          <a:ln/>
        </p:spPr>
      </p:sp>
      <p:sp>
        <p:nvSpPr>
          <p:cNvPr id="6" name="Shape 4"/>
          <p:cNvSpPr/>
          <p:nvPr/>
        </p:nvSpPr>
        <p:spPr>
          <a:xfrm>
            <a:off x="786384" y="1636776"/>
            <a:ext cx="438912" cy="438912"/>
          </a:xfrm>
          <a:prstGeom prst="ellipse">
            <a:avLst/>
          </a:prstGeom>
          <a:solidFill>
            <a:srgbClr val="2563EB"/>
          </a:solidFill>
          <a:ln/>
        </p:spPr>
      </p:sp>
      <p:sp>
        <p:nvSpPr>
          <p:cNvPr id="7" name="Text 5"/>
          <p:cNvSpPr txBox="1"/>
          <p:nvPr/>
        </p:nvSpPr>
        <p:spPr>
          <a:xfrm>
            <a:off x="786384" y="1700784"/>
            <a:ext cx="438912"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a:t>
            </a:r>
            <a:endParaRPr lang="en-US" sz="1700" dirty="0"/>
          </a:p>
        </p:txBody>
      </p:sp>
      <p:sp>
        <p:nvSpPr>
          <p:cNvPr id="8" name="Text 6"/>
          <p:cNvSpPr txBox="1"/>
          <p:nvPr/>
        </p:nvSpPr>
        <p:spPr>
          <a:xfrm>
            <a:off x="1335024" y="1627632"/>
            <a:ext cx="2542946"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Read the account</a:t>
            </a:r>
            <a:endParaRPr lang="en-US" sz="1550" dirty="0"/>
          </a:p>
        </p:txBody>
      </p:sp>
      <p:sp>
        <p:nvSpPr>
          <p:cNvPr id="9" name="Text 7"/>
          <p:cNvSpPr txBox="1"/>
          <p:nvPr/>
        </p:nvSpPr>
        <p:spPr>
          <a:xfrm>
            <a:off x="1335024" y="1920240"/>
            <a:ext cx="2542946" cy="237744"/>
          </a:xfrm>
          <a:prstGeom prst="rect">
            <a:avLst/>
          </a:prstGeom>
          <a:noFill/>
          <a:ln/>
        </p:spPr>
        <p:txBody>
          <a:bodyPr wrap="square" lIns="0" tIns="0" rIns="0" bIns="0" rtlCol="0" anchor="ctr"/>
          <a:lstStyle/>
          <a:p>
            <a:pPr indent="0" marL="0">
              <a:buNone/>
            </a:pPr>
            <a:r>
              <a:rPr lang="en-US" sz="1150" b="1" dirty="0">
                <a:solidFill>
                  <a:srgbClr val="2563EB"/>
                </a:solidFill>
                <a:latin typeface="Arial" pitchFamily="34" charset="0"/>
                <a:ea typeface="Arial" pitchFamily="34" charset="-122"/>
                <a:cs typeface="Arial" pitchFamily="34" charset="-120"/>
              </a:rPr>
              <a:t>99% of usage</a:t>
            </a:r>
            <a:endParaRPr lang="en-US" sz="1150" dirty="0"/>
          </a:p>
        </p:txBody>
      </p:sp>
      <p:sp>
        <p:nvSpPr>
          <p:cNvPr id="10" name="Text 8"/>
          <p:cNvSpPr txBox="1"/>
          <p:nvPr/>
        </p:nvSpPr>
        <p:spPr>
          <a:xfrm>
            <a:off x="822960" y="2468880"/>
            <a:ext cx="2991002" cy="210312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Pass the quote account into your own instruction</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Check valid_until_slot and status_flags</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Check value_type is what you onboarded</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Use the lower bound for collateral</a:t>
            </a:r>
            <a:endParaRPr lang="en-US" sz="1200" dirty="0"/>
          </a:p>
        </p:txBody>
      </p:sp>
      <p:sp>
        <p:nvSpPr>
          <p:cNvPr id="11" name="Shape 9"/>
          <p:cNvSpPr/>
          <p:nvPr/>
        </p:nvSpPr>
        <p:spPr>
          <a:xfrm>
            <a:off x="822960" y="4773168"/>
            <a:ext cx="2991002" cy="0"/>
          </a:xfrm>
          <a:prstGeom prst="line">
            <a:avLst/>
          </a:prstGeom>
          <a:noFill/>
          <a:ln w="12700">
            <a:solidFill>
              <a:srgbClr val="E2E0EC"/>
            </a:solidFill>
            <a:prstDash val="solid"/>
          </a:ln>
        </p:spPr>
      </p:sp>
      <p:sp>
        <p:nvSpPr>
          <p:cNvPr id="12" name="Text 10"/>
          <p:cNvSpPr txBox="1"/>
          <p:nvPr/>
        </p:nvSpPr>
        <p:spPr>
          <a:xfrm>
            <a:off x="822960" y="4882896"/>
            <a:ext cx="2991002" cy="914400"/>
          </a:xfrm>
          <a:prstGeom prst="rect">
            <a:avLst/>
          </a:prstGeom>
          <a:noFill/>
          <a:ln/>
        </p:spPr>
        <p:txBody>
          <a:bodyPr wrap="square" lIns="0" tIns="0" rIns="0" bIns="0" rtlCol="0" anchor="ctr"/>
          <a:lstStyle/>
          <a:p>
            <a:pPr indent="0" marL="0">
              <a:lnSpc>
                <a:spcPts val="1500"/>
              </a:lnSpc>
              <a:buNone/>
            </a:pPr>
            <a:r>
              <a:rPr lang="en-US" sz="1150" i="1" dirty="0">
                <a:solidFill>
                  <a:srgbClr val="5B6478"/>
                </a:solidFill>
                <a:latin typeface="Arial" pitchFamily="34" charset="0"/>
                <a:ea typeface="Arial" pitchFamily="34" charset="-122"/>
                <a:cs typeface="Arial" pitchFamily="34" charset="-120"/>
              </a:rPr>
              <a:t>One account read, ~200 CU. Fixed 320-byte layout, asserted by a test.</a:t>
            </a:r>
            <a:endParaRPr lang="en-US" sz="1150" dirty="0"/>
          </a:p>
        </p:txBody>
      </p:sp>
      <p:sp>
        <p:nvSpPr>
          <p:cNvPr id="13" name="Shape 11"/>
          <p:cNvSpPr/>
          <p:nvPr/>
        </p:nvSpPr>
        <p:spPr>
          <a:xfrm>
            <a:off x="4344314" y="1426464"/>
            <a:ext cx="3503066" cy="4517136"/>
          </a:xfrm>
          <a:prstGeom prst="roundRect">
            <a:avLst>
              <a:gd name="adj" fmla="val 1827"/>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4" name="Shape 12"/>
          <p:cNvSpPr/>
          <p:nvPr/>
        </p:nvSpPr>
        <p:spPr>
          <a:xfrm>
            <a:off x="4344314" y="1426464"/>
            <a:ext cx="3503066" cy="859536"/>
          </a:xfrm>
          <a:prstGeom prst="roundRect">
            <a:avLst>
              <a:gd name="adj" fmla="val 7447"/>
            </a:avLst>
          </a:prstGeom>
          <a:solidFill>
            <a:srgbClr val="EFE9FE"/>
          </a:solidFill>
          <a:ln/>
        </p:spPr>
      </p:sp>
      <p:sp>
        <p:nvSpPr>
          <p:cNvPr id="15" name="Shape 13"/>
          <p:cNvSpPr/>
          <p:nvPr/>
        </p:nvSpPr>
        <p:spPr>
          <a:xfrm>
            <a:off x="4563770" y="1636776"/>
            <a:ext cx="438912" cy="438912"/>
          </a:xfrm>
          <a:prstGeom prst="ellipse">
            <a:avLst/>
          </a:prstGeom>
          <a:solidFill>
            <a:srgbClr val="7C3AED"/>
          </a:solidFill>
          <a:ln/>
        </p:spPr>
      </p:sp>
      <p:sp>
        <p:nvSpPr>
          <p:cNvPr id="16" name="Text 14"/>
          <p:cNvSpPr txBox="1"/>
          <p:nvPr/>
        </p:nvSpPr>
        <p:spPr>
          <a:xfrm>
            <a:off x="4563770" y="1700784"/>
            <a:ext cx="438912"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B</a:t>
            </a:r>
            <a:endParaRPr lang="en-US" sz="1700" dirty="0"/>
          </a:p>
        </p:txBody>
      </p:sp>
      <p:sp>
        <p:nvSpPr>
          <p:cNvPr id="17" name="Text 15"/>
          <p:cNvSpPr txBox="1"/>
          <p:nvPr/>
        </p:nvSpPr>
        <p:spPr>
          <a:xfrm>
            <a:off x="5112410" y="1627632"/>
            <a:ext cx="2542946"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Call the calculator live</a:t>
            </a:r>
            <a:endParaRPr lang="en-US" sz="1550" dirty="0"/>
          </a:p>
        </p:txBody>
      </p:sp>
      <p:sp>
        <p:nvSpPr>
          <p:cNvPr id="18" name="Text 16"/>
          <p:cNvSpPr txBox="1"/>
          <p:nvPr/>
        </p:nvSpPr>
        <p:spPr>
          <a:xfrm>
            <a:off x="5112410" y="1920240"/>
            <a:ext cx="2542946" cy="237744"/>
          </a:xfrm>
          <a:prstGeom prst="rect">
            <a:avLst/>
          </a:prstGeom>
          <a:noFill/>
          <a:ln/>
        </p:spPr>
        <p:txBody>
          <a:bodyPr wrap="square" lIns="0" tIns="0" rIns="0" bIns="0" rtlCol="0" anchor="ctr"/>
          <a:lstStyle/>
          <a:p>
            <a:pPr indent="0" marL="0">
              <a:buNone/>
            </a:pPr>
            <a:r>
              <a:rPr lang="en-US" sz="1150" b="1" dirty="0">
                <a:solidFill>
                  <a:srgbClr val="7C3AED"/>
                </a:solidFill>
                <a:latin typeface="Arial" pitchFamily="34" charset="0"/>
                <a:ea typeface="Arial" pitchFamily="34" charset="-122"/>
                <a:cs typeface="Arial" pitchFamily="34" charset="-120"/>
              </a:rPr>
              <a:t>high-stakes only</a:t>
            </a:r>
            <a:endParaRPr lang="en-US" sz="1150" dirty="0"/>
          </a:p>
        </p:txBody>
      </p:sp>
      <p:sp>
        <p:nvSpPr>
          <p:cNvPr id="19" name="Text 17"/>
          <p:cNvSpPr txBox="1"/>
          <p:nvPr/>
        </p:nvSpPr>
        <p:spPr>
          <a:xfrm>
            <a:off x="4600346" y="2468880"/>
            <a:ext cx="2991002" cy="210312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Include the adapter's compute in your own transaction</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Value derived from this exact slot's state, atomically</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More accounts, ~13k compute units</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Zero staleness</a:t>
            </a:r>
            <a:endParaRPr lang="en-US" sz="1200" dirty="0"/>
          </a:p>
        </p:txBody>
      </p:sp>
      <p:sp>
        <p:nvSpPr>
          <p:cNvPr id="20" name="Shape 18"/>
          <p:cNvSpPr/>
          <p:nvPr/>
        </p:nvSpPr>
        <p:spPr>
          <a:xfrm>
            <a:off x="4600346" y="4773168"/>
            <a:ext cx="2991002" cy="0"/>
          </a:xfrm>
          <a:prstGeom prst="line">
            <a:avLst/>
          </a:prstGeom>
          <a:noFill/>
          <a:ln w="12700">
            <a:solidFill>
              <a:srgbClr val="E2E0EC"/>
            </a:solidFill>
            <a:prstDash val="solid"/>
          </a:ln>
        </p:spPr>
      </p:sp>
      <p:sp>
        <p:nvSpPr>
          <p:cNvPr id="21" name="Text 19"/>
          <p:cNvSpPr txBox="1"/>
          <p:nvPr/>
        </p:nvSpPr>
        <p:spPr>
          <a:xfrm>
            <a:off x="4600346" y="4882896"/>
            <a:ext cx="2991002" cy="914400"/>
          </a:xfrm>
          <a:prstGeom prst="rect">
            <a:avLst/>
          </a:prstGeom>
          <a:noFill/>
          <a:ln/>
        </p:spPr>
        <p:txBody>
          <a:bodyPr wrap="square" lIns="0" tIns="0" rIns="0" bIns="0" rtlCol="0" anchor="ctr"/>
          <a:lstStyle/>
          <a:p>
            <a:pPr indent="0" marL="0">
              <a:lnSpc>
                <a:spcPts val="1500"/>
              </a:lnSpc>
              <a:buNone/>
            </a:pPr>
            <a:r>
              <a:rPr lang="en-US" sz="1150" i="1" dirty="0">
                <a:solidFill>
                  <a:srgbClr val="5B6478"/>
                </a:solidFill>
                <a:latin typeface="Arial" pitchFamily="34" charset="0"/>
                <a:ea typeface="Arial" pitchFamily="34" charset="-122"/>
                <a:cs typeface="Arial" pitchFamily="34" charset="-120"/>
              </a:rPr>
              <a:t>For liquidators who cannot accept a five-minute-old quote. Most integrators never need this.</a:t>
            </a:r>
            <a:endParaRPr lang="en-US" sz="1150" dirty="0"/>
          </a:p>
        </p:txBody>
      </p:sp>
      <p:sp>
        <p:nvSpPr>
          <p:cNvPr id="22" name="Shape 20"/>
          <p:cNvSpPr/>
          <p:nvPr/>
        </p:nvSpPr>
        <p:spPr>
          <a:xfrm>
            <a:off x="8121701" y="1426464"/>
            <a:ext cx="3503066" cy="4517136"/>
          </a:xfrm>
          <a:prstGeom prst="roundRect">
            <a:avLst>
              <a:gd name="adj" fmla="val 1827"/>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23" name="Shape 21"/>
          <p:cNvSpPr/>
          <p:nvPr/>
        </p:nvSpPr>
        <p:spPr>
          <a:xfrm>
            <a:off x="8121701" y="1426464"/>
            <a:ext cx="3503066" cy="859536"/>
          </a:xfrm>
          <a:prstGeom prst="roundRect">
            <a:avLst>
              <a:gd name="adj" fmla="val 7447"/>
            </a:avLst>
          </a:prstGeom>
          <a:solidFill>
            <a:srgbClr val="EAF7EF"/>
          </a:solidFill>
          <a:ln/>
        </p:spPr>
      </p:sp>
      <p:sp>
        <p:nvSpPr>
          <p:cNvPr id="24" name="Shape 22"/>
          <p:cNvSpPr/>
          <p:nvPr/>
        </p:nvSpPr>
        <p:spPr>
          <a:xfrm>
            <a:off x="8341157" y="1636776"/>
            <a:ext cx="438912" cy="438912"/>
          </a:xfrm>
          <a:prstGeom prst="ellipse">
            <a:avLst/>
          </a:prstGeom>
          <a:solidFill>
            <a:srgbClr val="16A34A"/>
          </a:solidFill>
          <a:ln/>
        </p:spPr>
      </p:sp>
      <p:sp>
        <p:nvSpPr>
          <p:cNvPr id="25" name="Text 23"/>
          <p:cNvSpPr txBox="1"/>
          <p:nvPr/>
        </p:nvSpPr>
        <p:spPr>
          <a:xfrm>
            <a:off x="8341157" y="1700784"/>
            <a:ext cx="438912"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C</a:t>
            </a:r>
            <a:endParaRPr lang="en-US" sz="1700" dirty="0"/>
          </a:p>
        </p:txBody>
      </p:sp>
      <p:sp>
        <p:nvSpPr>
          <p:cNvPr id="26" name="Text 24"/>
          <p:cNvSpPr txBox="1"/>
          <p:nvPr/>
        </p:nvSpPr>
        <p:spPr>
          <a:xfrm>
            <a:off x="8889797" y="1627632"/>
            <a:ext cx="2542946" cy="292608"/>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The verified mirror</a:t>
            </a:r>
            <a:endParaRPr lang="en-US" sz="1550" dirty="0"/>
          </a:p>
        </p:txBody>
      </p:sp>
      <p:sp>
        <p:nvSpPr>
          <p:cNvPr id="27" name="Text 25"/>
          <p:cNvSpPr txBox="1"/>
          <p:nvPr/>
        </p:nvSpPr>
        <p:spPr>
          <a:xfrm>
            <a:off x="8889797" y="1920240"/>
            <a:ext cx="2542946" cy="237744"/>
          </a:xfrm>
          <a:prstGeom prst="rect">
            <a:avLst/>
          </a:prstGeom>
          <a:noFill/>
          <a:ln/>
        </p:spPr>
        <p:txBody>
          <a:bodyPr wrap="square" lIns="0" tIns="0" rIns="0" bIns="0" rtlCol="0" anchor="ctr"/>
          <a:lstStyle/>
          <a:p>
            <a:pPr indent="0" marL="0">
              <a:buNone/>
            </a:pPr>
            <a:r>
              <a:rPr lang="en-US" sz="1150" b="1" dirty="0">
                <a:solidFill>
                  <a:srgbClr val="16A34A"/>
                </a:solidFill>
                <a:latin typeface="Arial" pitchFamily="34" charset="0"/>
                <a:ea typeface="Arial" pitchFamily="34" charset="-122"/>
                <a:cs typeface="Arial" pitchFamily="34" charset="-120"/>
              </a:rPr>
              <a:t>off-chain consumers</a:t>
            </a:r>
            <a:endParaRPr lang="en-US" sz="1150" dirty="0"/>
          </a:p>
        </p:txBody>
      </p:sp>
      <p:sp>
        <p:nvSpPr>
          <p:cNvPr id="28" name="Text 26"/>
          <p:cNvSpPr txBox="1"/>
          <p:nvPr/>
        </p:nvSpPr>
        <p:spPr>
          <a:xfrm>
            <a:off x="8377733" y="2468880"/>
            <a:ext cx="2991002" cy="210312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Fetch the account through two independent RPCs</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Require byte-for-byte agreement</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Decode and serve JSON with full provenance</a:t>
            </a:r>
            <a:endParaRPr lang="en-US" sz="1200" dirty="0"/>
          </a:p>
          <a:p>
            <a:pPr marL="342900" indent="-342900">
              <a:lnSpc>
                <a:spcPts val="1600"/>
              </a:lnSpc>
              <a:spcAft>
                <a:spcPts val="800"/>
              </a:spcAft>
              <a:buSzPct val="100000"/>
              <a:buChar char="•"/>
            </a:pPr>
            <a:r>
              <a:rPr lang="en-US" sz="1200" dirty="0">
                <a:solidFill>
                  <a:srgbClr val="0F172A"/>
                </a:solidFill>
                <a:latin typeface="Arial" pitchFamily="34" charset="0"/>
                <a:ea typeface="Arial" pitchFamily="34" charset="-122"/>
                <a:cs typeface="Arial" pitchFamily="34" charset="-120"/>
              </a:rPr>
              <a:t>Serve an error when stale — never a last-known-good value</a:t>
            </a:r>
            <a:endParaRPr lang="en-US" sz="1200" dirty="0"/>
          </a:p>
        </p:txBody>
      </p:sp>
      <p:sp>
        <p:nvSpPr>
          <p:cNvPr id="29" name="Shape 27"/>
          <p:cNvSpPr/>
          <p:nvPr/>
        </p:nvSpPr>
        <p:spPr>
          <a:xfrm>
            <a:off x="8377733" y="4773168"/>
            <a:ext cx="2991002" cy="0"/>
          </a:xfrm>
          <a:prstGeom prst="line">
            <a:avLst/>
          </a:prstGeom>
          <a:noFill/>
          <a:ln w="12700">
            <a:solidFill>
              <a:srgbClr val="E2E0EC"/>
            </a:solidFill>
            <a:prstDash val="solid"/>
          </a:ln>
        </p:spPr>
      </p:sp>
      <p:sp>
        <p:nvSpPr>
          <p:cNvPr id="30" name="Text 28"/>
          <p:cNvSpPr txBox="1"/>
          <p:nvPr/>
        </p:nvSpPr>
        <p:spPr>
          <a:xfrm>
            <a:off x="8377733" y="4882896"/>
            <a:ext cx="2991002" cy="914400"/>
          </a:xfrm>
          <a:prstGeom prst="rect">
            <a:avLst/>
          </a:prstGeom>
          <a:noFill/>
          <a:ln/>
        </p:spPr>
        <p:txBody>
          <a:bodyPr wrap="square" lIns="0" tIns="0" rIns="0" bIns="0" rtlCol="0" anchor="ctr"/>
          <a:lstStyle/>
          <a:p>
            <a:pPr indent="0" marL="0">
              <a:lnSpc>
                <a:spcPts val="1500"/>
              </a:lnSpc>
              <a:buNone/>
            </a:pPr>
            <a:r>
              <a:rPr lang="en-US" sz="1150" i="1" dirty="0">
                <a:solidFill>
                  <a:srgbClr val="5B6478"/>
                </a:solidFill>
                <a:latin typeface="Arial" pitchFamily="34" charset="0"/>
                <a:ea typeface="Arial" pitchFamily="34" charset="-122"/>
                <a:cs typeface="Arial" pitchFamily="34" charset="-120"/>
              </a:rPr>
              <a:t>A photocopier. It cannot lie about the price, because anyone can compare its output to the account. Not built yet.</a:t>
            </a:r>
            <a:endParaRPr lang="en-US" sz="1150" dirty="0"/>
          </a:p>
        </p:txBody>
      </p:sp>
      <p:sp>
        <p:nvSpPr>
          <p:cNvPr id="31" name="Text 29"/>
          <p:cNvSpPr txBox="1"/>
          <p:nvPr/>
        </p:nvSpPr>
        <p:spPr>
          <a:xfrm>
            <a:off x="566928" y="6071616"/>
            <a:ext cx="11057839" cy="384048"/>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A worked example: 100,000 xSOL deposited → the market reads valid_until ≥ now, flags clear, lower bound $0.060285498 → $6,028.55 of collateral → $3,617 borrowable at 60% LTV. When valid_until passes, refuse new borrows; never guess.</a:t>
            </a:r>
            <a:endParaRPr lang="en-US" sz="1200" dirty="0"/>
          </a:p>
        </p:txBody>
      </p:sp>
      <p:sp>
        <p:nvSpPr>
          <p:cNvPr id="32" name="Text 30"/>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STATUS</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What exists, and what is next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316736"/>
          <a:ext cx="11057839" cy="914400"/>
        </p:xfrm>
        <a:graphic>
          <a:graphicData uri="http://schemas.openxmlformats.org/drawingml/2006/table">
            <a:tbl>
              <a:tblPr/>
              <a:tblGrid>
                <a:gridCol w="2743200"/>
                <a:gridCol w="1234440"/>
                <a:gridCol w="7080199"/>
              </a:tblGrid>
              <a:tr h="566928">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Component</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State</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it is</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r>
              <a:tr h="566928">
                <a:tc>
                  <a:txBody>
                    <a:bodyPr/>
                    <a:lstStyle/>
                    <a:p>
                      <a:pPr indent="0" marL="0">
                        <a:buNone/>
                      </a:pPr>
                      <a:r>
                        <a:rPr lang="en-US" sz="1100" dirty="0">
                          <a:solidFill>
                            <a:srgbClr val="0F172A"/>
                          </a:solidFill>
                          <a:latin typeface="Arial" pitchFamily="34" charset="0"/>
                          <a:ea typeface="Arial" pitchFamily="34" charset="-122"/>
                          <a:cs typeface="Arial" pitchFamily="34" charset="-120"/>
                        </a:rPr>
                        <a:t>programs/svi-core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DONE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Descriptor + 320-byte quote, layout asserted by test. Accepts a write only from the adapter PDA named in the descriptor. Sequence, validity, bounds enforced.</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66928">
                <a:tc>
                  <a:txBody>
                    <a:bodyPr/>
                    <a:lstStyle/>
                    <a:p>
                      <a:pPr indent="0" marL="0">
                        <a:buNone/>
                      </a:pPr>
                      <a:r>
                        <a:rPr lang="en-US" sz="1100" dirty="0">
                          <a:solidFill>
                            <a:srgbClr val="0F172A"/>
                          </a:solidFill>
                          <a:latin typeface="Arial" pitchFamily="34" charset="0"/>
                          <a:ea typeface="Arial" pitchFamily="34" charset="-122"/>
                          <a:cs typeface="Arial" pitchFamily="34" charset="-120"/>
                        </a:rPr>
                        <a:t>programs/svi-stock-adapter</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DONE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Two Pyth feeds in, two quotes out, one instruction. Verifies owner, feed id, verification level, publish time, age and confidence, and refuses on each. Thresholds correctable in place. 26 tests.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66928">
                <a:tc>
                  <a:txBody>
                    <a:bodyPr/>
                    <a:lstStyle/>
                    <a:p>
                      <a:pPr indent="0" marL="0">
                        <a:buNone/>
                      </a:pPr>
                      <a:r>
                        <a:rPr lang="en-US" sz="1100" dirty="0">
                          <a:solidFill>
                            <a:srgbClr val="0F172A"/>
                          </a:solidFill>
                          <a:latin typeface="Arial" pitchFamily="34" charset="0"/>
                          <a:ea typeface="Arial" pitchFamily="34" charset="-122"/>
                          <a:cs typeface="Arial" pitchFamily="34" charset="-120"/>
                        </a:rPr>
                        <a:t>programs/svi-hylo-adapter</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DONE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Adapter #2: xSOL NAV computed by subtraction from Hylo's vault, hylo-core pinned to a commit. 17 tests, including a live run on a mainnet fork.</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66928">
                <a:tc>
                  <a:txBody>
                    <a:bodyPr/>
                    <a:lstStyle/>
                    <a:p>
                      <a:pPr indent="0" marL="0">
                        <a:buNone/>
                      </a:pPr>
                      <a:r>
                        <a:rPr lang="en-US" sz="1100" dirty="0">
                          <a:solidFill>
                            <a:srgbClr val="0F172A"/>
                          </a:solidFill>
                          <a:latin typeface="Arial" pitchFamily="34" charset="0"/>
                          <a:ea typeface="Arial" pitchFamily="34" charset="-122"/>
                          <a:cs typeface="Arial" pitchFamily="34" charset="-120"/>
                        </a:rPr>
                        <a:t>tools/svi-keeper</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DONE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Permissionless crank for both feeds, with decoded refusal codes. Can post its own Pyth updates where a feed is unsponsored, given a Hermes endpoint that serves it. 31 tests.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66928">
                <a:tc>
                  <a:txBody>
                    <a:bodyPr/>
                    <a:lstStyle/>
                    <a:p>
                      <a:pPr indent="0" marL="0">
                        <a:buNone/>
                      </a:pPr>
                      <a:r>
                        <a:rPr lang="en-US" sz="1100" dirty="0">
                          <a:solidFill>
                            <a:srgbClr val="0F172A"/>
                          </a:solidFill>
                          <a:latin typeface="Arial" pitchFamily="34" charset="0"/>
                          <a:ea typeface="Arial" pitchFamily="34" charset="-122"/>
                          <a:cs typeface="Arial" pitchFamily="34" charset="-120"/>
                        </a:rPr>
                        <a:t>tools/stock-check + dashboard</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DONE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An independent verifier sharing no code with the adapter, and a page that reads the accounts from the browser with no backend and no last-known value.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66928">
                <a:tc>
                  <a:txBody>
                    <a:bodyPr/>
                    <a:lstStyle/>
                    <a:p>
                      <a:pPr indent="0" marL="0">
                        <a:buNone/>
                      </a:pPr>
                      <a:r>
                        <a:rPr lang="en-US" sz="1100" dirty="0">
                          <a:solidFill>
                            <a:srgbClr val="0F172A"/>
                          </a:solidFill>
                          <a:latin typeface="Arial" pitchFamily="34" charset="0"/>
                          <a:ea typeface="Arial" pitchFamily="34" charset="-122"/>
                          <a:cs typeface="Arial" pitchFamily="34" charset="-120"/>
                        </a:rPr>
                        <a:t>A price source for the stock feeds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DC2626"/>
                          </a:solidFill>
                          <a:latin typeface="Arial" pitchFamily="34" charset="0"/>
                          <a:ea typeface="Arial" pitchFamily="34" charset="-122"/>
                          <a:cs typeface="Arial" pitchFamily="34" charset="-120"/>
                        </a:rPr>
                        <a:t>BLOCKED</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Measured 18 Sep: Pyth's sponsored equity accounts are 6-34 days stale on mainnet, 78 days on devnet, and two of three xStock accounts do not exist on devnet at all. Hermes now answers 401 without a key. Deployment is four commands; the prices are the gap.</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66928">
                <a:tc>
                  <a:txBody>
                    <a:bodyPr/>
                    <a:lstStyle/>
                    <a:p>
                      <a:pPr indent="0" marL="0">
                        <a:buNone/>
                      </a:pPr>
                      <a:r>
                        <a:rPr lang="en-US" sz="1100" dirty="0">
                          <a:solidFill>
                            <a:srgbClr val="0F172A"/>
                          </a:solidFill>
                          <a:latin typeface="Arial" pitchFamily="34" charset="0"/>
                          <a:ea typeface="Arial" pitchFamily="34" charset="-122"/>
                          <a:cs typeface="Arial" pitchFamily="34" charset="-120"/>
                        </a:rPr>
                        <a:t>Sample lender · observer · audit</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5B6478"/>
                          </a:solidFill>
                          <a:latin typeface="Arial" pitchFamily="34" charset="0"/>
                          <a:ea typeface="Arial" pitchFamily="34" charset="-122"/>
                          <a:cs typeface="Arial" pitchFamily="34" charset="-120"/>
                        </a:rPr>
                        <a:t>NEXT</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No consumer reads the feed yet, which is the honest gap. No real collateral against these feeds until a third-party audit.</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566928">
                <a:tc>
                  <a:txBody>
                    <a:bodyPr/>
                    <a:lstStyle/>
                    <a:p>
                      <a:pPr indent="0" marL="0">
                        <a:buNone/>
                      </a:pPr>
                      <a:r>
                        <a:rPr lang="en-US" sz="1100" dirty="0">
                          <a:solidFill>
                            <a:srgbClr val="0F172A"/>
                          </a:solidFill>
                          <a:latin typeface="Arial" pitchFamily="34" charset="0"/>
                          <a:ea typeface="Arial" pitchFamily="34" charset="-122"/>
                          <a:cs typeface="Arial" pitchFamily="34" charset="-120"/>
                        </a:rPr>
                        <a:t>check-pyth.py</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b="1" dirty="0">
                          <a:solidFill>
                            <a:srgbClr val="16A34A"/>
                          </a:solidFill>
                          <a:latin typeface="Arial" pitchFamily="34" charset="0"/>
                          <a:ea typeface="Arial" pitchFamily="34" charset="-122"/>
                          <a:cs typeface="Arial" pitchFamily="34" charset="-120"/>
                        </a:rPr>
                        <a:t>DONE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Asks a cluster whether the feeds a deployment needs are fresh, correctly identified and fully verified, and says which of the three answers you have. It is how the row above was measured.</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bl>
          </a:graphicData>
        </a:graphic>
      </p:graphicFrame>
      <p:sp>
        <p:nvSpPr>
          <p:cNvPr id="5" name="Shape 2"/>
          <p:cNvSpPr/>
          <p:nvPr/>
        </p:nvSpPr>
        <p:spPr>
          <a:xfrm>
            <a:off x="566928" y="5943600"/>
            <a:ext cx="11057839" cy="548640"/>
          </a:xfrm>
          <a:prstGeom prst="roundRect">
            <a:avLst>
              <a:gd name="adj" fmla="val 11667"/>
            </a:avLst>
          </a:prstGeom>
          <a:solidFill>
            <a:srgbClr val="7C3AED"/>
          </a:solidFill>
          <a:ln w="12700">
            <a:solidFill>
              <a:srgbClr val="7C3AED"/>
            </a:solidFill>
            <a:prstDash val="solid"/>
          </a:ln>
        </p:spPr>
      </p:sp>
      <p:sp>
        <p:nvSpPr>
          <p:cNvPr id="6" name="Text 3"/>
          <p:cNvSpPr txBox="1"/>
          <p:nvPr/>
        </p:nvSpPr>
        <p:spPr>
          <a:xfrm>
            <a:off x="877824" y="6071616"/>
            <a:ext cx="10436047"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critical path is no longer engineering.  </a:t>
            </a:r>
            <a:pPr indent="0" marL="0">
              <a:buNone/>
            </a:pPr>
            <a:r>
              <a:rPr lang="en-US" sz="1500" dirty="0">
                <a:solidFill>
                  <a:srgbClr val="E4DDFB"/>
                </a:solidFill>
                <a:latin typeface="Arial" pitchFamily="34" charset="0"/>
                <a:ea typeface="Arial" pitchFamily="34" charset="-122"/>
                <a:cs typeface="Arial" pitchFamily="34" charset="-120"/>
              </a:rPr>
              <a:t>It is a price source for the stock feeds, and a first consumer. The Hylo feed needs neither.</a:t>
            </a:r>
            <a:endParaRPr lang="en-US" sz="1500" dirty="0"/>
          </a:p>
        </p:txBody>
      </p:sp>
      <p:sp>
        <p:nvSpPr>
          <p:cNvPr id="7" name="Text 4"/>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MARKET</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The asset class is NAV-shaped, and it is growing fast</a:t>
            </a:r>
            <a:endParaRPr lang="en-US" sz="3200" dirty="0"/>
          </a:p>
        </p:txBody>
      </p:sp>
      <p:sp>
        <p:nvSpPr>
          <p:cNvPr id="4" name="Shape 2"/>
          <p:cNvSpPr/>
          <p:nvPr/>
        </p:nvSpPr>
        <p:spPr>
          <a:xfrm>
            <a:off x="566928" y="1371600"/>
            <a:ext cx="2558720" cy="1700784"/>
          </a:xfrm>
          <a:prstGeom prst="roundRect">
            <a:avLst>
              <a:gd name="adj" fmla="val 3763"/>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Text 3"/>
          <p:cNvSpPr txBox="1"/>
          <p:nvPr/>
        </p:nvSpPr>
        <p:spPr>
          <a:xfrm>
            <a:off x="822960" y="1572768"/>
            <a:ext cx="2046656" cy="749808"/>
          </a:xfrm>
          <a:prstGeom prst="rect">
            <a:avLst/>
          </a:prstGeom>
          <a:noFill/>
          <a:ln/>
        </p:spPr>
        <p:txBody>
          <a:bodyPr wrap="square" lIns="0" tIns="0" rIns="0" bIns="0" rtlCol="0" anchor="ctr"/>
          <a:lstStyle/>
          <a:p>
            <a:pPr algn="l" indent="0" marL="0">
              <a:buNone/>
            </a:pPr>
            <a:r>
              <a:rPr lang="en-US" sz="3800" b="1" dirty="0">
                <a:solidFill>
                  <a:srgbClr val="7C3AED"/>
                </a:solidFill>
                <a:latin typeface="Arial" pitchFamily="34" charset="0"/>
                <a:ea typeface="Arial" pitchFamily="34" charset="-122"/>
                <a:cs typeface="Arial" pitchFamily="34" charset="-120"/>
              </a:rPr>
              <a:t>$3.7B</a:t>
            </a:r>
            <a:endParaRPr lang="en-US" sz="3800" dirty="0"/>
          </a:p>
        </p:txBody>
      </p:sp>
      <p:sp>
        <p:nvSpPr>
          <p:cNvPr id="6" name="Text 4"/>
          <p:cNvSpPr txBox="1"/>
          <p:nvPr/>
        </p:nvSpPr>
        <p:spPr>
          <a:xfrm>
            <a:off x="822960" y="2286000"/>
            <a:ext cx="2046656" cy="566928"/>
          </a:xfrm>
          <a:prstGeom prst="rect">
            <a:avLst/>
          </a:prstGeom>
          <a:noFill/>
          <a:ln/>
        </p:spPr>
        <p:txBody>
          <a:bodyPr wrap="square" lIns="0" tIns="0" rIns="0" bIns="0" rtlCol="0" anchor="ctr"/>
          <a:lstStyle/>
          <a:p>
            <a:pPr algn="l" indent="0" marL="0">
              <a:buNone/>
            </a:pPr>
            <a:r>
              <a:rPr lang="en-US" sz="1200" dirty="0">
                <a:solidFill>
                  <a:srgbClr val="5B6478"/>
                </a:solidFill>
                <a:latin typeface="Arial" pitchFamily="34" charset="0"/>
                <a:ea typeface="Arial" pitchFamily="34" charset="-122"/>
                <a:cs typeface="Arial" pitchFamily="34" charset="-120"/>
              </a:rPr>
              <a:t>tokenised RWA on Solana,</a:t>
            </a:r>
            <a:endParaRPr lang="en-US" sz="1200" dirty="0"/>
          </a:p>
          <a:p>
            <a:pPr algn="l" indent="0" marL="0">
              <a:buNone/>
            </a:pPr>
            <a:r>
              <a:rPr lang="en-US" sz="1200" dirty="0">
                <a:solidFill>
                  <a:srgbClr val="5B6478"/>
                </a:solidFill>
                <a:latin typeface="Arial" pitchFamily="34" charset="0"/>
                <a:ea typeface="Arial" pitchFamily="34" charset="-122"/>
                <a:cs typeface="Arial" pitchFamily="34" charset="-120"/>
              </a:rPr>
              <a:t>up 4× in six months</a:t>
            </a:r>
            <a:endParaRPr lang="en-US" sz="1200" dirty="0"/>
          </a:p>
        </p:txBody>
      </p:sp>
      <p:sp>
        <p:nvSpPr>
          <p:cNvPr id="7" name="Shape 5"/>
          <p:cNvSpPr/>
          <p:nvPr/>
        </p:nvSpPr>
        <p:spPr>
          <a:xfrm>
            <a:off x="3399968" y="1371600"/>
            <a:ext cx="2558720" cy="1700784"/>
          </a:xfrm>
          <a:prstGeom prst="roundRect">
            <a:avLst>
              <a:gd name="adj" fmla="val 3763"/>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8" name="Text 6"/>
          <p:cNvSpPr txBox="1"/>
          <p:nvPr/>
        </p:nvSpPr>
        <p:spPr>
          <a:xfrm>
            <a:off x="3656000" y="1572768"/>
            <a:ext cx="2046656" cy="749808"/>
          </a:xfrm>
          <a:prstGeom prst="rect">
            <a:avLst/>
          </a:prstGeom>
          <a:noFill/>
          <a:ln/>
        </p:spPr>
        <p:txBody>
          <a:bodyPr wrap="square" lIns="0" tIns="0" rIns="0" bIns="0" rtlCol="0" anchor="ctr"/>
          <a:lstStyle/>
          <a:p>
            <a:pPr algn="l" indent="0" marL="0">
              <a:buNone/>
            </a:pPr>
            <a:r>
              <a:rPr lang="en-US" sz="3800" b="1" dirty="0">
                <a:solidFill>
                  <a:srgbClr val="7C3AED"/>
                </a:solidFill>
                <a:latin typeface="Arial" pitchFamily="34" charset="0"/>
                <a:ea typeface="Arial" pitchFamily="34" charset="-122"/>
                <a:cs typeface="Arial" pitchFamily="34" charset="-120"/>
              </a:rPr>
              <a:t>~$15B</a:t>
            </a:r>
            <a:endParaRPr lang="en-US" sz="3800" dirty="0"/>
          </a:p>
        </p:txBody>
      </p:sp>
      <p:sp>
        <p:nvSpPr>
          <p:cNvPr id="9" name="Text 7"/>
          <p:cNvSpPr txBox="1"/>
          <p:nvPr/>
        </p:nvSpPr>
        <p:spPr>
          <a:xfrm>
            <a:off x="3656000" y="2286000"/>
            <a:ext cx="2046656" cy="566928"/>
          </a:xfrm>
          <a:prstGeom prst="rect">
            <a:avLst/>
          </a:prstGeom>
          <a:noFill/>
          <a:ln/>
        </p:spPr>
        <p:txBody>
          <a:bodyPr wrap="square" lIns="0" tIns="0" rIns="0" bIns="0" rtlCol="0" anchor="ctr"/>
          <a:lstStyle/>
          <a:p>
            <a:pPr algn="l" indent="0" marL="0">
              <a:buNone/>
            </a:pPr>
            <a:r>
              <a:rPr lang="en-US" sz="1200" dirty="0">
                <a:solidFill>
                  <a:srgbClr val="5B6478"/>
                </a:solidFill>
                <a:latin typeface="Arial" pitchFamily="34" charset="0"/>
                <a:ea typeface="Arial" pitchFamily="34" charset="-122"/>
                <a:cs typeface="Arial" pitchFamily="34" charset="-120"/>
              </a:rPr>
              <a:t>Solana LST supply —</a:t>
            </a:r>
            <a:endParaRPr lang="en-US" sz="1200" dirty="0"/>
          </a:p>
          <a:p>
            <a:pPr algn="l" indent="0" marL="0">
              <a:buNone/>
            </a:pPr>
            <a:r>
              <a:rPr lang="en-US" sz="1200" dirty="0">
                <a:solidFill>
                  <a:srgbClr val="5B6478"/>
                </a:solidFill>
                <a:latin typeface="Arial" pitchFamily="34" charset="0"/>
                <a:ea typeface="Arial" pitchFamily="34" charset="-122"/>
                <a:cs typeface="Arial" pitchFamily="34" charset="-120"/>
              </a:rPr>
              <a:t>every unit a formula, not a trade</a:t>
            </a:r>
            <a:endParaRPr lang="en-US" sz="1200" dirty="0"/>
          </a:p>
        </p:txBody>
      </p:sp>
      <p:sp>
        <p:nvSpPr>
          <p:cNvPr id="10" name="Shape 8"/>
          <p:cNvSpPr/>
          <p:nvPr/>
        </p:nvSpPr>
        <p:spPr>
          <a:xfrm>
            <a:off x="6233008" y="1371600"/>
            <a:ext cx="2558720" cy="1700784"/>
          </a:xfrm>
          <a:prstGeom prst="roundRect">
            <a:avLst>
              <a:gd name="adj" fmla="val 3763"/>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1" name="Text 9"/>
          <p:cNvSpPr txBox="1"/>
          <p:nvPr/>
        </p:nvSpPr>
        <p:spPr>
          <a:xfrm>
            <a:off x="6489040" y="1572768"/>
            <a:ext cx="2046656" cy="749808"/>
          </a:xfrm>
          <a:prstGeom prst="rect">
            <a:avLst/>
          </a:prstGeom>
          <a:noFill/>
          <a:ln/>
        </p:spPr>
        <p:txBody>
          <a:bodyPr wrap="square" lIns="0" tIns="0" rIns="0" bIns="0" rtlCol="0" anchor="ctr"/>
          <a:lstStyle/>
          <a:p>
            <a:pPr algn="l" indent="0" marL="0">
              <a:buNone/>
            </a:pPr>
            <a:r>
              <a:rPr lang="en-US" sz="3800" b="1" dirty="0">
                <a:solidFill>
                  <a:srgbClr val="7C3AED"/>
                </a:solidFill>
                <a:latin typeface="Arial" pitchFamily="34" charset="0"/>
                <a:ea typeface="Arial" pitchFamily="34" charset="-122"/>
                <a:cs typeface="Arial" pitchFamily="34" charset="-120"/>
              </a:rPr>
              <a:t>~$3.5B</a:t>
            </a:r>
            <a:endParaRPr lang="en-US" sz="3800" dirty="0"/>
          </a:p>
        </p:txBody>
      </p:sp>
      <p:sp>
        <p:nvSpPr>
          <p:cNvPr id="12" name="Text 10"/>
          <p:cNvSpPr txBox="1"/>
          <p:nvPr/>
        </p:nvSpPr>
        <p:spPr>
          <a:xfrm>
            <a:off x="6489040" y="2286000"/>
            <a:ext cx="2046656" cy="566928"/>
          </a:xfrm>
          <a:prstGeom prst="rect">
            <a:avLst/>
          </a:prstGeom>
          <a:noFill/>
          <a:ln/>
        </p:spPr>
        <p:txBody>
          <a:bodyPr wrap="square" lIns="0" tIns="0" rIns="0" bIns="0" rtlCol="0" anchor="ctr"/>
          <a:lstStyle/>
          <a:p>
            <a:pPr algn="l" indent="0" marL="0">
              <a:buNone/>
            </a:pPr>
            <a:r>
              <a:rPr lang="en-US" sz="1200" dirty="0">
                <a:solidFill>
                  <a:srgbClr val="5B6478"/>
                </a:solidFill>
                <a:latin typeface="Arial" pitchFamily="34" charset="0"/>
                <a:ea typeface="Arial" pitchFamily="34" charset="-122"/>
                <a:cs typeface="Arial" pitchFamily="34" charset="-120"/>
              </a:rPr>
              <a:t>lending TVL carrying this</a:t>
            </a:r>
            <a:endParaRPr lang="en-US" sz="1200" dirty="0"/>
          </a:p>
          <a:p>
            <a:pPr algn="l" indent="0" marL="0">
              <a:buNone/>
            </a:pPr>
            <a:r>
              <a:rPr lang="en-US" sz="1200" dirty="0">
                <a:solidFill>
                  <a:srgbClr val="5B6478"/>
                </a:solidFill>
                <a:latin typeface="Arial" pitchFamily="34" charset="0"/>
                <a:ea typeface="Arial" pitchFamily="34" charset="-122"/>
                <a:cs typeface="Arial" pitchFamily="34" charset="-120"/>
              </a:rPr>
              <a:t>valuation risk today</a:t>
            </a:r>
            <a:endParaRPr lang="en-US" sz="1200" dirty="0"/>
          </a:p>
        </p:txBody>
      </p:sp>
      <p:sp>
        <p:nvSpPr>
          <p:cNvPr id="13" name="Shape 11"/>
          <p:cNvSpPr/>
          <p:nvPr/>
        </p:nvSpPr>
        <p:spPr>
          <a:xfrm>
            <a:off x="9066047" y="1371600"/>
            <a:ext cx="2558720" cy="1700784"/>
          </a:xfrm>
          <a:prstGeom prst="roundRect">
            <a:avLst>
              <a:gd name="adj" fmla="val 3763"/>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4" name="Text 12"/>
          <p:cNvSpPr txBox="1"/>
          <p:nvPr/>
        </p:nvSpPr>
        <p:spPr>
          <a:xfrm>
            <a:off x="9322079" y="1572768"/>
            <a:ext cx="2046656" cy="749808"/>
          </a:xfrm>
          <a:prstGeom prst="rect">
            <a:avLst/>
          </a:prstGeom>
          <a:noFill/>
          <a:ln/>
        </p:spPr>
        <p:txBody>
          <a:bodyPr wrap="square" lIns="0" tIns="0" rIns="0" bIns="0" rtlCol="0" anchor="ctr"/>
          <a:lstStyle/>
          <a:p>
            <a:pPr algn="l" indent="0" marL="0">
              <a:buNone/>
            </a:pPr>
            <a:r>
              <a:rPr lang="en-US" sz="3800" b="1" dirty="0">
                <a:solidFill>
                  <a:srgbClr val="5B6478"/>
                </a:solidFill>
                <a:latin typeface="Arial" pitchFamily="34" charset="0"/>
                <a:ea typeface="Arial" pitchFamily="34" charset="-122"/>
                <a:cs typeface="Arial" pitchFamily="34" charset="-120"/>
              </a:rPr>
              <a:t>2,800+</a:t>
            </a:r>
            <a:endParaRPr lang="en-US" sz="3800" dirty="0"/>
          </a:p>
        </p:txBody>
      </p:sp>
      <p:sp>
        <p:nvSpPr>
          <p:cNvPr id="15" name="Text 13"/>
          <p:cNvSpPr txBox="1"/>
          <p:nvPr/>
        </p:nvSpPr>
        <p:spPr>
          <a:xfrm>
            <a:off x="9322079" y="2286000"/>
            <a:ext cx="2046656" cy="566928"/>
          </a:xfrm>
          <a:prstGeom prst="rect">
            <a:avLst/>
          </a:prstGeom>
          <a:noFill/>
          <a:ln/>
        </p:spPr>
        <p:txBody>
          <a:bodyPr wrap="square" lIns="0" tIns="0" rIns="0" bIns="0" rtlCol="0" anchor="ctr"/>
          <a:lstStyle/>
          <a:p>
            <a:pPr algn="l" indent="0" marL="0">
              <a:buNone/>
            </a:pPr>
            <a:r>
              <a:rPr lang="en-US" sz="1200" dirty="0">
                <a:solidFill>
                  <a:srgbClr val="5B6478"/>
                </a:solidFill>
                <a:latin typeface="Arial" pitchFamily="34" charset="0"/>
                <a:ea typeface="Arial" pitchFamily="34" charset="-122"/>
                <a:cs typeface="Arial" pitchFamily="34" charset="-120"/>
              </a:rPr>
              <a:t>Pyth feeds — built for</a:t>
            </a:r>
            <a:endParaRPr lang="en-US" sz="1200" dirty="0"/>
          </a:p>
          <a:p>
            <a:pPr algn="l" indent="0" marL="0">
              <a:buNone/>
            </a:pPr>
            <a:r>
              <a:rPr lang="en-US" sz="1200" dirty="0">
                <a:solidFill>
                  <a:srgbClr val="5B6478"/>
                </a:solidFill>
                <a:latin typeface="Arial" pitchFamily="34" charset="0"/>
                <a:ea typeface="Arial" pitchFamily="34" charset="-122"/>
                <a:cs typeface="Arial" pitchFamily="34" charset="-120"/>
              </a:rPr>
              <a:t>observed market prices</a:t>
            </a:r>
            <a:endParaRPr lang="en-US" sz="1200" dirty="0"/>
          </a:p>
        </p:txBody>
      </p:sp>
      <p:sp>
        <p:nvSpPr>
          <p:cNvPr id="16" name="Shape 14"/>
          <p:cNvSpPr/>
          <p:nvPr/>
        </p:nvSpPr>
        <p:spPr>
          <a:xfrm>
            <a:off x="566928" y="3291840"/>
            <a:ext cx="5431536" cy="2798064"/>
          </a:xfrm>
          <a:prstGeom prst="roundRect">
            <a:avLst>
              <a:gd name="adj" fmla="val 2288"/>
            </a:avLst>
          </a:prstGeom>
          <a:solidFill>
            <a:srgbClr val="F6F5FB"/>
          </a:solidFill>
          <a:ln w="12700">
            <a:solidFill>
              <a:srgbClr val="E2E0EC"/>
            </a:solidFill>
            <a:prstDash val="solid"/>
          </a:ln>
        </p:spPr>
      </p:sp>
      <p:sp>
        <p:nvSpPr>
          <p:cNvPr id="17" name="Text 15"/>
          <p:cNvSpPr txBox="1"/>
          <p:nvPr/>
        </p:nvSpPr>
        <p:spPr>
          <a:xfrm>
            <a:off x="859536" y="3493008"/>
            <a:ext cx="4846320" cy="310896"/>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Why now</a:t>
            </a:r>
            <a:endParaRPr lang="en-US" sz="1700" dirty="0"/>
          </a:p>
        </p:txBody>
      </p:sp>
      <p:sp>
        <p:nvSpPr>
          <p:cNvPr id="18" name="Text 16"/>
          <p:cNvSpPr txBox="1"/>
          <p:nvPr/>
        </p:nvSpPr>
        <p:spPr>
          <a:xfrm>
            <a:off x="859536" y="3877056"/>
            <a:ext cx="4846320" cy="201168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50" dirty="0">
                <a:solidFill>
                  <a:srgbClr val="0F172A"/>
                </a:solidFill>
                <a:latin typeface="Arial" pitchFamily="34" charset="0"/>
                <a:ea typeface="Arial" pitchFamily="34" charset="-122"/>
                <a:cs typeface="Arial" pitchFamily="34" charset="-120"/>
              </a:rPr>
              <a:t>A protocol founder asked for exactly this, in public, in August — because Pyth is asking him for an API.</a:t>
            </a:r>
            <a:endParaRPr lang="en-US" sz="1250" dirty="0"/>
          </a:p>
          <a:p>
            <a:pPr marL="342900" indent="-342900">
              <a:lnSpc>
                <a:spcPts val="1600"/>
              </a:lnSpc>
              <a:spcAft>
                <a:spcPts val="700"/>
              </a:spcAft>
              <a:buSzPct val="100000"/>
              <a:buChar char="•"/>
            </a:pPr>
            <a:r>
              <a:rPr lang="en-US" sz="1250" dirty="0">
                <a:solidFill>
                  <a:srgbClr val="0F172A"/>
                </a:solidFill>
                <a:latin typeface="Arial" pitchFamily="34" charset="0"/>
                <a:ea typeface="Arial" pitchFamily="34" charset="-122"/>
                <a:cs typeface="Arial" pitchFamily="34" charset="-120"/>
              </a:rPr>
              <a:t>Hylo's next version multiplies 4 feeds into 4 × N assets.</a:t>
            </a:r>
            <a:endParaRPr lang="en-US" sz="1250" dirty="0"/>
          </a:p>
          <a:p>
            <a:pPr marL="342900" indent="-342900">
              <a:lnSpc>
                <a:spcPts val="1600"/>
              </a:lnSpc>
              <a:spcAft>
                <a:spcPts val="700"/>
              </a:spcAft>
              <a:buSzPct val="100000"/>
              <a:buChar char="•"/>
            </a:pPr>
            <a:r>
              <a:rPr lang="en-US" sz="1250" dirty="0">
                <a:solidFill>
                  <a:srgbClr val="0F172A"/>
                </a:solidFill>
                <a:latin typeface="Arial" pitchFamily="34" charset="0"/>
                <a:ea typeface="Arial" pitchFamily="34" charset="-122"/>
                <a:cs typeface="Arial" pitchFamily="34" charset="-120"/>
              </a:rPr>
              <a:t>Solana RWA quadrupled in six months, and it is NAV-priced by definition.</a:t>
            </a:r>
            <a:endParaRPr lang="en-US" sz="1250" dirty="0"/>
          </a:p>
          <a:p>
            <a:pPr marL="342900" indent="-342900">
              <a:lnSpc>
                <a:spcPts val="1600"/>
              </a:lnSpc>
              <a:spcAft>
                <a:spcPts val="700"/>
              </a:spcAft>
              <a:buSzPct val="100000"/>
              <a:buChar char="•"/>
            </a:pPr>
            <a:r>
              <a:rPr lang="en-US" sz="1250" dirty="0">
                <a:solidFill>
                  <a:srgbClr val="0F172A"/>
                </a:solidFill>
                <a:latin typeface="Arial" pitchFamily="34" charset="0"/>
                <a:ea typeface="Arial" pitchFamily="34" charset="-122"/>
                <a:cs typeface="Arial" pitchFamily="34" charset="-120"/>
              </a:rPr>
              <a:t>The Foundation is standardising the neighbouring layer (sRFC 40) right now.</a:t>
            </a:r>
            <a:endParaRPr lang="en-US" sz="1250" dirty="0"/>
          </a:p>
          <a:p>
            <a:pPr marL="342900" indent="-342900">
              <a:lnSpc>
                <a:spcPts val="1600"/>
              </a:lnSpc>
              <a:spcAft>
                <a:spcPts val="700"/>
              </a:spcAft>
              <a:buSzPct val="100000"/>
              <a:buChar char="•"/>
            </a:pPr>
            <a:r>
              <a:rPr lang="en-US" sz="1250" dirty="0">
                <a:solidFill>
                  <a:srgbClr val="0F172A"/>
                </a:solidFill>
                <a:latin typeface="Arial" pitchFamily="34" charset="0"/>
                <a:ea typeface="Arial" pitchFamily="34" charset="-122"/>
                <a:cs typeface="Arial" pitchFamily="34" charset="-120"/>
              </a:rPr>
              <a:t>Colosseum runs 28 Sep – 2 Nov 2026. The first feed already works.</a:t>
            </a:r>
            <a:endParaRPr lang="en-US" sz="1250" dirty="0"/>
          </a:p>
        </p:txBody>
      </p:sp>
      <p:sp>
        <p:nvSpPr>
          <p:cNvPr id="19" name="Shape 17"/>
          <p:cNvSpPr/>
          <p:nvPr/>
        </p:nvSpPr>
        <p:spPr>
          <a:xfrm>
            <a:off x="6199632" y="3291840"/>
            <a:ext cx="5431536" cy="2798064"/>
          </a:xfrm>
          <a:prstGeom prst="roundRect">
            <a:avLst>
              <a:gd name="adj" fmla="val 2288"/>
            </a:avLst>
          </a:prstGeom>
          <a:solidFill>
            <a:srgbClr val="241E45"/>
          </a:solidFill>
          <a:ln w="12700">
            <a:solidFill>
              <a:srgbClr val="241E45"/>
            </a:solidFill>
            <a:prstDash val="solid"/>
          </a:ln>
        </p:spPr>
      </p:sp>
      <p:sp>
        <p:nvSpPr>
          <p:cNvPr id="20" name="Text 18"/>
          <p:cNvSpPr txBox="1"/>
          <p:nvPr/>
        </p:nvSpPr>
        <p:spPr>
          <a:xfrm>
            <a:off x="6492240" y="3493008"/>
            <a:ext cx="4846320" cy="310896"/>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honest version</a:t>
            </a:r>
            <a:endParaRPr lang="en-US" sz="1700" dirty="0"/>
          </a:p>
        </p:txBody>
      </p:sp>
      <p:sp>
        <p:nvSpPr>
          <p:cNvPr id="21" name="Text 19"/>
          <p:cNvSpPr txBox="1"/>
          <p:nvPr/>
        </p:nvSpPr>
        <p:spPr>
          <a:xfrm>
            <a:off x="6492240" y="3877056"/>
            <a:ext cx="4846320" cy="2011680"/>
          </a:xfrm>
          <a:prstGeom prst="rect">
            <a:avLst/>
          </a:prstGeom>
          <a:noFill/>
          <a:ln/>
        </p:spPr>
        <p:txBody>
          <a:bodyPr wrap="square" lIns="0" tIns="0" rIns="0" bIns="0" rtlCol="0" anchor="ctr"/>
          <a:lstStyle/>
          <a:p>
            <a:pPr indent="0" marL="0">
              <a:lnSpc>
                <a:spcPts val="1600"/>
              </a:lnSpc>
              <a:buNone/>
            </a:pPr>
            <a:r>
              <a:rPr lang="en-US" sz="1200" dirty="0">
                <a:solidFill>
                  <a:srgbClr val="B4ADD4"/>
                </a:solidFill>
                <a:latin typeface="Arial" pitchFamily="34" charset="0"/>
                <a:ea typeface="Arial" pitchFamily="34" charset="-122"/>
                <a:cs typeface="Arial" pitchFamily="34" charset="-120"/>
              </a:rPr>
              <a:t>Standards do not monetise. Realistic year-one revenue is low six figures at best, from services beside a permanently free standard — custom adapters, managed keepers, reviews. There is no token and there will not be one.</a:t>
            </a:r>
            <a:endParaRPr lang="en-US" sz="1200" dirty="0"/>
          </a:p>
          <a:p>
            <a:pPr indent="0" marL="0">
              <a:lnSpc>
                <a:spcPts val="1600"/>
              </a:lnSpc>
              <a:buNone/>
            </a:pPr>
            <a:endParaRPr lang="en-US" sz="1200" dirty="0"/>
          </a:p>
          <a:p>
            <a:pPr indent="0" marL="0">
              <a:lnSpc>
                <a:spcPts val="1600"/>
              </a:lnSpc>
              <a:buNone/>
            </a:pPr>
            <a:r>
              <a:rPr lang="en-US" sz="1200" dirty="0">
                <a:solidFill>
                  <a:srgbClr val="B4ADD4"/>
                </a:solidFill>
                <a:latin typeface="Arial" pitchFamily="34" charset="0"/>
                <a:ea typeface="Arial" pitchFamily="34" charset="-122"/>
                <a:cs typeface="Arial" pitchFamily="34" charset="-120"/>
              </a:rPr>
              <a:t>The return is position: authoring the valuation interface Solana adopts, with live feeds, while the Foundation standardises next door. Cost to find out: about 3.3 SOL to deploy and $50–150 a month to run.</a:t>
            </a:r>
            <a:endParaRPr lang="en-US" sz="1200" dirty="0"/>
          </a:p>
        </p:txBody>
      </p:sp>
      <p:sp>
        <p:nvSpPr>
          <p:cNvPr id="22" name="Text 20"/>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LANDSCAPE</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Nobody does this as an open interface</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1691640"/>
                <a:gridCol w="3200400"/>
                <a:gridCol w="6165799"/>
              </a:tblGrid>
              <a:tr h="603504">
                <a:tc>
                  <a:txBody>
                    <a:bodyPr/>
                    <a:lstStyle/>
                    <a:p>
                      <a:pPr indent="0" marL="0">
                        <a:buNone/>
                      </a:pPr>
                      <a:r>
                        <a:rPr lang="en-US" sz="1150" b="1" dirty="0">
                          <a:solidFill>
                            <a:srgbClr val="FFFFFF"/>
                          </a:solidFill>
                          <a:latin typeface="Arial" pitchFamily="34" charset="0"/>
                          <a:ea typeface="Arial" pitchFamily="34" charset="-122"/>
                          <a:cs typeface="Arial" pitchFamily="34" charset="-120"/>
                        </a:rPr>
                        <a:t>Player</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it is</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Why SVI is not redundant</a:t>
                      </a:r>
                      <a:endParaRPr lang="en-US" sz="115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solidFill>
                      <a:srgbClr val="241E45"/>
                    </a:solidFill>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Pyth</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Push/pull oracle, 2,800+ feeds, 128 publishers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Upstream input and prospective consumer, not competitor. Built for observed market prices; it has no mechanism for reproducible protocol NAV, which is why it asks protocols for APIs.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Switchboard</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Permissionless custom feeds, TEE-executed jobs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Real overlap, but the math still runs off-chain in an enclave. You trade 'trust the API' for 'trust the enclave and the job definition'.</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Kamino Scope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Oracle aggregator, ~40 asset-specific valuation types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Closest analogue and proof the adapter model works — but it is Kamino's internal component, curated by and for Kamino. A consumer target, not a rival.</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Blueshift Doppler</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Ultra-efficient price publishing primitive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Transport, not semantics. It makes writing a number cheap; it says nothing about where the number came from.</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sRFC 40</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Foundation + Exo vault standard, NAV-settled flows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The one genuine strategic risk. Response is to contribute into it, not compete — and to cover what vaults don't: leveraged tokens, backing NAV, redemption, receipt tokens.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r h="603504">
                <a:tc>
                  <a:txBody>
                    <a:bodyPr/>
                    <a:lstStyle/>
                    <a:p>
                      <a:pPr indent="0" marL="0">
                        <a:buNone/>
                      </a:pPr>
                      <a:r>
                        <a:rPr lang="en-US" sz="1100" b="1" dirty="0">
                          <a:solidFill>
                            <a:srgbClr val="0F172A"/>
                          </a:solidFill>
                          <a:latin typeface="Arial" pitchFamily="34" charset="0"/>
                          <a:ea typeface="Arial" pitchFamily="34" charset="-122"/>
                          <a:cs typeface="Arial" pitchFamily="34" charset="-120"/>
                        </a:rPr>
                        <a:t>Chainlink NAV</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Brings off-chain fund NAV on-chain for RWAs</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c>
                  <a:txBody>
                    <a:bodyPr/>
                    <a:lstStyle/>
                    <a:p>
                      <a:pPr indent="0" marL="0">
                        <a:buNone/>
                      </a:pPr>
                      <a:r>
                        <a:rPr lang="en-US" sz="1100" dirty="0">
                          <a:solidFill>
                            <a:srgbClr val="0F172A"/>
                          </a:solidFill>
                          <a:latin typeface="Arial" pitchFamily="34" charset="0"/>
                          <a:ea typeface="Arial" pitchFamily="34" charset="-122"/>
                          <a:cs typeface="Arial" pitchFamily="34" charset="-120"/>
                        </a:rPr>
                        <a:t>Opposite direction: it transports NAV computed off-chain by a fund administrator. SVI computes NAV from on-chain state.</a:t>
                      </a:r>
                      <a:endParaRPr lang="en-US" sz="1100" dirty="0">
                        <a:latin typeface="Arial" charset="0"/>
                        <a:ea typeface="Arial" charset="0"/>
                        <a:cs typeface="Arial" charset="0"/>
                      </a:endParaRPr>
                    </a:p>
                  </a:txBody>
                  <a:tcPr marL="91440" marR="91440" marT="45720" marB="45720" anchor="ctr">
                    <a:lnL w="12700" cap="flat" cmpd="sng" algn="ctr">
                      <a:solidFill>
                        <a:srgbClr val="E2E0EC"/>
                      </a:solidFill>
                      <a:prstDash val="solid"/>
                      <a:round/>
                      <a:headEnd type="none" w="med" len="med"/>
                      <a:tailEnd type="none" w="med" len="med"/>
                    </a:lnL>
                    <a:lnR w="12700" cap="flat" cmpd="sng" algn="ctr">
                      <a:solidFill>
                        <a:srgbClr val="E2E0EC"/>
                      </a:solidFill>
                      <a:prstDash val="solid"/>
                      <a:round/>
                      <a:headEnd type="none" w="med" len="med"/>
                      <a:tailEnd type="none" w="med" len="med"/>
                    </a:lnR>
                    <a:lnT w="12700" cap="flat" cmpd="sng" algn="ctr">
                      <a:solidFill>
                        <a:srgbClr val="E2E0EC"/>
                      </a:solidFill>
                      <a:prstDash val="solid"/>
                      <a:round/>
                      <a:headEnd type="none" w="med" len="med"/>
                      <a:tailEnd type="none" w="med" len="med"/>
                    </a:lnT>
                    <a:lnB w="12700" cap="flat" cmpd="sng" algn="ctr">
                      <a:solidFill>
                        <a:srgbClr val="E2E0EC"/>
                      </a:solidFill>
                      <a:prstDash val="solid"/>
                      <a:round/>
                      <a:headEnd type="none" w="med" len="med"/>
                      <a:tailEnd type="none" w="med" len="med"/>
                    </a:lnB>
                  </a:tcPr>
                </a:tc>
              </a:tr>
            </a:tbl>
          </a:graphicData>
        </a:graphic>
      </p:graphicFrame>
      <p:sp>
        <p:nvSpPr>
          <p:cNvPr id="5" name="Text 2"/>
          <p:cNvSpPr txBox="1"/>
          <p:nvPr/>
        </p:nvSpPr>
        <p:spPr>
          <a:xfrm>
            <a:off x="566928" y="5852160"/>
            <a:ext cx="11057839" cy="548640"/>
          </a:xfrm>
          <a:prstGeom prst="rect">
            <a:avLst/>
          </a:prstGeom>
          <a:noFill/>
          <a:ln/>
        </p:spPr>
        <p:txBody>
          <a:bodyPr wrap="square" lIns="0" tIns="0" rIns="0" bIns="0" rtlCol="0" anchor="ctr"/>
          <a:lstStyle/>
          <a:p>
            <a:pPr indent="0" marL="0">
              <a:lnSpc>
                <a:spcPts val="1600"/>
              </a:lnSpc>
              <a:buNone/>
            </a:pPr>
            <a:r>
              <a:rPr lang="en-US" sz="1200" i="1" dirty="0">
                <a:solidFill>
                  <a:srgbClr val="5B6478"/>
                </a:solidFill>
                <a:latin typeface="Arial" pitchFamily="34" charset="0"/>
                <a:ea typeface="Arial" pitchFamily="34" charset="-122"/>
                <a:cs typeface="Arial" pitchFamily="34" charset="-120"/>
              </a:rPr>
              <a:t>The honest read: nobody does exactly this, and not because it is hard — because it does not obviously monetise. Kamino, Switchboard and Blueshift could each build it in weeks. The defensible assets are methodology specs, audits, track record and integrations — not code. Which is why the code is open.</a:t>
            </a:r>
            <a:endParaRPr lang="en-US" sz="1200" dirty="0"/>
          </a:p>
        </p:txBody>
      </p:sp>
      <p:sp>
        <p:nvSpPr>
          <p:cNvPr id="6" name="Text 3"/>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ROADMAP</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Six stages, each with a gate before the next</a:t>
            </a:r>
            <a:endParaRPr lang="en-US" sz="3200" dirty="0"/>
          </a:p>
        </p:txBody>
      </p:sp>
      <p:sp>
        <p:nvSpPr>
          <p:cNvPr id="4" name="Shape 2"/>
          <p:cNvSpPr/>
          <p:nvPr/>
        </p:nvSpPr>
        <p:spPr>
          <a:xfrm>
            <a:off x="566928" y="1481328"/>
            <a:ext cx="457200" cy="457200"/>
          </a:xfrm>
          <a:prstGeom prst="ellipse">
            <a:avLst/>
          </a:prstGeom>
          <a:solidFill>
            <a:srgbClr val="16A34A"/>
          </a:solidFill>
          <a:ln/>
        </p:spPr>
      </p:sp>
      <p:sp>
        <p:nvSpPr>
          <p:cNvPr id="5" name="Text 3"/>
          <p:cNvSpPr txBox="1"/>
          <p:nvPr/>
        </p:nvSpPr>
        <p:spPr>
          <a:xfrm>
            <a:off x="566928" y="1554480"/>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6" name="Text 4"/>
          <p:cNvSpPr txBox="1"/>
          <p:nvPr/>
        </p:nvSpPr>
        <p:spPr>
          <a:xfrm>
            <a:off x="1225296" y="1554480"/>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Prove it on a fork</a:t>
            </a:r>
            <a:endParaRPr lang="en-US" sz="1550" dirty="0"/>
          </a:p>
        </p:txBody>
      </p:sp>
      <p:sp>
        <p:nvSpPr>
          <p:cNvPr id="7" name="Text 5"/>
          <p:cNvSpPr txBox="1"/>
          <p:nvPr/>
        </p:nvSpPr>
        <p:spPr>
          <a:xfrm>
            <a:off x="3694176" y="1572768"/>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Adapter publishes real xSOL NAV; off-chain recomputation matches exactly.</a:t>
            </a:r>
            <a:endParaRPr lang="en-US" sz="1200" dirty="0"/>
          </a:p>
        </p:txBody>
      </p:sp>
      <p:sp>
        <p:nvSpPr>
          <p:cNvPr id="8" name="Text 6"/>
          <p:cNvSpPr txBox="1"/>
          <p:nvPr/>
        </p:nvSpPr>
        <p:spPr>
          <a:xfrm>
            <a:off x="9619488" y="1554480"/>
            <a:ext cx="2002536" cy="310896"/>
          </a:xfrm>
          <a:prstGeom prst="rect">
            <a:avLst/>
          </a:prstGeom>
          <a:noFill/>
          <a:ln/>
        </p:spPr>
        <p:txBody>
          <a:bodyPr wrap="square" lIns="0" tIns="0" rIns="0" bIns="0" rtlCol="0" anchor="ctr"/>
          <a:lstStyle/>
          <a:p>
            <a:pPr algn="r" indent="0" marL="0">
              <a:buNone/>
            </a:pPr>
            <a:r>
              <a:rPr lang="en-US" sz="1250" b="1" dirty="0">
                <a:solidFill>
                  <a:srgbClr val="16A34A"/>
                </a:solidFill>
                <a:latin typeface="Arial" pitchFamily="34" charset="0"/>
                <a:ea typeface="Arial" pitchFamily="34" charset="-122"/>
                <a:cs typeface="Arial" pitchFamily="34" charset="-120"/>
              </a:rPr>
              <a:t>DONE · 10 Sep</a:t>
            </a:r>
            <a:endParaRPr lang="en-US" sz="1250" dirty="0"/>
          </a:p>
        </p:txBody>
      </p:sp>
      <p:sp>
        <p:nvSpPr>
          <p:cNvPr id="9" name="Shape 7"/>
          <p:cNvSpPr/>
          <p:nvPr/>
        </p:nvSpPr>
        <p:spPr>
          <a:xfrm>
            <a:off x="475488" y="2075688"/>
            <a:ext cx="11240719" cy="713232"/>
          </a:xfrm>
          <a:prstGeom prst="roundRect">
            <a:avLst>
              <a:gd name="adj" fmla="val 8974"/>
            </a:avLst>
          </a:prstGeom>
          <a:solidFill>
            <a:srgbClr val="EFE9FE"/>
          </a:solidFill>
          <a:ln w="12700">
            <a:solidFill>
              <a:srgbClr val="C4B5FD"/>
            </a:solidFill>
            <a:prstDash val="solid"/>
          </a:ln>
        </p:spPr>
      </p:sp>
      <p:sp>
        <p:nvSpPr>
          <p:cNvPr id="10" name="Shape 8"/>
          <p:cNvSpPr/>
          <p:nvPr/>
        </p:nvSpPr>
        <p:spPr>
          <a:xfrm>
            <a:off x="566928" y="2203704"/>
            <a:ext cx="457200" cy="457200"/>
          </a:xfrm>
          <a:prstGeom prst="ellipse">
            <a:avLst/>
          </a:prstGeom>
          <a:solidFill>
            <a:srgbClr val="7C3AED"/>
          </a:solidFill>
          <a:ln/>
        </p:spPr>
      </p:sp>
      <p:sp>
        <p:nvSpPr>
          <p:cNvPr id="11" name="Text 9"/>
          <p:cNvSpPr txBox="1"/>
          <p:nvPr/>
        </p:nvSpPr>
        <p:spPr>
          <a:xfrm>
            <a:off x="566928" y="2276856"/>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2" name="Text 10"/>
          <p:cNvSpPr txBox="1"/>
          <p:nvPr/>
        </p:nvSpPr>
        <p:spPr>
          <a:xfrm>
            <a:off x="1225296" y="2276856"/>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Mainnet + keeper</a:t>
            </a:r>
            <a:endParaRPr lang="en-US" sz="1550" dirty="0"/>
          </a:p>
        </p:txBody>
      </p:sp>
      <p:sp>
        <p:nvSpPr>
          <p:cNvPr id="13" name="Text 11"/>
          <p:cNvSpPr txBox="1"/>
          <p:nvPr/>
        </p:nvSpPr>
        <p:spPr>
          <a:xfrm>
            <a:off x="3694176" y="2295144"/>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Spec frozen and hashed. Both programs deployed. Keeper running; watcher public.</a:t>
            </a:r>
            <a:endParaRPr lang="en-US" sz="1200" dirty="0"/>
          </a:p>
        </p:txBody>
      </p:sp>
      <p:sp>
        <p:nvSpPr>
          <p:cNvPr id="14" name="Text 12"/>
          <p:cNvSpPr txBox="1"/>
          <p:nvPr/>
        </p:nvSpPr>
        <p:spPr>
          <a:xfrm>
            <a:off x="9619488" y="2276856"/>
            <a:ext cx="2002536" cy="310896"/>
          </a:xfrm>
          <a:prstGeom prst="rect">
            <a:avLst/>
          </a:prstGeom>
          <a:noFill/>
          <a:ln/>
        </p:spPr>
        <p:txBody>
          <a:bodyPr wrap="square" lIns="0" tIns="0" rIns="0" bIns="0" rtlCol="0" anchor="ctr"/>
          <a:lstStyle/>
          <a:p>
            <a:pPr algn="r" indent="0" marL="0">
              <a:buNone/>
            </a:pPr>
            <a:r>
              <a:rPr lang="en-US" sz="1250" b="1" dirty="0">
                <a:solidFill>
                  <a:srgbClr val="7C3AED"/>
                </a:solidFill>
                <a:latin typeface="Arial" pitchFamily="34" charset="0"/>
                <a:ea typeface="Arial" pitchFamily="34" charset="-122"/>
                <a:cs typeface="Arial" pitchFamily="34" charset="-120"/>
              </a:rPr>
              <a:t>NOW · ~2 weeks</a:t>
            </a:r>
            <a:endParaRPr lang="en-US" sz="1250" dirty="0"/>
          </a:p>
        </p:txBody>
      </p:sp>
      <p:sp>
        <p:nvSpPr>
          <p:cNvPr id="15" name="Shape 13"/>
          <p:cNvSpPr/>
          <p:nvPr/>
        </p:nvSpPr>
        <p:spPr>
          <a:xfrm>
            <a:off x="566928" y="2926080"/>
            <a:ext cx="457200" cy="457200"/>
          </a:xfrm>
          <a:prstGeom prst="ellipse">
            <a:avLst/>
          </a:prstGeom>
          <a:solidFill>
            <a:srgbClr val="D7D4E4"/>
          </a:solidFill>
          <a:ln/>
        </p:spPr>
      </p:sp>
      <p:sp>
        <p:nvSpPr>
          <p:cNvPr id="16" name="Text 14"/>
          <p:cNvSpPr txBox="1"/>
          <p:nvPr/>
        </p:nvSpPr>
        <p:spPr>
          <a:xfrm>
            <a:off x="566928" y="2999232"/>
            <a:ext cx="457200" cy="329184"/>
          </a:xfrm>
          <a:prstGeom prst="rect">
            <a:avLst/>
          </a:prstGeom>
          <a:noFill/>
          <a:ln/>
        </p:spPr>
        <p:txBody>
          <a:bodyPr wrap="square" lIns="0" tIns="0" rIns="0" bIns="0" rtlCol="0" anchor="ctr"/>
          <a:lstStyle/>
          <a:p>
            <a:pPr algn="ctr" indent="0" marL="0">
              <a:buNone/>
            </a:pPr>
            <a:r>
              <a:rPr lang="en-US" sz="1600" b="1" dirty="0">
                <a:solidFill>
                  <a:srgbClr val="5B6478"/>
                </a:solidFill>
                <a:latin typeface="Arial" pitchFamily="34" charset="0"/>
                <a:ea typeface="Arial" pitchFamily="34" charset="-122"/>
                <a:cs typeface="Arial" pitchFamily="34" charset="-120"/>
              </a:rPr>
              <a:t>2</a:t>
            </a:r>
            <a:endParaRPr lang="en-US" sz="1600" dirty="0"/>
          </a:p>
        </p:txBody>
      </p:sp>
      <p:sp>
        <p:nvSpPr>
          <p:cNvPr id="17" name="Text 15"/>
          <p:cNvSpPr txBox="1"/>
          <p:nvPr/>
        </p:nvSpPr>
        <p:spPr>
          <a:xfrm>
            <a:off x="1225296" y="2999232"/>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Observer + audit</a:t>
            </a:r>
            <a:endParaRPr lang="en-US" sz="1550" dirty="0"/>
          </a:p>
        </p:txBody>
      </p:sp>
      <p:sp>
        <p:nvSpPr>
          <p:cNvPr id="18" name="Text 16"/>
          <p:cNvSpPr txBox="1"/>
          <p:nvPr/>
        </p:nvSpPr>
        <p:spPr>
          <a:xfrm>
            <a:off x="3694176" y="3017520"/>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Zero divergence over 72 h through two RPCs. Third-party audit before any real collateral.</a:t>
            </a:r>
            <a:endParaRPr lang="en-US" sz="1200" dirty="0"/>
          </a:p>
        </p:txBody>
      </p:sp>
      <p:sp>
        <p:nvSpPr>
          <p:cNvPr id="19" name="Text 17"/>
          <p:cNvSpPr txBox="1"/>
          <p:nvPr/>
        </p:nvSpPr>
        <p:spPr>
          <a:xfrm>
            <a:off x="9619488" y="2999232"/>
            <a:ext cx="2002536" cy="310896"/>
          </a:xfrm>
          <a:prstGeom prst="rect">
            <a:avLst/>
          </a:prstGeom>
          <a:noFill/>
          <a:ln/>
        </p:spPr>
        <p:txBody>
          <a:bodyPr wrap="square" lIns="0" tIns="0" rIns="0" bIns="0" rtlCol="0" anchor="ctr"/>
          <a:lstStyle/>
          <a:p>
            <a:pPr algn="r" indent="0" marL="0">
              <a:buNone/>
            </a:pPr>
            <a:r>
              <a:rPr lang="en-US" sz="1250" b="1" dirty="0">
                <a:solidFill>
                  <a:srgbClr val="5B6478"/>
                </a:solidFill>
                <a:latin typeface="Arial" pitchFamily="34" charset="0"/>
                <a:ea typeface="Arial" pitchFamily="34" charset="-122"/>
                <a:cs typeface="Arial" pitchFamily="34" charset="-120"/>
              </a:rPr>
              <a:t>Oct 2026</a:t>
            </a:r>
            <a:endParaRPr lang="en-US" sz="1250" dirty="0"/>
          </a:p>
        </p:txBody>
      </p:sp>
      <p:sp>
        <p:nvSpPr>
          <p:cNvPr id="20" name="Shape 18"/>
          <p:cNvSpPr/>
          <p:nvPr/>
        </p:nvSpPr>
        <p:spPr>
          <a:xfrm>
            <a:off x="566928" y="3648456"/>
            <a:ext cx="457200" cy="457200"/>
          </a:xfrm>
          <a:prstGeom prst="ellipse">
            <a:avLst/>
          </a:prstGeom>
          <a:solidFill>
            <a:srgbClr val="D7D4E4"/>
          </a:solidFill>
          <a:ln/>
        </p:spPr>
      </p:sp>
      <p:sp>
        <p:nvSpPr>
          <p:cNvPr id="21" name="Text 19"/>
          <p:cNvSpPr txBox="1"/>
          <p:nvPr/>
        </p:nvSpPr>
        <p:spPr>
          <a:xfrm>
            <a:off x="566928" y="3721608"/>
            <a:ext cx="457200" cy="329184"/>
          </a:xfrm>
          <a:prstGeom prst="rect">
            <a:avLst/>
          </a:prstGeom>
          <a:noFill/>
          <a:ln/>
        </p:spPr>
        <p:txBody>
          <a:bodyPr wrap="square" lIns="0" tIns="0" rIns="0" bIns="0" rtlCol="0" anchor="ctr"/>
          <a:lstStyle/>
          <a:p>
            <a:pPr algn="ctr" indent="0" marL="0">
              <a:buNone/>
            </a:pPr>
            <a:r>
              <a:rPr lang="en-US" sz="1600" b="1" dirty="0">
                <a:solidFill>
                  <a:srgbClr val="5B6478"/>
                </a:solidFill>
                <a:latin typeface="Arial" pitchFamily="34" charset="0"/>
                <a:ea typeface="Arial" pitchFamily="34" charset="-122"/>
                <a:cs typeface="Arial" pitchFamily="34" charset="-120"/>
              </a:rPr>
              <a:t>3</a:t>
            </a:r>
            <a:endParaRPr lang="en-US" sz="1600" dirty="0"/>
          </a:p>
        </p:txBody>
      </p:sp>
      <p:sp>
        <p:nvSpPr>
          <p:cNvPr id="22" name="Text 20"/>
          <p:cNvSpPr txBox="1"/>
          <p:nvPr/>
        </p:nvSpPr>
        <p:spPr>
          <a:xfrm>
            <a:off x="1225296" y="3721608"/>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First consumer</a:t>
            </a:r>
            <a:endParaRPr lang="en-US" sz="1550" dirty="0"/>
          </a:p>
        </p:txBody>
      </p:sp>
      <p:sp>
        <p:nvSpPr>
          <p:cNvPr id="23" name="Text 21"/>
          <p:cNvSpPr txBox="1"/>
          <p:nvPr/>
        </p:nvSpPr>
        <p:spPr>
          <a:xfrm>
            <a:off x="3694176" y="3739896"/>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One lending market or dashboard reads the quote account in production.</a:t>
            </a:r>
            <a:endParaRPr lang="en-US" sz="1200" dirty="0"/>
          </a:p>
        </p:txBody>
      </p:sp>
      <p:sp>
        <p:nvSpPr>
          <p:cNvPr id="24" name="Text 22"/>
          <p:cNvSpPr txBox="1"/>
          <p:nvPr/>
        </p:nvSpPr>
        <p:spPr>
          <a:xfrm>
            <a:off x="9619488" y="3721608"/>
            <a:ext cx="2002536" cy="310896"/>
          </a:xfrm>
          <a:prstGeom prst="rect">
            <a:avLst/>
          </a:prstGeom>
          <a:noFill/>
          <a:ln/>
        </p:spPr>
        <p:txBody>
          <a:bodyPr wrap="square" lIns="0" tIns="0" rIns="0" bIns="0" rtlCol="0" anchor="ctr"/>
          <a:lstStyle/>
          <a:p>
            <a:pPr algn="r" indent="0" marL="0">
              <a:buNone/>
            </a:pPr>
            <a:r>
              <a:rPr lang="en-US" sz="1250" b="1" dirty="0">
                <a:solidFill>
                  <a:srgbClr val="5B6478"/>
                </a:solidFill>
                <a:latin typeface="Arial" pitchFamily="34" charset="0"/>
                <a:ea typeface="Arial" pitchFamily="34" charset="-122"/>
                <a:cs typeface="Arial" pitchFamily="34" charset="-120"/>
              </a:rPr>
              <a:t>Q4 2026</a:t>
            </a:r>
            <a:endParaRPr lang="en-US" sz="1250" dirty="0"/>
          </a:p>
        </p:txBody>
      </p:sp>
      <p:sp>
        <p:nvSpPr>
          <p:cNvPr id="25" name="Shape 23"/>
          <p:cNvSpPr/>
          <p:nvPr/>
        </p:nvSpPr>
        <p:spPr>
          <a:xfrm>
            <a:off x="566928" y="4370832"/>
            <a:ext cx="457200" cy="457200"/>
          </a:xfrm>
          <a:prstGeom prst="ellipse">
            <a:avLst/>
          </a:prstGeom>
          <a:solidFill>
            <a:srgbClr val="D7D4E4"/>
          </a:solidFill>
          <a:ln/>
        </p:spPr>
      </p:sp>
      <p:sp>
        <p:nvSpPr>
          <p:cNvPr id="26" name="Text 24"/>
          <p:cNvSpPr txBox="1"/>
          <p:nvPr/>
        </p:nvSpPr>
        <p:spPr>
          <a:xfrm>
            <a:off x="566928" y="4443984"/>
            <a:ext cx="457200" cy="329184"/>
          </a:xfrm>
          <a:prstGeom prst="rect">
            <a:avLst/>
          </a:prstGeom>
          <a:noFill/>
          <a:ln/>
        </p:spPr>
        <p:txBody>
          <a:bodyPr wrap="square" lIns="0" tIns="0" rIns="0" bIns="0" rtlCol="0" anchor="ctr"/>
          <a:lstStyle/>
          <a:p>
            <a:pPr algn="ctr" indent="0" marL="0">
              <a:buNone/>
            </a:pPr>
            <a:r>
              <a:rPr lang="en-US" sz="1600" b="1" dirty="0">
                <a:solidFill>
                  <a:srgbClr val="5B6478"/>
                </a:solidFill>
                <a:latin typeface="Arial" pitchFamily="34" charset="0"/>
                <a:ea typeface="Arial" pitchFamily="34" charset="-122"/>
                <a:cs typeface="Arial" pitchFamily="34" charset="-120"/>
              </a:rPr>
              <a:t>4</a:t>
            </a:r>
            <a:endParaRPr lang="en-US" sz="1600" dirty="0"/>
          </a:p>
        </p:txBody>
      </p:sp>
      <p:sp>
        <p:nvSpPr>
          <p:cNvPr id="27" name="Text 25"/>
          <p:cNvSpPr txBox="1"/>
          <p:nvPr/>
        </p:nvSpPr>
        <p:spPr>
          <a:xfrm>
            <a:off x="1225296" y="4443984"/>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Adapter #2</a:t>
            </a:r>
            <a:endParaRPr lang="en-US" sz="1550" dirty="0"/>
          </a:p>
        </p:txBody>
      </p:sp>
      <p:sp>
        <p:nvSpPr>
          <p:cNvPr id="28" name="Text 26"/>
          <p:cNvSpPr txBox="1"/>
          <p:nvPr/>
        </p:nvSpPr>
        <p:spPr>
          <a:xfrm>
            <a:off x="3694176" y="4462272"/>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A second protocol ships with zero changes to core or the wire format.</a:t>
            </a:r>
            <a:endParaRPr lang="en-US" sz="1200" dirty="0"/>
          </a:p>
        </p:txBody>
      </p:sp>
      <p:sp>
        <p:nvSpPr>
          <p:cNvPr id="29" name="Text 27"/>
          <p:cNvSpPr txBox="1"/>
          <p:nvPr/>
        </p:nvSpPr>
        <p:spPr>
          <a:xfrm>
            <a:off x="9619488" y="4443984"/>
            <a:ext cx="2002536" cy="310896"/>
          </a:xfrm>
          <a:prstGeom prst="rect">
            <a:avLst/>
          </a:prstGeom>
          <a:noFill/>
          <a:ln/>
        </p:spPr>
        <p:txBody>
          <a:bodyPr wrap="square" lIns="0" tIns="0" rIns="0" bIns="0" rtlCol="0" anchor="ctr"/>
          <a:lstStyle/>
          <a:p>
            <a:pPr algn="r" indent="0" marL="0">
              <a:buNone/>
            </a:pPr>
            <a:r>
              <a:rPr lang="en-US" sz="1250" b="1" dirty="0">
                <a:solidFill>
                  <a:srgbClr val="5B6478"/>
                </a:solidFill>
                <a:latin typeface="Arial" pitchFamily="34" charset="0"/>
                <a:ea typeface="Arial" pitchFamily="34" charset="-122"/>
                <a:cs typeface="Arial" pitchFamily="34" charset="-120"/>
              </a:rPr>
              <a:t>Q1 2027</a:t>
            </a:r>
            <a:endParaRPr lang="en-US" sz="1250" dirty="0"/>
          </a:p>
        </p:txBody>
      </p:sp>
      <p:sp>
        <p:nvSpPr>
          <p:cNvPr id="30" name="Shape 28"/>
          <p:cNvSpPr/>
          <p:nvPr/>
        </p:nvSpPr>
        <p:spPr>
          <a:xfrm>
            <a:off x="566928" y="5093208"/>
            <a:ext cx="457200" cy="457200"/>
          </a:xfrm>
          <a:prstGeom prst="ellipse">
            <a:avLst/>
          </a:prstGeom>
          <a:solidFill>
            <a:srgbClr val="D7D4E4"/>
          </a:solidFill>
          <a:ln/>
        </p:spPr>
      </p:sp>
      <p:sp>
        <p:nvSpPr>
          <p:cNvPr id="31" name="Text 29"/>
          <p:cNvSpPr txBox="1"/>
          <p:nvPr/>
        </p:nvSpPr>
        <p:spPr>
          <a:xfrm>
            <a:off x="566928" y="5166360"/>
            <a:ext cx="457200" cy="329184"/>
          </a:xfrm>
          <a:prstGeom prst="rect">
            <a:avLst/>
          </a:prstGeom>
          <a:noFill/>
          <a:ln/>
        </p:spPr>
        <p:txBody>
          <a:bodyPr wrap="square" lIns="0" tIns="0" rIns="0" bIns="0" rtlCol="0" anchor="ctr"/>
          <a:lstStyle/>
          <a:p>
            <a:pPr algn="ctr" indent="0" marL="0">
              <a:buNone/>
            </a:pPr>
            <a:r>
              <a:rPr lang="en-US" sz="1600" b="1" dirty="0">
                <a:solidFill>
                  <a:srgbClr val="5B6478"/>
                </a:solidFill>
                <a:latin typeface="Arial" pitchFamily="34" charset="0"/>
                <a:ea typeface="Arial" pitchFamily="34" charset="-122"/>
                <a:cs typeface="Arial" pitchFamily="34" charset="-120"/>
              </a:rPr>
              <a:t>5</a:t>
            </a:r>
            <a:endParaRPr lang="en-US" sz="1600" dirty="0"/>
          </a:p>
        </p:txBody>
      </p:sp>
      <p:sp>
        <p:nvSpPr>
          <p:cNvPr id="32" name="Text 30"/>
          <p:cNvSpPr txBox="1"/>
          <p:nvPr/>
        </p:nvSpPr>
        <p:spPr>
          <a:xfrm>
            <a:off x="1225296" y="5166360"/>
            <a:ext cx="2377440" cy="310896"/>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Into the sRFC</a:t>
            </a:r>
            <a:endParaRPr lang="en-US" sz="1550" dirty="0"/>
          </a:p>
        </p:txBody>
      </p:sp>
      <p:sp>
        <p:nvSpPr>
          <p:cNvPr id="33" name="Text 31"/>
          <p:cNvSpPr txBox="1"/>
          <p:nvPr/>
        </p:nvSpPr>
        <p:spPr>
          <a:xfrm>
            <a:off x="3694176" y="5184648"/>
            <a:ext cx="5852160" cy="310896"/>
          </a:xfrm>
          <a:prstGeom prst="rect">
            <a:avLst/>
          </a:prstGeom>
          <a:noFill/>
          <a:ln/>
        </p:spPr>
        <p:txBody>
          <a:bodyPr wrap="square" lIns="0" tIns="0" rIns="0" bIns="0" rtlCol="0" anchor="ctr"/>
          <a:lstStyle/>
          <a:p>
            <a:pPr indent="0" marL="0">
              <a:buNone/>
            </a:pPr>
            <a:r>
              <a:rPr lang="en-US" sz="1200" dirty="0">
                <a:solidFill>
                  <a:srgbClr val="5B6478"/>
                </a:solidFill>
                <a:latin typeface="Arial" pitchFamily="34" charset="0"/>
                <a:ea typeface="Arial" pitchFamily="34" charset="-122"/>
                <a:cs typeface="Arial" pitchFamily="34" charset="-120"/>
              </a:rPr>
              <a:t>Submitted aligned with sRFC 40, not parallel to it.</a:t>
            </a:r>
            <a:endParaRPr lang="en-US" sz="1200" dirty="0"/>
          </a:p>
        </p:txBody>
      </p:sp>
      <p:sp>
        <p:nvSpPr>
          <p:cNvPr id="34" name="Text 32"/>
          <p:cNvSpPr txBox="1"/>
          <p:nvPr/>
        </p:nvSpPr>
        <p:spPr>
          <a:xfrm>
            <a:off x="9619488" y="5166360"/>
            <a:ext cx="2002536" cy="310896"/>
          </a:xfrm>
          <a:prstGeom prst="rect">
            <a:avLst/>
          </a:prstGeom>
          <a:noFill/>
          <a:ln/>
        </p:spPr>
        <p:txBody>
          <a:bodyPr wrap="square" lIns="0" tIns="0" rIns="0" bIns="0" rtlCol="0" anchor="ctr"/>
          <a:lstStyle/>
          <a:p>
            <a:pPr algn="r" indent="0" marL="0">
              <a:buNone/>
            </a:pPr>
            <a:r>
              <a:rPr lang="en-US" sz="1250" b="1" dirty="0">
                <a:solidFill>
                  <a:srgbClr val="5B6478"/>
                </a:solidFill>
                <a:latin typeface="Arial" pitchFamily="34" charset="0"/>
                <a:ea typeface="Arial" pitchFamily="34" charset="-122"/>
                <a:cs typeface="Arial" pitchFamily="34" charset="-120"/>
              </a:rPr>
              <a:t>Q1–Q2 2027</a:t>
            </a:r>
            <a:endParaRPr lang="en-US" sz="1250" dirty="0"/>
          </a:p>
        </p:txBody>
      </p:sp>
      <p:sp>
        <p:nvSpPr>
          <p:cNvPr id="35" name="Shape 33"/>
          <p:cNvSpPr/>
          <p:nvPr/>
        </p:nvSpPr>
        <p:spPr>
          <a:xfrm>
            <a:off x="566928" y="5870448"/>
            <a:ext cx="11057839" cy="603504"/>
          </a:xfrm>
          <a:prstGeom prst="roundRect">
            <a:avLst>
              <a:gd name="adj" fmla="val 10606"/>
            </a:avLst>
          </a:prstGeom>
          <a:solidFill>
            <a:srgbClr val="FFFFFF"/>
          </a:solidFill>
          <a:ln w="12700">
            <a:solidFill>
              <a:srgbClr val="E2E0EC"/>
            </a:solidFill>
            <a:prstDash val="solid"/>
          </a:ln>
        </p:spPr>
      </p:sp>
      <p:sp>
        <p:nvSpPr>
          <p:cNvPr id="36" name="Text 34"/>
          <p:cNvSpPr txBox="1"/>
          <p:nvPr/>
        </p:nvSpPr>
        <p:spPr>
          <a:xfrm>
            <a:off x="841248" y="6016752"/>
            <a:ext cx="10509199" cy="329184"/>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Stages 0–2 are within our control and only prove competence.  </a:t>
            </a:r>
            <a:pPr indent="0" marL="0">
              <a:buNone/>
            </a:pPr>
            <a:r>
              <a:rPr lang="en-US" sz="1250" dirty="0">
                <a:solidFill>
                  <a:srgbClr val="5B6478"/>
                </a:solidFill>
                <a:latin typeface="Arial" pitchFamily="34" charset="0"/>
                <a:ea typeface="Arial" pitchFamily="34" charset="-122"/>
                <a:cs typeface="Arial" pitchFamily="34" charset="-120"/>
              </a:rPr>
              <a:t>Stages 3 and 4 are the real test — until a second protocol adopts it, SVI is a Hylo wrapper, and we say so.</a:t>
            </a:r>
            <a:endParaRPr lang="en-US" sz="1250" dirty="0"/>
          </a:p>
        </p:txBody>
      </p:sp>
      <p:sp>
        <p:nvSpPr>
          <p:cNvPr id="37" name="Text 35"/>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32B"/>
        </a:solidFill>
      </p:bgPr>
    </p:bg>
    <p:spTree>
      <p:nvGrpSpPr>
        <p:cNvPr id="1" name=""/>
        <p:cNvGrpSpPr/>
        <p:nvPr/>
      </p:nvGrpSpPr>
      <p:grpSpPr>
        <a:xfrm>
          <a:off x="0" y="0"/>
          <a:ext cx="0" cy="0"/>
          <a:chOff x="0" y="0"/>
          <a:chExt cx="0" cy="0"/>
        </a:xfrm>
      </p:grpSpPr>
      <p:sp>
        <p:nvSpPr>
          <p:cNvPr id="2" name="Text 0"/>
          <p:cNvSpPr txBox="1"/>
          <p:nvPr/>
        </p:nvSpPr>
        <p:spPr>
          <a:xfrm>
            <a:off x="566928" y="512064"/>
            <a:ext cx="11057839" cy="274320"/>
          </a:xfrm>
          <a:prstGeom prst="rect">
            <a:avLst/>
          </a:prstGeom>
          <a:noFill/>
          <a:ln/>
        </p:spPr>
        <p:txBody>
          <a:bodyPr wrap="square" lIns="0" tIns="0" rIns="0" bIns="0" rtlCol="0" anchor="ctr"/>
          <a:lstStyle/>
          <a:p>
            <a:pPr indent="0" marL="0">
              <a:buNone/>
            </a:pPr>
            <a:r>
              <a:rPr lang="en-US" sz="1200" b="1" spc="200" kern="0" dirty="0">
                <a:solidFill>
                  <a:srgbClr val="C4B5FD"/>
                </a:solidFill>
                <a:latin typeface="Arial" pitchFamily="34" charset="0"/>
                <a:ea typeface="Arial" pitchFamily="34" charset="-122"/>
                <a:cs typeface="Arial" pitchFamily="34" charset="-120"/>
              </a:rPr>
              <a:t>THE ASK</a:t>
            </a:r>
            <a:endParaRPr lang="en-US" sz="1200" dirty="0"/>
          </a:p>
        </p:txBody>
      </p:sp>
      <p:sp>
        <p:nvSpPr>
          <p:cNvPr id="3" name="Text 1"/>
          <p:cNvSpPr txBox="1"/>
          <p:nvPr/>
        </p:nvSpPr>
        <p:spPr>
          <a:xfrm>
            <a:off x="566928" y="841248"/>
            <a:ext cx="11057839" cy="6400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Three things, from three audiences</a:t>
            </a:r>
            <a:endParaRPr lang="en-US" sz="3800" dirty="0"/>
          </a:p>
        </p:txBody>
      </p:sp>
      <p:sp>
        <p:nvSpPr>
          <p:cNvPr id="4" name="Shape 2"/>
          <p:cNvSpPr/>
          <p:nvPr/>
        </p:nvSpPr>
        <p:spPr>
          <a:xfrm>
            <a:off x="566928" y="1737360"/>
            <a:ext cx="3503066" cy="3108960"/>
          </a:xfrm>
          <a:prstGeom prst="roundRect">
            <a:avLst>
              <a:gd name="adj" fmla="val 2059"/>
            </a:avLst>
          </a:prstGeom>
          <a:solidFill>
            <a:srgbClr val="241E45"/>
          </a:solidFill>
          <a:ln w="12700">
            <a:solidFill>
              <a:srgbClr val="3B3266"/>
            </a:solidFill>
            <a:prstDash val="solid"/>
          </a:ln>
        </p:spPr>
      </p:sp>
      <p:sp>
        <p:nvSpPr>
          <p:cNvPr id="5" name="Text 3"/>
          <p:cNvSpPr txBox="1"/>
          <p:nvPr/>
        </p:nvSpPr>
        <p:spPr>
          <a:xfrm>
            <a:off x="841248" y="1938528"/>
            <a:ext cx="2954426" cy="256032"/>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SUPERTEAM</a:t>
            </a:r>
            <a:endParaRPr lang="en-US" sz="1150" dirty="0"/>
          </a:p>
        </p:txBody>
      </p:sp>
      <p:sp>
        <p:nvSpPr>
          <p:cNvPr id="6" name="Text 4"/>
          <p:cNvSpPr txBox="1"/>
          <p:nvPr/>
        </p:nvSpPr>
        <p:spPr>
          <a:xfrm>
            <a:off x="841248" y="2249424"/>
            <a:ext cx="2954426"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An instagrant</a:t>
            </a:r>
            <a:endParaRPr lang="en-US" sz="2200" dirty="0"/>
          </a:p>
        </p:txBody>
      </p:sp>
      <p:sp>
        <p:nvSpPr>
          <p:cNvPr id="7" name="Text 5"/>
          <p:cNvSpPr txBox="1"/>
          <p:nvPr/>
        </p:nvSpPr>
        <p:spPr>
          <a:xfrm>
            <a:off x="841248" y="2798064"/>
            <a:ext cx="2954426" cy="1920240"/>
          </a:xfrm>
          <a:prstGeom prst="rect">
            <a:avLst/>
          </a:prstGeom>
          <a:noFill/>
          <a:ln/>
        </p:spPr>
        <p:txBody>
          <a:bodyPr wrap="square" lIns="0" tIns="0" rIns="0" bIns="0" rtlCol="0" anchor="ctr"/>
          <a:lstStyle/>
          <a:p>
            <a:pPr indent="0" marL="0">
              <a:lnSpc>
                <a:spcPts val="1750"/>
              </a:lnSpc>
              <a:buNone/>
            </a:pPr>
            <a:r>
              <a:rPr lang="en-US" sz="1250" dirty="0">
                <a:solidFill>
                  <a:srgbClr val="B4ADD4"/>
                </a:solidFill>
                <a:latin typeface="Arial" pitchFamily="34" charset="0"/>
                <a:ea typeface="Arial" pitchFamily="34" charset="-122"/>
                <a:cs typeface="Arial" pitchFamily="34" charset="-120"/>
              </a:rPr>
              <a:t>Covers the audit, mainnet deployment, and three months of keeper and observer operation. Everything it funds is open source and permanently free.</a:t>
            </a:r>
            <a:endParaRPr lang="en-US" sz="1250" dirty="0"/>
          </a:p>
        </p:txBody>
      </p:sp>
      <p:sp>
        <p:nvSpPr>
          <p:cNvPr id="8" name="Shape 6"/>
          <p:cNvSpPr/>
          <p:nvPr/>
        </p:nvSpPr>
        <p:spPr>
          <a:xfrm>
            <a:off x="4344314" y="1737360"/>
            <a:ext cx="3503066" cy="3108960"/>
          </a:xfrm>
          <a:prstGeom prst="roundRect">
            <a:avLst>
              <a:gd name="adj" fmla="val 2059"/>
            </a:avLst>
          </a:prstGeom>
          <a:solidFill>
            <a:srgbClr val="241E45"/>
          </a:solidFill>
          <a:ln w="12700">
            <a:solidFill>
              <a:srgbClr val="3B3266"/>
            </a:solidFill>
            <a:prstDash val="solid"/>
          </a:ln>
        </p:spPr>
      </p:sp>
      <p:sp>
        <p:nvSpPr>
          <p:cNvPr id="9" name="Text 7"/>
          <p:cNvSpPr txBox="1"/>
          <p:nvPr/>
        </p:nvSpPr>
        <p:spPr>
          <a:xfrm>
            <a:off x="4618634" y="1938528"/>
            <a:ext cx="2954426" cy="256032"/>
          </a:xfrm>
          <a:prstGeom prst="rect">
            <a:avLst/>
          </a:prstGeom>
          <a:noFill/>
          <a:ln/>
        </p:spPr>
        <p:txBody>
          <a:bodyPr wrap="square" lIns="0" tIns="0" rIns="0" bIns="0" rtlCol="0" anchor="ctr"/>
          <a:lstStyle/>
          <a:p>
            <a:pPr indent="0" marL="0">
              <a:buNone/>
            </a:pPr>
            <a:r>
              <a:rPr lang="en-US" sz="1150" b="1" spc="160" kern="0" dirty="0">
                <a:solidFill>
                  <a:srgbClr val="2563EB"/>
                </a:solidFill>
                <a:latin typeface="Arial" pitchFamily="34" charset="0"/>
                <a:ea typeface="Arial" pitchFamily="34" charset="-122"/>
                <a:cs typeface="Arial" pitchFamily="34" charset="-120"/>
              </a:rPr>
              <a:t>LENDERS &amp; DASHBOARDS</a:t>
            </a:r>
            <a:endParaRPr lang="en-US" sz="1150" dirty="0"/>
          </a:p>
        </p:txBody>
      </p:sp>
      <p:sp>
        <p:nvSpPr>
          <p:cNvPr id="10" name="Text 8"/>
          <p:cNvSpPr txBox="1"/>
          <p:nvPr/>
        </p:nvSpPr>
        <p:spPr>
          <a:xfrm>
            <a:off x="4618634" y="2249424"/>
            <a:ext cx="2954426"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One integration</a:t>
            </a:r>
            <a:endParaRPr lang="en-US" sz="2200" dirty="0"/>
          </a:p>
        </p:txBody>
      </p:sp>
      <p:sp>
        <p:nvSpPr>
          <p:cNvPr id="11" name="Text 9"/>
          <p:cNvSpPr txBox="1"/>
          <p:nvPr/>
        </p:nvSpPr>
        <p:spPr>
          <a:xfrm>
            <a:off x="4618634" y="2798064"/>
            <a:ext cx="2954426" cy="1920240"/>
          </a:xfrm>
          <a:prstGeom prst="rect">
            <a:avLst/>
          </a:prstGeom>
          <a:noFill/>
          <a:ln/>
        </p:spPr>
        <p:txBody>
          <a:bodyPr wrap="square" lIns="0" tIns="0" rIns="0" bIns="0" rtlCol="0" anchor="ctr"/>
          <a:lstStyle/>
          <a:p>
            <a:pPr indent="0" marL="0">
              <a:lnSpc>
                <a:spcPts val="1750"/>
              </a:lnSpc>
              <a:buNone/>
            </a:pPr>
            <a:r>
              <a:rPr lang="en-US" sz="1250" dirty="0">
                <a:solidFill>
                  <a:srgbClr val="B4ADD4"/>
                </a:solidFill>
                <a:latin typeface="Arial" pitchFamily="34" charset="0"/>
                <a:ea typeface="Arial" pitchFamily="34" charset="-122"/>
                <a:cs typeface="Arial" pitchFamily="34" charset="-120"/>
              </a:rPr>
              <a:t>Read one 320-byte account. Kamino, marginfi, Loopscale, or any wallet that shows xSOL. A pilot on devnet first; mainnet after the audit.</a:t>
            </a:r>
            <a:endParaRPr lang="en-US" sz="1250" dirty="0"/>
          </a:p>
        </p:txBody>
      </p:sp>
      <p:sp>
        <p:nvSpPr>
          <p:cNvPr id="12" name="Shape 10"/>
          <p:cNvSpPr/>
          <p:nvPr/>
        </p:nvSpPr>
        <p:spPr>
          <a:xfrm>
            <a:off x="8121701" y="1737360"/>
            <a:ext cx="3503066" cy="3108960"/>
          </a:xfrm>
          <a:prstGeom prst="roundRect">
            <a:avLst>
              <a:gd name="adj" fmla="val 2059"/>
            </a:avLst>
          </a:prstGeom>
          <a:solidFill>
            <a:srgbClr val="241E45"/>
          </a:solidFill>
          <a:ln w="12700">
            <a:solidFill>
              <a:srgbClr val="3B3266"/>
            </a:solidFill>
            <a:prstDash val="solid"/>
          </a:ln>
        </p:spPr>
      </p:sp>
      <p:sp>
        <p:nvSpPr>
          <p:cNvPr id="13" name="Text 11"/>
          <p:cNvSpPr txBox="1"/>
          <p:nvPr/>
        </p:nvSpPr>
        <p:spPr>
          <a:xfrm>
            <a:off x="8396021" y="1938528"/>
            <a:ext cx="2954426" cy="256032"/>
          </a:xfrm>
          <a:prstGeom prst="rect">
            <a:avLst/>
          </a:prstGeom>
          <a:noFill/>
          <a:ln/>
        </p:spPr>
        <p:txBody>
          <a:bodyPr wrap="square" lIns="0" tIns="0" rIns="0" bIns="0" rtlCol="0" anchor="ctr"/>
          <a:lstStyle/>
          <a:p>
            <a:pPr indent="0" marL="0">
              <a:buNone/>
            </a:pPr>
            <a:r>
              <a:rPr lang="en-US" sz="1150" b="1" spc="160" kern="0" dirty="0">
                <a:solidFill>
                  <a:srgbClr val="16A34A"/>
                </a:solidFill>
                <a:latin typeface="Arial" pitchFamily="34" charset="0"/>
                <a:ea typeface="Arial" pitchFamily="34" charset="-122"/>
                <a:cs typeface="Arial" pitchFamily="34" charset="-120"/>
              </a:rPr>
              <a:t>HYLO</a:t>
            </a:r>
            <a:endParaRPr lang="en-US" sz="1150" dirty="0"/>
          </a:p>
        </p:txBody>
      </p:sp>
      <p:sp>
        <p:nvSpPr>
          <p:cNvPr id="14" name="Text 12"/>
          <p:cNvSpPr txBox="1"/>
          <p:nvPr/>
        </p:nvSpPr>
        <p:spPr>
          <a:xfrm>
            <a:off x="8396021" y="2249424"/>
            <a:ext cx="2954426"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Fifteen minutes</a:t>
            </a:r>
            <a:endParaRPr lang="en-US" sz="2200" dirty="0"/>
          </a:p>
        </p:txBody>
      </p:sp>
      <p:sp>
        <p:nvSpPr>
          <p:cNvPr id="15" name="Text 13"/>
          <p:cNvSpPr txBox="1"/>
          <p:nvPr/>
        </p:nvSpPr>
        <p:spPr>
          <a:xfrm>
            <a:off x="8396021" y="2798064"/>
            <a:ext cx="2954426" cy="1920240"/>
          </a:xfrm>
          <a:prstGeom prst="rect">
            <a:avLst/>
          </a:prstGeom>
          <a:noFill/>
          <a:ln/>
        </p:spPr>
        <p:txBody>
          <a:bodyPr wrap="square" lIns="0" tIns="0" rIns="0" bIns="0" rtlCol="0" anchor="ctr"/>
          <a:lstStyle/>
          <a:p>
            <a:pPr indent="0" marL="0">
              <a:lnSpc>
                <a:spcPts val="1750"/>
              </a:lnSpc>
              <a:buNone/>
            </a:pPr>
            <a:r>
              <a:rPr lang="en-US" sz="1250" dirty="0">
                <a:solidFill>
                  <a:srgbClr val="B4ADD4"/>
                </a:solidFill>
                <a:latin typeface="Arial" pitchFamily="34" charset="0"/>
                <a:ea typeface="Arial" pitchFamily="34" charset="-122"/>
                <a:cs typeface="Arial" pitchFamily="34" charset="-120"/>
              </a:rPr>
              <a:t>Read §§2–6 of the spec and tell us if we misread your math. No program changes, no key, no engineering time. The adapter runs whether or not you answer.</a:t>
            </a:r>
            <a:endParaRPr lang="en-US" sz="1250" dirty="0"/>
          </a:p>
        </p:txBody>
      </p:sp>
      <p:sp>
        <p:nvSpPr>
          <p:cNvPr id="16" name="Shape 14"/>
          <p:cNvSpPr/>
          <p:nvPr/>
        </p:nvSpPr>
        <p:spPr>
          <a:xfrm>
            <a:off x="566928" y="5084064"/>
            <a:ext cx="11057839" cy="1371600"/>
          </a:xfrm>
          <a:prstGeom prst="roundRect">
            <a:avLst>
              <a:gd name="adj" fmla="val 4667"/>
            </a:avLst>
          </a:prstGeom>
          <a:solidFill>
            <a:srgbClr val="16132B"/>
          </a:solidFill>
          <a:ln w="12700">
            <a:solidFill>
              <a:srgbClr val="3B3266"/>
            </a:solidFill>
            <a:prstDash val="solid"/>
          </a:ln>
        </p:spPr>
      </p:sp>
      <p:sp>
        <p:nvSpPr>
          <p:cNvPr id="17" name="Text 15"/>
          <p:cNvSpPr txBox="1"/>
          <p:nvPr/>
        </p:nvSpPr>
        <p:spPr>
          <a:xfrm>
            <a:off x="859536" y="5248656"/>
            <a:ext cx="2743200" cy="256032"/>
          </a:xfrm>
          <a:prstGeom prst="rect">
            <a:avLst/>
          </a:prstGeom>
          <a:noFill/>
          <a:ln/>
        </p:spPr>
        <p:txBody>
          <a:bodyPr wrap="square" lIns="0" tIns="0" rIns="0" bIns="0" rtlCol="0" anchor="ctr"/>
          <a:lstStyle/>
          <a:p>
            <a:pPr indent="0" marL="0">
              <a:buNone/>
            </a:pPr>
            <a:r>
              <a:rPr lang="en-US" sz="1150" b="1" spc="160" kern="0" dirty="0">
                <a:solidFill>
                  <a:srgbClr val="DC2626"/>
                </a:solidFill>
                <a:latin typeface="Arial" pitchFamily="34" charset="0"/>
                <a:ea typeface="Arial" pitchFamily="34" charset="-122"/>
                <a:cs typeface="Arial" pitchFamily="34" charset="-120"/>
              </a:rPr>
              <a:t>NOT ASKED FOR</a:t>
            </a:r>
            <a:endParaRPr lang="en-US" sz="1150" dirty="0"/>
          </a:p>
        </p:txBody>
      </p:sp>
      <p:sp>
        <p:nvSpPr>
          <p:cNvPr id="18" name="Text 16"/>
          <p:cNvSpPr txBox="1"/>
          <p:nvPr/>
        </p:nvSpPr>
        <p:spPr>
          <a:xfrm>
            <a:off x="859536" y="5559552"/>
            <a:ext cx="10472623" cy="36576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A token  ·  Exclusivity  ·  Hylo's engineering time or permission  ·  Anyone to trust our server — there is no server in the loop</a:t>
            </a:r>
            <a:endParaRPr lang="en-US" sz="1400" dirty="0"/>
          </a:p>
        </p:txBody>
      </p:sp>
      <p:sp>
        <p:nvSpPr>
          <p:cNvPr id="19" name="Text 17"/>
          <p:cNvSpPr txBox="1"/>
          <p:nvPr/>
        </p:nvSpPr>
        <p:spPr>
          <a:xfrm>
            <a:off x="859536" y="5943600"/>
            <a:ext cx="10472623" cy="329184"/>
          </a:xfrm>
          <a:prstGeom prst="rect">
            <a:avLst/>
          </a:prstGeom>
          <a:noFill/>
          <a:ln/>
        </p:spPr>
        <p:txBody>
          <a:bodyPr wrap="square" lIns="0" tIns="0" rIns="0" bIns="0" rtlCol="0" anchor="ctr"/>
          <a:lstStyle/>
          <a:p>
            <a:pPr indent="0" marL="0">
              <a:buNone/>
            </a:pPr>
            <a:r>
              <a:rPr lang="en-US" sz="1250" dirty="0">
                <a:solidFill>
                  <a:srgbClr val="9F98C4"/>
                </a:solidFill>
                <a:latin typeface="Arial" pitchFamily="34" charset="0"/>
                <a:ea typeface="Arial" pitchFamily="34" charset="-122"/>
                <a:cs typeface="Arial" pitchFamily="34" charset="-120"/>
              </a:rPr>
              <a:t>Colosseum runs 28 Sep – 2 Nov 2026. A mainnet-live feed with a keeper and an observer is the submission.</a:t>
            </a:r>
            <a:endParaRPr lang="en-US" sz="1250" dirty="0"/>
          </a:p>
        </p:txBody>
      </p:sp>
      <p:sp>
        <p:nvSpPr>
          <p:cNvPr id="20" name="Text 18"/>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B"/>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7C3AED"/>
                </a:solidFill>
                <a:latin typeface="Arial" pitchFamily="34" charset="0"/>
                <a:ea typeface="Arial" pitchFamily="34" charset="-122"/>
                <a:cs typeface="Arial" pitchFamily="34" charset="-120"/>
              </a:rPr>
              <a:t>CANDOUR</a:t>
            </a:r>
            <a:endParaRPr lang="en-US" sz="1150" dirty="0"/>
          </a:p>
        </p:txBody>
      </p:sp>
      <p:sp>
        <p:nvSpPr>
          <p:cNvPr id="3" name="Text 1"/>
          <p:cNvSpPr txBox="1"/>
          <p:nvPr/>
        </p:nvSpPr>
        <p:spPr>
          <a:xfrm>
            <a:off x="566928" y="658368"/>
            <a:ext cx="11057839" cy="566928"/>
          </a:xfrm>
          <a:prstGeom prst="rect">
            <a:avLst/>
          </a:prstGeom>
          <a:noFill/>
          <a:ln/>
        </p:spPr>
        <p:txBody>
          <a:bodyPr wrap="square" lIns="0" tIns="0" rIns="0" bIns="0" rtlCol="0" anchor="ctr"/>
          <a:lstStyle/>
          <a:p>
            <a:pPr indent="0" marL="0">
              <a:buNone/>
            </a:pPr>
            <a:r>
              <a:rPr lang="en-US" sz="3200" b="1" dirty="0">
                <a:solidFill>
                  <a:srgbClr val="0F172A"/>
                </a:solidFill>
                <a:latin typeface="Arial" pitchFamily="34" charset="0"/>
                <a:ea typeface="Arial" pitchFamily="34" charset="-122"/>
                <a:cs typeface="Arial" pitchFamily="34" charset="-120"/>
              </a:rPr>
              <a:t>The objections worth raising, answered</a:t>
            </a:r>
            <a:endParaRPr lang="en-US" sz="3200" dirty="0"/>
          </a:p>
        </p:txBody>
      </p:sp>
      <p:sp>
        <p:nvSpPr>
          <p:cNvPr id="4" name="Shape 2"/>
          <p:cNvSpPr/>
          <p:nvPr/>
        </p:nvSpPr>
        <p:spPr>
          <a:xfrm>
            <a:off x="566928" y="1426464"/>
            <a:ext cx="5391760" cy="2231136"/>
          </a:xfrm>
          <a:prstGeom prst="roundRect">
            <a:avLst>
              <a:gd name="adj" fmla="val 2869"/>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5" name="Text 3"/>
          <p:cNvSpPr txBox="1"/>
          <p:nvPr/>
        </p:nvSpPr>
        <p:spPr>
          <a:xfrm>
            <a:off x="841248" y="1645920"/>
            <a:ext cx="4843120" cy="566928"/>
          </a:xfrm>
          <a:prstGeom prst="rect">
            <a:avLst/>
          </a:prstGeom>
          <a:noFill/>
          <a:ln/>
        </p:spPr>
        <p:txBody>
          <a:bodyPr wrap="square" lIns="0" tIns="0" rIns="0" bIns="0" rtlCol="0" anchor="ctr"/>
          <a:lstStyle/>
          <a:p>
            <a:pPr indent="0" marL="0">
              <a:lnSpc>
                <a:spcPts val="1900"/>
              </a:lnSpc>
              <a:buNone/>
            </a:pPr>
            <a:r>
              <a:rPr lang="en-US" sz="1450" b="1" dirty="0">
                <a:solidFill>
                  <a:srgbClr val="0F172A"/>
                </a:solidFill>
                <a:latin typeface="Arial" pitchFamily="34" charset="0"/>
                <a:ea typeface="Arial" pitchFamily="34" charset="-122"/>
                <a:cs typeface="Arial" pitchFamily="34" charset="-120"/>
              </a:rPr>
              <a:t>“Doesn't Pyth already do this?”</a:t>
            </a:r>
            <a:endParaRPr lang="en-US" sz="1450" dirty="0"/>
          </a:p>
        </p:txBody>
      </p:sp>
      <p:sp>
        <p:nvSpPr>
          <p:cNvPr id="6" name="Text 4"/>
          <p:cNvSpPr txBox="1"/>
          <p:nvPr/>
        </p:nvSpPr>
        <p:spPr>
          <a:xfrm>
            <a:off x="841248" y="2231136"/>
            <a:ext cx="4843120" cy="1280160"/>
          </a:xfrm>
          <a:prstGeom prst="rect">
            <a:avLst/>
          </a:prstGeom>
          <a:noFill/>
          <a:ln/>
        </p:spPr>
        <p:txBody>
          <a:bodyPr wrap="square" lIns="0" tIns="0" rIns="0" bIns="0" rtlCol="0" anchor="ctr"/>
          <a:lstStyle/>
          <a:p>
            <a:pPr indent="0" marL="0">
              <a:lnSpc>
                <a:spcPts val="1600"/>
              </a:lnSpc>
              <a:buNone/>
            </a:pPr>
            <a:r>
              <a:rPr lang="en-US" sz="1150" dirty="0">
                <a:solidFill>
                  <a:srgbClr val="5B6478"/>
                </a:solidFill>
                <a:latin typeface="Arial" pitchFamily="34" charset="0"/>
                <a:ea typeface="Arial" pitchFamily="34" charset="-122"/>
                <a:cs typeface="Arial" pitchFamily="34" charset="-120"/>
              </a:rPr>
              <a:t>For stocks it nearly does: Pyth publishes the share and the token as two unrelated feeds. Nobody publishes the relationship, and nobody refuses — Pyth will serve a 34-day-old AAPL price without complaint. For xSOL there is no feed at all: its NAV is computed from Hylo's own reserves, and that number exists nowhere else. We are a valuation layer, not a second price oracle.</a:t>
            </a:r>
            <a:endParaRPr lang="en-US" sz="1150" dirty="0"/>
          </a:p>
        </p:txBody>
      </p:sp>
      <p:sp>
        <p:nvSpPr>
          <p:cNvPr id="7" name="Shape 5"/>
          <p:cNvSpPr/>
          <p:nvPr/>
        </p:nvSpPr>
        <p:spPr>
          <a:xfrm>
            <a:off x="6233008" y="1426464"/>
            <a:ext cx="5391760" cy="2231136"/>
          </a:xfrm>
          <a:prstGeom prst="roundRect">
            <a:avLst>
              <a:gd name="adj" fmla="val 2869"/>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8" name="Text 6"/>
          <p:cNvSpPr txBox="1"/>
          <p:nvPr/>
        </p:nvSpPr>
        <p:spPr>
          <a:xfrm>
            <a:off x="6507328" y="1645920"/>
            <a:ext cx="4843120" cy="566928"/>
          </a:xfrm>
          <a:prstGeom prst="rect">
            <a:avLst/>
          </a:prstGeom>
          <a:noFill/>
          <a:ln/>
        </p:spPr>
        <p:txBody>
          <a:bodyPr wrap="square" lIns="0" tIns="0" rIns="0" bIns="0" rtlCol="0" anchor="ctr"/>
          <a:lstStyle/>
          <a:p>
            <a:pPr indent="0" marL="0">
              <a:lnSpc>
                <a:spcPts val="1900"/>
              </a:lnSpc>
              <a:buNone/>
            </a:pPr>
            <a:r>
              <a:rPr lang="en-US" sz="1450" b="1" dirty="0">
                <a:solidFill>
                  <a:srgbClr val="0F172A"/>
                </a:solidFill>
                <a:latin typeface="Arial" pitchFamily="34" charset="0"/>
                <a:ea typeface="Arial" pitchFamily="34" charset="-122"/>
                <a:cs typeface="Arial" pitchFamily="34" charset="-120"/>
              </a:rPr>
              <a:t>“What if the adapter is wrong and someone gets liquidated?”</a:t>
            </a:r>
            <a:endParaRPr lang="en-US" sz="1450" dirty="0"/>
          </a:p>
        </p:txBody>
      </p:sp>
      <p:sp>
        <p:nvSpPr>
          <p:cNvPr id="9" name="Text 7"/>
          <p:cNvSpPr txBox="1"/>
          <p:nvPr/>
        </p:nvSpPr>
        <p:spPr>
          <a:xfrm>
            <a:off x="6507328" y="2231136"/>
            <a:ext cx="4843120" cy="1280160"/>
          </a:xfrm>
          <a:prstGeom prst="rect">
            <a:avLst/>
          </a:prstGeom>
          <a:noFill/>
          <a:ln/>
        </p:spPr>
        <p:txBody>
          <a:bodyPr wrap="square" lIns="0" tIns="0" rIns="0" bIns="0" rtlCol="0" anchor="ctr"/>
          <a:lstStyle/>
          <a:p>
            <a:pPr indent="0" marL="0">
              <a:lnSpc>
                <a:spcPts val="1600"/>
              </a:lnSpc>
              <a:buNone/>
            </a:pPr>
            <a:r>
              <a:rPr lang="en-US" sz="1150" dirty="0">
                <a:solidFill>
                  <a:srgbClr val="5B6478"/>
                </a:solidFill>
                <a:latin typeface="Arial" pitchFamily="34" charset="0"/>
                <a:ea typeface="Arial" pitchFamily="34" charset="-122"/>
                <a:cs typeface="Arial" pitchFamily="34" charset="-120"/>
              </a:rPr>
              <a:t>A real risk. Hence: call hylo-core rather than reimplement it; refuse rather than publish on any unverified input; an observer that halts on a one-unit divergence; and no real collateral until a third-party audit. Until that audit, our own position is that no market should underwrite against these feeds.</a:t>
            </a:r>
            <a:endParaRPr lang="en-US" sz="1150" dirty="0"/>
          </a:p>
        </p:txBody>
      </p:sp>
      <p:sp>
        <p:nvSpPr>
          <p:cNvPr id="10" name="Shape 8"/>
          <p:cNvSpPr/>
          <p:nvPr/>
        </p:nvSpPr>
        <p:spPr>
          <a:xfrm>
            <a:off x="566928" y="3913632"/>
            <a:ext cx="5391760" cy="2231136"/>
          </a:xfrm>
          <a:prstGeom prst="roundRect">
            <a:avLst>
              <a:gd name="adj" fmla="val 2869"/>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1" name="Text 9"/>
          <p:cNvSpPr txBox="1"/>
          <p:nvPr/>
        </p:nvSpPr>
        <p:spPr>
          <a:xfrm>
            <a:off x="841248" y="4133088"/>
            <a:ext cx="4843120" cy="566928"/>
          </a:xfrm>
          <a:prstGeom prst="rect">
            <a:avLst/>
          </a:prstGeom>
          <a:noFill/>
          <a:ln/>
        </p:spPr>
        <p:txBody>
          <a:bodyPr wrap="square" lIns="0" tIns="0" rIns="0" bIns="0" rtlCol="0" anchor="ctr"/>
          <a:lstStyle/>
          <a:p>
            <a:pPr indent="0" marL="0">
              <a:lnSpc>
                <a:spcPts val="1900"/>
              </a:lnSpc>
              <a:buNone/>
            </a:pPr>
            <a:r>
              <a:rPr lang="en-US" sz="1450" b="1" dirty="0">
                <a:solidFill>
                  <a:srgbClr val="0F172A"/>
                </a:solidFill>
                <a:latin typeface="Arial" pitchFamily="34" charset="0"/>
                <a:ea typeface="Arial" pitchFamily="34" charset="-122"/>
                <a:cs typeface="Arial" pitchFamily="34" charset="-120"/>
              </a:rPr>
              <a:t>“Is this a hackathon project that dies in November?”</a:t>
            </a:r>
            <a:endParaRPr lang="en-US" sz="1450" dirty="0"/>
          </a:p>
        </p:txBody>
      </p:sp>
      <p:sp>
        <p:nvSpPr>
          <p:cNvPr id="12" name="Text 10"/>
          <p:cNvSpPr txBox="1"/>
          <p:nvPr/>
        </p:nvSpPr>
        <p:spPr>
          <a:xfrm>
            <a:off x="841248" y="4718304"/>
            <a:ext cx="4843120" cy="1280160"/>
          </a:xfrm>
          <a:prstGeom prst="rect">
            <a:avLst/>
          </a:prstGeom>
          <a:noFill/>
          <a:ln/>
        </p:spPr>
        <p:txBody>
          <a:bodyPr wrap="square" lIns="0" tIns="0" rIns="0" bIns="0" rtlCol="0" anchor="ctr"/>
          <a:lstStyle/>
          <a:p>
            <a:pPr indent="0" marL="0">
              <a:lnSpc>
                <a:spcPts val="1600"/>
              </a:lnSpc>
              <a:buNone/>
            </a:pPr>
            <a:r>
              <a:rPr lang="en-US" sz="1150" dirty="0">
                <a:solidFill>
                  <a:srgbClr val="5B6478"/>
                </a:solidFill>
                <a:latin typeface="Arial" pitchFamily="34" charset="0"/>
                <a:ea typeface="Arial" pitchFamily="34" charset="-122"/>
                <a:cs typeface="Arial" pitchFamily="34" charset="-120"/>
              </a:rPr>
              <a:t>The mitigations hold regardless: everything open source, the keeper permissionless, the core small enough to freeze, and the methodology spec standing on its own as documentation of how xSOL is valued. If every line of SVI code were abandoned, the quote account keeps working until nobody cranks it — visibly.</a:t>
            </a:r>
            <a:endParaRPr lang="en-US" sz="1150" dirty="0"/>
          </a:p>
        </p:txBody>
      </p:sp>
      <p:sp>
        <p:nvSpPr>
          <p:cNvPr id="13" name="Shape 11"/>
          <p:cNvSpPr/>
          <p:nvPr/>
        </p:nvSpPr>
        <p:spPr>
          <a:xfrm>
            <a:off x="6233008" y="3913632"/>
            <a:ext cx="5391760" cy="2231136"/>
          </a:xfrm>
          <a:prstGeom prst="roundRect">
            <a:avLst>
              <a:gd name="adj" fmla="val 2869"/>
            </a:avLst>
          </a:prstGeom>
          <a:solidFill>
            <a:srgbClr val="FFFFFF"/>
          </a:solidFill>
          <a:ln w="12700">
            <a:solidFill>
              <a:srgbClr val="E2E0EC"/>
            </a:solidFill>
            <a:prstDash val="solid"/>
          </a:ln>
          <a:effectLst>
            <a:outerShdw sx="100000" sy="100000" kx="0" ky="0" algn="bl" rotWithShape="0" blurRad="114300" dist="25400" dir="5400000">
              <a:srgbClr val="1A1730">
                <a:alpha val="10000"/>
              </a:srgbClr>
            </a:outerShdw>
          </a:effectLst>
        </p:spPr>
      </p:sp>
      <p:sp>
        <p:nvSpPr>
          <p:cNvPr id="14" name="Text 12"/>
          <p:cNvSpPr txBox="1"/>
          <p:nvPr/>
        </p:nvSpPr>
        <p:spPr>
          <a:xfrm>
            <a:off x="6507328" y="4133088"/>
            <a:ext cx="4843120" cy="566928"/>
          </a:xfrm>
          <a:prstGeom prst="rect">
            <a:avLst/>
          </a:prstGeom>
          <a:noFill/>
          <a:ln/>
        </p:spPr>
        <p:txBody>
          <a:bodyPr wrap="square" lIns="0" tIns="0" rIns="0" bIns="0" rtlCol="0" anchor="ctr"/>
          <a:lstStyle/>
          <a:p>
            <a:pPr indent="0" marL="0">
              <a:lnSpc>
                <a:spcPts val="1900"/>
              </a:lnSpc>
              <a:buNone/>
            </a:pPr>
            <a:r>
              <a:rPr lang="en-US" sz="1450" b="1" dirty="0">
                <a:solidFill>
                  <a:srgbClr val="0F172A"/>
                </a:solidFill>
                <a:latin typeface="Arial" pitchFamily="34" charset="0"/>
                <a:ea typeface="Arial" pitchFamily="34" charset="-122"/>
                <a:cs typeface="Arial" pitchFamily="34" charset="-120"/>
              </a:rPr>
              <a:t>“Where does your price come from, and what when it stops?”</a:t>
            </a:r>
            <a:endParaRPr lang="en-US" sz="1450" dirty="0"/>
          </a:p>
        </p:txBody>
      </p:sp>
      <p:sp>
        <p:nvSpPr>
          <p:cNvPr id="15" name="Text 13"/>
          <p:cNvSpPr txBox="1"/>
          <p:nvPr/>
        </p:nvSpPr>
        <p:spPr>
          <a:xfrm>
            <a:off x="6507328" y="4718304"/>
            <a:ext cx="4843120" cy="1280160"/>
          </a:xfrm>
          <a:prstGeom prst="rect">
            <a:avLst/>
          </a:prstGeom>
          <a:noFill/>
          <a:ln/>
        </p:spPr>
        <p:txBody>
          <a:bodyPr wrap="square" lIns="0" tIns="0" rIns="0" bIns="0" rtlCol="0" anchor="ctr"/>
          <a:lstStyle/>
          <a:p>
            <a:pPr indent="0" marL="0">
              <a:lnSpc>
                <a:spcPts val="1600"/>
              </a:lnSpc>
              <a:buNone/>
            </a:pPr>
            <a:r>
              <a:rPr lang="en-US" sz="1150" dirty="0">
                <a:solidFill>
                  <a:srgbClr val="5B6478"/>
                </a:solidFill>
                <a:latin typeface="Arial" pitchFamily="34" charset="0"/>
                <a:ea typeface="Arial" pitchFamily="34" charset="-122"/>
                <a:cs typeface="Arial" pitchFamily="34" charset="-120"/>
              </a:rPr>
              <a:t>It has stopped. Pyth's sponsored stock accounts are 6-34 days stale on mainnet and mostly absent on devnet; Hermes now needs a key. So the stock feeds need a price source we do not yet have, and we say so on the status slide. The xSOL feed is unaffected — it reads Hylo's accounts directly. Our answer to a dead feed is the product: refuse, visibly, rather than publish the last thing we saw.</a:t>
            </a:r>
            <a:endParaRPr lang="en-US" sz="1150" dirty="0"/>
          </a:p>
        </p:txBody>
      </p:sp>
      <p:sp>
        <p:nvSpPr>
          <p:cNvPr id="16" name="Text 14"/>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9AA3B5"/>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32B"/>
        </a:solidFill>
      </p:bgPr>
    </p:bg>
    <p:spTree>
      <p:nvGrpSpPr>
        <p:cNvPr id="1" name=""/>
        <p:cNvGrpSpPr/>
        <p:nvPr/>
      </p:nvGrpSpPr>
      <p:grpSpPr>
        <a:xfrm>
          <a:off x="0" y="0"/>
          <a:ext cx="0" cy="0"/>
          <a:chOff x="0" y="0"/>
          <a:chExt cx="0" cy="0"/>
        </a:xfrm>
      </p:grpSpPr>
      <p:sp>
        <p:nvSpPr>
          <p:cNvPr id="2" name="Shape 0"/>
          <p:cNvSpPr/>
          <p:nvPr/>
        </p:nvSpPr>
        <p:spPr>
          <a:xfrm>
            <a:off x="7863840" y="-1737360"/>
            <a:ext cx="6766560" cy="6766560"/>
          </a:xfrm>
          <a:prstGeom prst="roundRect">
            <a:avLst>
              <a:gd name="adj" fmla="val 6757"/>
            </a:avLst>
          </a:prstGeom>
          <a:solidFill>
            <a:srgbClr val="7C3AED">
              <a:alpha val="14000"/>
            </a:srgbClr>
          </a:solidFill>
          <a:ln/>
        </p:spPr>
      </p:sp>
      <p:sp>
        <p:nvSpPr>
          <p:cNvPr id="3" name="Text 1"/>
          <p:cNvSpPr txBox="1"/>
          <p:nvPr/>
        </p:nvSpPr>
        <p:spPr>
          <a:xfrm>
            <a:off x="566928" y="786384"/>
            <a:ext cx="11057839" cy="274320"/>
          </a:xfrm>
          <a:prstGeom prst="rect">
            <a:avLst/>
          </a:prstGeom>
          <a:noFill/>
          <a:ln/>
        </p:spPr>
        <p:txBody>
          <a:bodyPr wrap="square" lIns="0" tIns="0" rIns="0" bIns="0" rtlCol="0" anchor="ctr"/>
          <a:lstStyle/>
          <a:p>
            <a:pPr indent="0" marL="0">
              <a:buNone/>
            </a:pPr>
            <a:r>
              <a:rPr lang="en-US" sz="1200" b="1" spc="200" kern="0" dirty="0">
                <a:solidFill>
                  <a:srgbClr val="C4B5FD"/>
                </a:solidFill>
                <a:latin typeface="Arial" pitchFamily="34" charset="0"/>
                <a:ea typeface="Arial" pitchFamily="34" charset="-122"/>
                <a:cs typeface="Arial" pitchFamily="34" charset="-120"/>
              </a:rPr>
              <a:t>WHAT HAPPENS NEXT</a:t>
            </a:r>
            <a:endParaRPr lang="en-US" sz="1200" dirty="0"/>
          </a:p>
        </p:txBody>
      </p:sp>
      <p:sp>
        <p:nvSpPr>
          <p:cNvPr id="4" name="Text 2"/>
          <p:cNvSpPr txBox="1"/>
          <p:nvPr/>
        </p:nvSpPr>
        <p:spPr>
          <a:xfrm>
            <a:off x="566928" y="1316736"/>
            <a:ext cx="1371600"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Week 1</a:t>
            </a:r>
            <a:endParaRPr lang="en-US" sz="1400" dirty="0"/>
          </a:p>
        </p:txBody>
      </p:sp>
      <p:sp>
        <p:nvSpPr>
          <p:cNvPr id="5" name="Text 3"/>
          <p:cNvSpPr txBox="1"/>
          <p:nvPr/>
        </p:nvSpPr>
        <p:spPr>
          <a:xfrm>
            <a:off x="2029968" y="1316736"/>
            <a:ext cx="768096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Freeze hylo-xsol-nav-v1 at v1.0; publish the hash; deploy both programs to mainnet.</a:t>
            </a:r>
            <a:endParaRPr lang="en-US" sz="1400" dirty="0"/>
          </a:p>
        </p:txBody>
      </p:sp>
      <p:sp>
        <p:nvSpPr>
          <p:cNvPr id="6" name="Text 4"/>
          <p:cNvSpPr txBox="1"/>
          <p:nvPr/>
        </p:nvSpPr>
        <p:spPr>
          <a:xfrm>
            <a:off x="566928" y="1828800"/>
            <a:ext cx="1371600"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Week 2</a:t>
            </a:r>
            <a:endParaRPr lang="en-US" sz="1400" dirty="0"/>
          </a:p>
        </p:txBody>
      </p:sp>
      <p:sp>
        <p:nvSpPr>
          <p:cNvPr id="7" name="Text 5"/>
          <p:cNvSpPr txBox="1"/>
          <p:nvPr/>
        </p:nvSpPr>
        <p:spPr>
          <a:xfrm>
            <a:off x="2029968" y="1828800"/>
            <a:ext cx="768096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Keeper live. Quote account address published. Watcher public so anyone can see it tick.</a:t>
            </a:r>
            <a:endParaRPr lang="en-US" sz="1400" dirty="0"/>
          </a:p>
        </p:txBody>
      </p:sp>
      <p:sp>
        <p:nvSpPr>
          <p:cNvPr id="8" name="Text 6"/>
          <p:cNvSpPr txBox="1"/>
          <p:nvPr/>
        </p:nvSpPr>
        <p:spPr>
          <a:xfrm>
            <a:off x="566928" y="2340864"/>
            <a:ext cx="1371600"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Week 3–4</a:t>
            </a:r>
            <a:endParaRPr lang="en-US" sz="1400" dirty="0"/>
          </a:p>
        </p:txBody>
      </p:sp>
      <p:sp>
        <p:nvSpPr>
          <p:cNvPr id="9" name="Text 7"/>
          <p:cNvSpPr txBox="1"/>
          <p:nvPr/>
        </p:nvSpPr>
        <p:spPr>
          <a:xfrm>
            <a:off x="2029968" y="2340864"/>
            <a:ext cx="768096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Observer at zero divergence over 72 hours. Audit scoped.</a:t>
            </a:r>
            <a:endParaRPr lang="en-US" sz="1400" dirty="0"/>
          </a:p>
        </p:txBody>
      </p:sp>
      <p:sp>
        <p:nvSpPr>
          <p:cNvPr id="10" name="Text 8"/>
          <p:cNvSpPr txBox="1"/>
          <p:nvPr/>
        </p:nvSpPr>
        <p:spPr>
          <a:xfrm>
            <a:off x="566928" y="2852928"/>
            <a:ext cx="1371600"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October</a:t>
            </a:r>
            <a:endParaRPr lang="en-US" sz="1400" dirty="0"/>
          </a:p>
        </p:txBody>
      </p:sp>
      <p:sp>
        <p:nvSpPr>
          <p:cNvPr id="11" name="Text 9"/>
          <p:cNvSpPr txBox="1"/>
          <p:nvPr/>
        </p:nvSpPr>
        <p:spPr>
          <a:xfrm>
            <a:off x="2029968" y="2852928"/>
            <a:ext cx="768096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Colosseum submission: a live feed, a keeper, an observer, and a spec.</a:t>
            </a:r>
            <a:endParaRPr lang="en-US" sz="1400" dirty="0"/>
          </a:p>
        </p:txBody>
      </p:sp>
      <p:sp>
        <p:nvSpPr>
          <p:cNvPr id="12" name="Text 10"/>
          <p:cNvSpPr txBox="1"/>
          <p:nvPr/>
        </p:nvSpPr>
        <p:spPr>
          <a:xfrm>
            <a:off x="566928" y="3364992"/>
            <a:ext cx="1371600" cy="310896"/>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Then</a:t>
            </a:r>
            <a:endParaRPr lang="en-US" sz="1400" dirty="0"/>
          </a:p>
        </p:txBody>
      </p:sp>
      <p:sp>
        <p:nvSpPr>
          <p:cNvPr id="13" name="Text 11"/>
          <p:cNvSpPr txBox="1"/>
          <p:nvPr/>
        </p:nvSpPr>
        <p:spPr>
          <a:xfrm>
            <a:off x="2029968" y="3364992"/>
            <a:ext cx="7680960" cy="310896"/>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First consumer on devnet. Second adapter. Into the sRFC.</a:t>
            </a:r>
            <a:endParaRPr lang="en-US" sz="1400" dirty="0"/>
          </a:p>
        </p:txBody>
      </p:sp>
      <p:sp>
        <p:nvSpPr>
          <p:cNvPr id="14" name="Shape 12"/>
          <p:cNvSpPr/>
          <p:nvPr/>
        </p:nvSpPr>
        <p:spPr>
          <a:xfrm>
            <a:off x="566928" y="4114800"/>
            <a:ext cx="8814816" cy="0"/>
          </a:xfrm>
          <a:prstGeom prst="line">
            <a:avLst/>
          </a:prstGeom>
          <a:noFill/>
          <a:ln w="12700">
            <a:solidFill>
              <a:srgbClr val="342C5C"/>
            </a:solidFill>
            <a:prstDash val="solid"/>
          </a:ln>
        </p:spPr>
      </p:sp>
      <p:sp>
        <p:nvSpPr>
          <p:cNvPr id="15" name="Text 13"/>
          <p:cNvSpPr txBox="1"/>
          <p:nvPr/>
        </p:nvSpPr>
        <p:spPr>
          <a:xfrm>
            <a:off x="566928" y="4315968"/>
            <a:ext cx="8814816" cy="822960"/>
          </a:xfrm>
          <a:prstGeom prst="rect">
            <a:avLst/>
          </a:prstGeom>
          <a:noFill/>
          <a:ln/>
        </p:spPr>
        <p:txBody>
          <a:bodyPr wrap="square" lIns="0" tIns="0" rIns="0" bIns="0" rtlCol="0" anchor="ctr"/>
          <a:lstStyle/>
          <a:p>
            <a:pPr indent="0" marL="0">
              <a:lnSpc>
                <a:spcPts val="2000"/>
              </a:lnSpc>
              <a:buNone/>
            </a:pPr>
            <a:r>
              <a:rPr lang="en-US" sz="1400" dirty="0">
                <a:solidFill>
                  <a:srgbClr val="A79FD0"/>
                </a:solidFill>
                <a:latin typeface="Arial" pitchFamily="34" charset="0"/>
                <a:ea typeface="Arial" pitchFamily="34" charset="-122"/>
                <a:cs typeface="Arial" pitchFamily="34" charset="-120"/>
              </a:rPr>
              <a:t>Everything in this deck is in the repository: the programs, the tests, the keeper, the spec, the validation record with the transaction signature, and the page that explains how the number is made.</a:t>
            </a:r>
            <a:endParaRPr lang="en-US" sz="1400" dirty="0"/>
          </a:p>
        </p:txBody>
      </p:sp>
      <p:sp>
        <p:nvSpPr>
          <p:cNvPr id="16" name="Text 14"/>
          <p:cNvSpPr txBox="1"/>
          <p:nvPr/>
        </p:nvSpPr>
        <p:spPr>
          <a:xfrm>
            <a:off x="566928" y="5394960"/>
            <a:ext cx="6400800" cy="402336"/>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Fail stale, never fail wrong.</a:t>
            </a:r>
            <a:endParaRPr lang="en-US" sz="2100" dirty="0"/>
          </a:p>
        </p:txBody>
      </p:sp>
      <p:sp>
        <p:nvSpPr>
          <p:cNvPr id="17" name="Text 15"/>
          <p:cNvSpPr txBox="1"/>
          <p:nvPr/>
        </p:nvSpPr>
        <p:spPr>
          <a:xfrm>
            <a:off x="566928" y="5833872"/>
            <a:ext cx="7315200" cy="274320"/>
          </a:xfrm>
          <a:prstGeom prst="rect">
            <a:avLst/>
          </a:prstGeom>
          <a:noFill/>
          <a:ln/>
        </p:spPr>
        <p:txBody>
          <a:bodyPr wrap="square" lIns="0" tIns="0" rIns="0" bIns="0" rtlCol="0" anchor="ctr"/>
          <a:lstStyle/>
          <a:p>
            <a:pPr indent="0" marL="0">
              <a:buNone/>
            </a:pPr>
            <a:r>
              <a:rPr lang="en-US" sz="1250" dirty="0">
                <a:solidFill>
                  <a:srgbClr val="7F77AC"/>
                </a:solidFill>
                <a:latin typeface="Arial" pitchFamily="34" charset="0"/>
                <a:ea typeface="Arial" pitchFamily="34" charset="-122"/>
                <a:cs typeface="Arial" pitchFamily="34" charset="-120"/>
              </a:rPr>
              <a:t>github.com/princedotrs/solana-valuation-interface</a:t>
            </a:r>
            <a:endParaRPr lang="en-US" sz="1250" dirty="0"/>
          </a:p>
        </p:txBody>
      </p:sp>
      <p:sp>
        <p:nvSpPr>
          <p:cNvPr id="18" name="Text 16"/>
          <p:cNvSpPr txBox="1"/>
          <p:nvPr/>
        </p:nvSpPr>
        <p:spPr>
          <a:xfrm>
            <a:off x="566928" y="6126480"/>
            <a:ext cx="7315200" cy="274320"/>
          </a:xfrm>
          <a:prstGeom prst="rect">
            <a:avLst/>
          </a:prstGeom>
          <a:noFill/>
          <a:ln/>
        </p:spPr>
        <p:txBody>
          <a:bodyPr wrap="square" lIns="0" tIns="0" rIns="0" bIns="0" rtlCol="0" anchor="ctr"/>
          <a:lstStyle/>
          <a:p>
            <a:pPr indent="0" marL="0">
              <a:buNone/>
            </a:pPr>
            <a:r>
              <a:rPr lang="en-US" sz="1250" dirty="0">
                <a:solidFill>
                  <a:srgbClr val="7F77AC"/>
                </a:solidFill>
                <a:latin typeface="Arial" pitchFamily="34" charset="0"/>
                <a:ea typeface="Arial" pitchFamily="34" charset="-122"/>
                <a:cs typeface="Arial" pitchFamily="34" charset="-120"/>
              </a:rPr>
              <a:t>Prince  ·  @princedotrs</a:t>
            </a:r>
            <a:endParaRPr lang="en-US" sz="1250" dirty="0"/>
          </a:p>
        </p:txBody>
      </p:sp>
      <p:sp>
        <p:nvSpPr>
          <p:cNvPr id="19" name="Text 17"/>
          <p:cNvSpPr txBox="1"/>
          <p:nvPr/>
        </p:nvSpPr>
        <p:spPr>
          <a:xfrm>
            <a:off x="11076127" y="6419088"/>
            <a:ext cx="548640" cy="274320"/>
          </a:xfrm>
          <a:prstGeom prst="rect">
            <a:avLst/>
          </a:prstGeom>
          <a:noFill/>
          <a:ln/>
        </p:spPr>
        <p:txBody>
          <a:bodyPr wrap="square" lIns="0" tIns="0" rIns="0" bIns="0" rtlCol="0" anchor="ctr"/>
          <a:lstStyle/>
          <a:p>
            <a:pPr algn="r" indent="0" marL="0">
              <a:buNone/>
            </a:pPr>
            <a:r>
              <a:rPr lang="en-US" sz="1000" dirty="0">
                <a:solidFill>
                  <a:srgbClr val="6B6494"/>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SVI — Solana Valuation Interface</dc:title>
  <dc:subject>PptxGenJS Presentation</dc:subject>
  <dc:creator>Prince — SVI</dc:creator>
  <cp:lastModifiedBy>Prince — SVI</cp:lastModifiedBy>
  <cp:revision>1</cp:revision>
  <dcterms:created xsi:type="dcterms:W3CDTF">2026-09-18T07:23:45Z</dcterms:created>
  <dcterms:modified xsi:type="dcterms:W3CDTF">2026-09-18T07:23:45Z</dcterms:modified>
</cp:coreProperties>
</file>